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12-15 min. Pregunta de apertura: ¿Alguien aquí está en su posición actual gracias a que otro líder creyó en ellos?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valor es diferente. No habla solo de lo que hacemos. Habla de quiénes somos y en quién nos convertimos.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Pausa dramática después de '...la casa se desploma.' Luego conecta: 'Por eso desarrollar el talento interno no es opcional — es estructural.'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Pregunta: ¿Hay alguien en tu equipo con potencial no aprovechado? ¿Qué está esperando de ti?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por cada clave: ¿Cuál de estas 4 haces mejor? ¿Cuál necesitas reforzar?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antivalor más frecuente: guardar talento por miedo. Pregunta: ¿Alguien ha vivido eso? ¿Cómo se sintió el equipo?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2 min. Conecta con la clave #1 (dar retos) y #3 (dejar que brille).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ejemplo conecta con la Regla de Oro #11: promovemos por actitud y potencial.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líderes: pregunta directa: ¿cuántas posiciones nuevas en los últimos 12 meses fueron internas?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Regla #11 es la más relevante para este valor. Discutir: ¿qué peso damos a la actitud en nuestras decisiones de ascenso?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antivalor más común: guardar talento. Pregunta: ¿Hay alguien en su equipo que merece una oportunidad y todavía no la tiene?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Preguntas: ¿Qué peso le das a la actitud vs las habilidades técnicas cuando evalúas a tu equipo? ¿Cómo desarrollas el GRIT en otros?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dinámica es poderosa para líderes. Para grupos mixtos, adapta: 'piensa en un colega o líder que invirtió en ti'.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directa. Los líderes deben salir con un nombre en mente y una acción concreta.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compromiso debe tener un nombre real y una fecha. Sin eso, es solo una intención.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inspirador. Menciona que el mayor legado de un líder es el equipo que desarrolló.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completo disponible en Guion_Facilitador_Completo.docx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solidFill>
            <a:srgbClr val="00A0DC">
              <a:alpha val="15000"/>
            </a:srgbClr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657600"/>
            <a:ext cx="2194560" cy="2194560"/>
          </a:xfrm>
          <a:prstGeom prst="ellipse">
            <a:avLst/>
          </a:prstGeom>
          <a:solidFill>
            <a:srgbClr val="FFC72C">
              <a:alpha val="12000"/>
            </a:srgbClr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 Talento Tigo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Apostamos por el talento interno y nuestro compromiso nos impulsa a aprender, empoderarnos y alcanzar grandes resultados.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480560"/>
            <a:ext cx="164592" cy="164592"/>
          </a:xfrm>
          <a:prstGeom prst="ellipse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4480560"/>
            <a:ext cx="164592" cy="164592"/>
          </a:xfrm>
          <a:prstGeom prst="ellipse">
            <a:avLst/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448056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00A0DC">
              <a:alpha val="13000"/>
            </a:srgbClr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 TALENTO TIGO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3474720" y="2148840"/>
            <a:ext cx="2194560" cy="64008"/>
          </a:xfrm>
          <a:prstGeom prst="roundRect">
            <a:avLst>
              <a:gd name="adj" fmla="val 42857"/>
            </a:avLst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37744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A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sentimos orgullosos de nuestra gente — por eso apostamos por el talento interno.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cimientos de nuestra casa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oundRect">
            <a:avLst>
              <a:gd name="adj" fmla="val 50000"/>
            </a:avLst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2560320"/>
          </a:xfrm>
          <a:prstGeom prst="roundRect">
            <a:avLst>
              <a:gd name="adj" fmla="val 4286"/>
            </a:avLst>
          </a:prstGeom>
          <a:solidFill>
            <a:srgbClr val="DAEEFF"/>
          </a:solidFill>
          <a:ln w="12700">
            <a:solidFill>
              <a:srgbClr val="00A0D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Imagina que construyes la casa de tus sueños. Le pones una fachada hermosa, ventanas panorámicas, muebles de diseño. Pero si los cimientos no están bien hechos...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casa se desploma.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Tigo son los cimientos de nuestra organización. Los valores, la cultura, el talento que desarrollamos — eso es lo que sostiene todo lo demás. Los resultados, la tecnología, los productos... son la fachada.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cimientos sólidos, nada se sostiene.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74904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794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Sangre Tigo no es un programa. Es la base sobre la que construimos el futuro de Tigo.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equipo: una cantera de diamantes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oundRect">
            <a:avLst>
              <a:gd name="adj" fmla="val 50000"/>
            </a:avLst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2560320"/>
          </a:xfrm>
          <a:prstGeom prst="roundRect">
            <a:avLst>
              <a:gd name="adj" fmla="val 4286"/>
            </a:avLst>
          </a:prstGeom>
          <a:solidFill>
            <a:srgbClr val="DAEEFF"/>
          </a:solidFill>
          <a:ln w="12700">
            <a:solidFill>
              <a:srgbClr val="00A0D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cantera es un lugar donde extraes recursos valiosos que ya existen — solo hay que saber encontrarlos y desarrollarlos.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equipo es tu cantera. El talento ya está ahí. Tu trabajo como líder no es 'encontrar' talento afuera. Es reconocer, desarrollar y potenciar el que ya tienes.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'Tu equipo es como tus hijos. Todo padre hace lo imposible para que su hijo se desarrolle de manera plena, supere sus metas y crezca en todos los ámbitos.'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tipo de líder quieres ser?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74904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794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El mejor talento no se busca afuera. Se desarrolla adentro.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4 claves para desarrollar tu equipo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oundRect">
            <a:avLst>
              <a:gd name="adj" fmla="val 50000"/>
            </a:avLst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4023360" cy="1600200"/>
          </a:xfrm>
          <a:prstGeom prst="roundRect">
            <a:avLst>
              <a:gd name="adj" fmla="val 8571"/>
            </a:avLst>
          </a:prstGeom>
          <a:solidFill>
            <a:srgbClr val="DAEEFF"/>
          </a:solidFill>
          <a:ln w="19050">
            <a:solidFill>
              <a:srgbClr val="00A0D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88720"/>
            <a:ext cx="548640" cy="548640"/>
          </a:xfrm>
          <a:prstGeom prst="ellipse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2344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retos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 proyectos que estiren sus capacidades. Si siempre es fácil, no hay crecimiento.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023360" cy="1600200"/>
          </a:xfrm>
          <a:prstGeom prst="roundRect">
            <a:avLst>
              <a:gd name="adj" fmla="val 8571"/>
            </a:avLst>
          </a:prstGeom>
          <a:solidFill>
            <a:srgbClr val="DAEEFF"/>
          </a:solidFill>
          <a:ln w="19050">
            <a:solidFill>
              <a:srgbClr val="00A0D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188720"/>
            <a:ext cx="548640" cy="548640"/>
          </a:xfrm>
          <a:prstGeom prst="ellipse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77840" y="12344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derecho a equivocarse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6916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errores son la mejor escuela. Un equipo que no puede fallar, no puede aprender.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4023360" cy="1600200"/>
          </a:xfrm>
          <a:prstGeom prst="roundRect">
            <a:avLst>
              <a:gd name="adj" fmla="val 8571"/>
            </a:avLst>
          </a:prstGeom>
          <a:solidFill>
            <a:srgbClr val="DAEEFF"/>
          </a:solidFill>
          <a:ln w="19050">
            <a:solidFill>
              <a:srgbClr val="00A0D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063240"/>
            <a:ext cx="548640" cy="548640"/>
          </a:xfrm>
          <a:prstGeom prst="ellipse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31089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 que el equipo brille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35661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apagues su luz. Si lograron algo, que lo presenten ellos. Que el reconocimiento llegue a quien lo generó.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4023360" cy="1600200"/>
          </a:xfrm>
          <a:prstGeom prst="roundRect">
            <a:avLst>
              <a:gd name="adj" fmla="val 8571"/>
            </a:avLst>
          </a:prstGeom>
          <a:solidFill>
            <a:srgbClr val="DAEEFF"/>
          </a:solidFill>
          <a:ln w="19050">
            <a:solidFill>
              <a:srgbClr val="00A0D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3063240"/>
            <a:ext cx="548640" cy="548640"/>
          </a:xfrm>
          <a:prstGeom prst="ellipse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77840" y="31089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y retroalimentación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92040" y="35661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feedback continuo convierte el potencial en resultado. No esperes la evaluación anual.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se VE   ·   Así NO se ve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oundRect">
            <a:avLst>
              <a:gd name="adj" fmla="val 50000"/>
            </a:avLst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023360" cy="3749040"/>
          </a:xfrm>
          <a:prstGeom prst="roundRect">
            <a:avLst>
              <a:gd name="adj" fmla="val 2927"/>
            </a:avLst>
          </a:prstGeom>
          <a:solidFill>
            <a:srgbClr val="E8F8F0"/>
          </a:solidFill>
          <a:ln w="19050">
            <a:solidFill>
              <a:srgbClr val="00A87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Cuando lo vivimos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Creo oportunidades internas antes de buscar talento externo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Asigno proyectos retadores, aunque implique riesgo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Dejo que mi equipo presente sus propios logros ante la dirección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Doy retroalimentación honesta y frecuente — no espero la evaluación anual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identifico potencial, lo potencio aunque eso signifique 'perder' a esa persona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023360" cy="3749040"/>
          </a:xfrm>
          <a:prstGeom prst="roundRect">
            <a:avLst>
              <a:gd name="adj" fmla="val 2927"/>
            </a:avLst>
          </a:prstGeom>
          <a:solidFill>
            <a:srgbClr val="FEF2F2"/>
          </a:solidFill>
          <a:ln w="19050">
            <a:solidFill>
              <a:srgbClr val="E53E3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00584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Cuando no lo vivimos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155448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Guardo el talento en mi área por miedo a perderlo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Microgestiono porque 'es más rápido hacerlo yo'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reconozco al equipo en privado, no públicamente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doy retroalimentación difícil por no generar tensión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externo sin considerar el talento interno disponible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1: Liderazgo de equipo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oundRect">
            <a:avLst>
              <a:gd name="adj" fmla="val 50000"/>
            </a:avLst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Situación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3441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Jimena es gerente de procesos. Tiene un analista junior, Diego, que hace bien su trabajo pero siempre recibe tareas rutinarias porque 'es más seguro'.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Comportamiento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671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Jimena le asigna a Diego la coordinación del proyecto de rediseño del proceso de facturación. Lo acompaña sin microgestionar. Le da espacio para proponer y equivocarse.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Resultado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99008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entrega el proyecto en tiempo con una propuesta innovadora que ahorra 12 horas/semana al equipo. Jimena lo presenta en la reunión de liderazgo — y Diego lo expone él mismo.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520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Aprendizaje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81304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talento necesita espacio para manifestarse. Un líder que no delega, no desarrolla. Y un equipo que no crece, se estanca.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34340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37083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mejor regalo que un líder puede dar es una oportunidad."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2: Movilidad interna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oundRect">
            <a:avLst>
              <a:gd name="adj" fmla="val 50000"/>
            </a:avLst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Situación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3441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Roberto, gerente de red, detecta que uno de sus técnicos de campo, Luis, tiene aptitudes analíticas excepcionales y curiosidad por el área de datos. Luis nunca lo ha mencionado por miedo a parecer descontento.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Comportamiento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671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Roberto habla con Luis, valida su interés y contacta a RR.HH. y al área de datos para explorar una transición. Gestiona la curva de aprendizaje durante 3 meses.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Resultado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99008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hace carrera en el área de datos. El área de red tiene un técnico con visión analítica. La empresa retiene a un talento que habría buscado oportunidades afuera.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520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Aprendizaje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81304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Soltar al talento no es perder — es multiplicar. Un colaborador que crece en la empresa vale 10 veces más que uno que la abandona.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34340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37083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"Soltar al talento no es perderlo. Es multiplicarlo."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métrica del talento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oundRect">
            <a:avLst>
              <a:gd name="adj" fmla="val 50000"/>
            </a:avLst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1097280"/>
            <a:ext cx="6400800" cy="1828800"/>
          </a:xfrm>
          <a:prstGeom prst="roundRect">
            <a:avLst>
              <a:gd name="adj" fmla="val 10000"/>
            </a:avLst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128016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¿Cuántas posiciones nuevas en tu área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llenaron con talento interno?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es la pregunta que nos hacemos como líderes Sangre Tigo. La cantera se mide con hechos.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8404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% es bajo: ¿estamos desarrollando suficiente?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% es alto: ¿qué hicimos bien y cómo lo replicamos?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Tigo: que la mayoría de posiciones de liderazgo sean ocupadas por talento interno primero.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Oro relacionadas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oundRect">
            <a:avLst>
              <a:gd name="adj" fmla="val 50000"/>
            </a:avLst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DAEEFF"/>
          </a:solidFill>
          <a:ln w="12700">
            <a:solidFill>
              <a:srgbClr val="00A0D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52728"/>
            <a:ext cx="457200" cy="457200"/>
          </a:xfrm>
          <a:prstGeom prst="ellipse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52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11887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Contratamos y promovemos basados en actitud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48132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Actitud correcta + bajo rendimiento = entrenamos. Buen rendimiento + mala actitud = salida. La actitud es lo primero.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DAEEFF"/>
          </a:solidFill>
          <a:ln w="12700">
            <a:solidFill>
              <a:srgbClr val="00A0D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167128"/>
            <a:ext cx="457200" cy="457200"/>
          </a:xfrm>
          <a:prstGeom prst="ellipse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67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21031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Tratamos la empresa como propia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239572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colaborador que trata la empresa como propia, cuida el talento del equipo con la misma dedicación.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DAEEFF"/>
          </a:solidFill>
          <a:ln w="12700">
            <a:solidFill>
              <a:srgbClr val="00A0D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081528"/>
            <a:ext cx="457200" cy="457200"/>
          </a:xfrm>
          <a:prstGeom prst="ellipse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081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30175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 exigentes y positivos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331012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Actuamos como si el éxito del equipo estuviera garantizado — y hacemos lo necesario para que así sea.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debemos evitar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oundRect">
            <a:avLst>
              <a:gd name="adj" fmla="val 50000"/>
            </a:avLst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FEF2F2"/>
          </a:solidFill>
          <a:ln w="12700">
            <a:solidFill>
              <a:srgbClr val="E53E3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1556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Guardar talento por miedo a perderlo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FEF2F2"/>
          </a:solidFill>
          <a:ln w="12700">
            <a:solidFill>
              <a:srgbClr val="E53E3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92040" y="111556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dar retroalimentación difícil por evitar tensión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FEF2F2"/>
          </a:solidFill>
          <a:ln w="12700">
            <a:solidFill>
              <a:srgbClr val="E53E3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12140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Microgestionar en lugar de delegar y desarrollar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201168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FEF2F2"/>
          </a:solidFill>
          <a:ln w="12700">
            <a:solidFill>
              <a:srgbClr val="E53E3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212140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Contratar externo sin considerar talento interno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FEF2F2"/>
          </a:solidFill>
          <a:ln w="12700">
            <a:solidFill>
              <a:srgbClr val="E53E3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12724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crear oportunidades de crecimiento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301752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FEF2F2"/>
          </a:solidFill>
          <a:ln w="12700">
            <a:solidFill>
              <a:srgbClr val="E53E3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312724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Solo reconocer en privado, nunca en público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Video sugerido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oundRect">
            <a:avLst>
              <a:gd name="adj" fmla="val 50000"/>
            </a:avLst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3200400"/>
          </a:xfrm>
          <a:prstGeom prst="roundRect">
            <a:avLst>
              <a:gd name="adj" fmla="val 4286"/>
            </a:avLst>
          </a:prstGeom>
          <a:solidFill>
            <a:srgbClr val="DAEEFF"/>
          </a:solidFill>
          <a:ln w="12700">
            <a:solidFill>
              <a:srgbClr val="00A0D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43000"/>
            <a:ext cx="1097280" cy="1097280"/>
          </a:xfrm>
          <a:prstGeom prst="ellipse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430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920240" y="114300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Grit: El poder de la pasión y la perseverancia - Angela Duckworth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20240" y="169164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Canal: TED Talks   |   Duración: ~6 min   |   Idioma: Inglés / versión en español disponible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20240" y="205740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https://www.youtube.com/watch?v=H14bBuluwB8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usarlo: Duckworth demuestra que el talento no es suficiente: la perseverancia y la pasión (GRIT) son más predictoras del éxito que el talento puro. Refuerza la idea de desarrollar talento con actitud.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Cuándo usarlo: Al inicio de Somos Talento Tigo o antes de las 4 claves del desarrollo.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315968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343400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A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Validar derechos de uso internamente antes de proyectar en sesiones corporativas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AE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Dinámica: "Mi cantera"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oundRect">
            <a:avLst>
              <a:gd name="adj" fmla="val 50000"/>
            </a:avLst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87552"/>
            <a:ext cx="4023360" cy="548640"/>
          </a:xfrm>
          <a:prstGeom prst="roundRect">
            <a:avLst>
              <a:gd name="adj" fmla="val 16667"/>
            </a:avLst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Objetivo: Que cada líder mapee el potencial de su equipo y defina oportunidades concretas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09160" y="987552"/>
            <a:ext cx="3977640" cy="548640"/>
          </a:xfrm>
          <a:prstGeom prst="roundRect">
            <a:avLst>
              <a:gd name="adj" fmla="val 16667"/>
            </a:avLst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0058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Duración: 15 minutos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Cada participante piensa en su equipo actual (2 min).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Anota los nombres de 1-3 personas con alto potencial no aprovechado.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Para cada uno escribe: ¿Qué oportunidad podría darle en los próximos 30 días?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En pares, comparten sus mapas de talento y se dan retroalimentación entre sí.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En plenaria: ¿qué obstáculos identificaron? ¿Cómo los superamos?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Cierre: el facilitador recoge compromisos específicos de al menos 3 participantes.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041648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08736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¿Cuántos diamantes en bruto tienes en tu equipo? ¿Qué necesitan de ti para brillar?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731520"/>
            <a:ext cx="2560320" cy="2560320"/>
          </a:xfrm>
          <a:prstGeom prst="ellipse">
            <a:avLst/>
          </a:prstGeom>
          <a:solidFill>
            <a:srgbClr val="00A0DC">
              <a:alpha val="12000"/>
            </a:srgbClr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3474720"/>
            <a:ext cx="2011680" cy="2011680"/>
          </a:xfrm>
          <a:prstGeom prst="ellipse">
            <a:avLst/>
          </a:prstGeom>
          <a:solidFill>
            <a:srgbClr val="FFC72C">
              <a:alpha val="10000"/>
            </a:srgbClr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alguien en tu equipo esperando una oportunidad que solo tú puedes darle?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harás esta semana?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474720" y="3840480"/>
            <a:ext cx="2194560" cy="64008"/>
          </a:xfrm>
          <a:prstGeom prst="roundRect">
            <a:avLst>
              <a:gd name="adj" fmla="val 42857"/>
            </a:avLst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Reflexiona · Comparte · Comprométete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compromiso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oundRect">
            <a:avLst>
              <a:gd name="adj" fmla="val 50000"/>
            </a:avLst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 Talento Tigo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508760"/>
            <a:ext cx="7315200" cy="2560320"/>
          </a:xfrm>
          <a:prstGeom prst="roundRect">
            <a:avLst>
              <a:gd name="adj" fmla="val 5357"/>
            </a:avLst>
          </a:prstGeom>
          <a:solidFill>
            <a:srgbClr val="DAEEFF"/>
          </a:solidFill>
          <a:ln w="19050">
            <a:solidFill>
              <a:srgbClr val="00A0D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88720" y="1691640"/>
            <a:ext cx="6766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semana le daré a [nombre concreto] la oportunidad de [acción específica].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 a dar retroalimentación honesta a [persona] sobre [tema].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371600" y="2834640"/>
            <a:ext cx="6400800" cy="0"/>
          </a:xfrm>
          <a:prstGeom prst="line">
            <a:avLst/>
          </a:prstGeom>
          <a:noFill/>
          <a:ln w="12700">
            <a:solidFill>
              <a:srgbClr val="002855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371600" y="2926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(Escribe tu compromiso aquí)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71600" y="3291840"/>
            <a:ext cx="6400800" cy="0"/>
          </a:xfrm>
          <a:prstGeom prst="line">
            <a:avLst/>
          </a:prstGeom>
          <a:noFill/>
          <a:ln w="12700">
            <a:solidFill>
              <a:srgbClr val="002855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914400" y="416052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20624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Comparto este compromiso con mi equipo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822960"/>
            <a:ext cx="2926080" cy="2926080"/>
          </a:xfrm>
          <a:prstGeom prst="ellipse">
            <a:avLst/>
          </a:prstGeom>
          <a:solidFill>
            <a:srgbClr val="FFC72C">
              <a:alpha val="12000"/>
            </a:srgbClr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560320" cy="2560320"/>
          </a:xfrm>
          <a:prstGeom prst="ellipse">
            <a:avLst/>
          </a:prstGeom>
          <a:solidFill>
            <a:srgbClr val="00A0DC">
              <a:alpha val="12000"/>
            </a:srgbClr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 Talento Tigo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200400" y="2377440"/>
            <a:ext cx="2743200" cy="73152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5603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persona que crece en Tigo, nos hace crecer a todos.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 la cantera. Somos los cimientos.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 Talento Tigo.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¡Somos Sangre Tigo!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Notas para el facilitador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oundRect">
            <a:avLst>
              <a:gd name="adj" fmla="val 50000"/>
            </a:avLst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total estimado: 12-15 minutos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cimientos de la casa (slide 3): Conecta con algo físico — el edificio donde están, la ciudad. Los cimientos no se ven, pero todo lo sostienen.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cantera (slide 4): Pregunta antes de contar: ¿Alguien aquí debe su posición actual a un líder que creyó en ellos?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4 claves (slide 5): Pide que cada participante elija cuál de las 4 necesita reforzar. Comparten en pares.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Dinámica Mi cantera: ideal para sesiones de líderes. Puede reducirse a 8 min con solo el mapa de talento individual.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grupos mixtos (no solo líderes): adapta la dinámica a 'piensa en una persona de tu equipo que podría crecer más'.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 Angela Duckworth: muy accesible y motivador. Ideal para comenzar con energía.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 más poderoso: 'Soltar al talento no es perderlo. Es multiplicarlo.'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Cierre: el legado de un líder no son sus resultados. Es el equipo que desarrolló.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Somos Talento Tigo - Sangre Tigo</dc:title>
  <dc:subject>PptxGenJS Presentation</dc:subject>
  <dc:creator>PptxGenJS</dc:creator>
  <cp:lastModifiedBy>PptxGenJS</cp:lastModifiedBy>
  <cp:revision>1</cp:revision>
  <dcterms:created xsi:type="dcterms:W3CDTF">2026-06-22T18:40:23Z</dcterms:created>
  <dcterms:modified xsi:type="dcterms:W3CDTF">2026-06-22T18:40:23Z</dcterms:modified>
</cp:coreProperties>
</file>