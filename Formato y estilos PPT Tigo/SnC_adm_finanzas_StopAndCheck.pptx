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6" r:id="rId2"/>
  </p:sldMasterIdLst>
  <p:notesMasterIdLst>
    <p:notesMasterId r:id="rId9"/>
  </p:notesMasterIdLst>
  <p:sldIdLst>
    <p:sldId id="256" r:id="rId3"/>
    <p:sldId id="258" r:id="rId4"/>
    <p:sldId id="2147483647" r:id="rId5"/>
    <p:sldId id="257" r:id="rId6"/>
    <p:sldId id="2147483646" r:id="rId7"/>
    <p:sldId id="259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F5A622"/>
    <a:srgbClr val="58C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84"/>
    <p:restoredTop sz="94613"/>
  </p:normalViewPr>
  <p:slideViewPr>
    <p:cSldViewPr snapToGrid="0" snapToObjects="1">
      <p:cViewPr>
        <p:scale>
          <a:sx n="111" d="100"/>
          <a:sy n="111" d="100"/>
        </p:scale>
        <p:origin x="29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9776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862FC-F62C-18F8-B5EE-6F6F30F3C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637A92-14B8-6435-8AF8-F0DE2220C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E2641C-8917-A97D-1954-724CFE804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035BE-D7F9-9459-CF38-979D80CE9C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3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C78CA-439E-6061-889F-13F6E7079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BE8D982-4BB5-B565-E1CA-06F2104C1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3CC713-6D45-6863-88C7-7BCB1583C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Descripción de las líneas rojas como ruta critica</a:t>
            </a:r>
          </a:p>
          <a:p>
            <a:r>
              <a:rPr lang="es-CO" dirty="0"/>
              <a:t>Explicar que nos hemos reunido con todo su equipo</a:t>
            </a:r>
          </a:p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0C852B-07EE-3B32-FC5B-7B988F3A2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BF8FCB-BD4B-4437-A8C8-7517715ADDD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0638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tomada del Excel adjunto: seis areas, lideres, sesiones realizadas y next steps. Sesiones totales calculadas: Tesoreria 5, Contabilidad 2, Taxes 3, Logistica 3, FPA 2, RA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ier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EE46D442-2B6C-4F6B-BC42-A3276F20DB4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4"/>
          </p:nvPr>
        </p:nvSpPr>
        <p:spPr>
          <a:xfrm>
            <a:off x="11543065" y="6267797"/>
            <a:ext cx="314058" cy="315982"/>
          </a:xfrm>
          <a:prstGeom prst="rect">
            <a:avLst/>
          </a:prstGeom>
          <a:ln w="3175">
            <a:miter lim="400000"/>
          </a:ln>
        </p:spPr>
        <p:txBody>
          <a:bodyPr wrap="none" lIns="65023" tIns="65023" rIns="65023" bIns="65023" anchor="ctr">
            <a:spAutoFit/>
          </a:bodyPr>
          <a:lstStyle>
            <a:lvl1pPr algn="r" defTabSz="1300480">
              <a:defRPr sz="1200">
                <a:solidFill>
                  <a:schemeClr val="tx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3578"/>
              </a:gs>
              <a:gs pos="50000">
                <a:srgbClr val="00124F"/>
              </a:gs>
              <a:gs pos="100000">
                <a:srgbClr val="01043C"/>
              </a:gs>
            </a:gsLst>
            <a:path path="circle">
              <a:fillToRect l="50000" t="50000" r="50000" b="50000"/>
            </a:path>
            <a:tileRect/>
          </a:gradFill>
          <a:ln w="12700" cap="flat">
            <a:noFill/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Calibri Regular" charset="0"/>
              <a:cs typeface="Calibri Regular" charset="0"/>
              <a:sym typeface="Helvetica Ligh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559" y="2051447"/>
            <a:ext cx="3280882" cy="275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081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41AEE76C-58D7-4A30-9B23-6A10614BA46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4"/>
          </p:nvPr>
        </p:nvSpPr>
        <p:spPr>
          <a:xfrm>
            <a:off x="11543065" y="6267797"/>
            <a:ext cx="314058" cy="315982"/>
          </a:xfrm>
          <a:prstGeom prst="rect">
            <a:avLst/>
          </a:prstGeom>
          <a:ln w="3175">
            <a:miter lim="400000"/>
          </a:ln>
        </p:spPr>
        <p:txBody>
          <a:bodyPr wrap="none" lIns="65023" tIns="65023" rIns="65023" bIns="65023" anchor="ctr">
            <a:spAutoFit/>
          </a:bodyPr>
          <a:lstStyle>
            <a:lvl1pPr algn="r" defTabSz="1300480">
              <a:defRPr sz="1200">
                <a:solidFill>
                  <a:schemeClr val="tx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3578"/>
              </a:gs>
              <a:gs pos="50000">
                <a:srgbClr val="00124F"/>
              </a:gs>
              <a:gs pos="100000">
                <a:srgbClr val="01043C"/>
              </a:gs>
            </a:gsLst>
            <a:path path="circle">
              <a:fillToRect l="50000" t="50000" r="50000" b="50000"/>
            </a:path>
            <a:tileRect/>
          </a:gradFill>
          <a:ln w="12700" cap="flat">
            <a:noFill/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Calibri Regular" charset="0"/>
              <a:cs typeface="Calibri Regular" charset="0"/>
              <a:sym typeface="Helvetica Light"/>
            </a:endParaRP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99597" y="1633927"/>
            <a:ext cx="10219828" cy="2549015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 marL="0" indent="0">
              <a:buNone/>
              <a:defRPr sz="6000" b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Title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1"/>
          </p:nvPr>
        </p:nvSpPr>
        <p:spPr>
          <a:xfrm>
            <a:off x="599597" y="4542570"/>
            <a:ext cx="10219828" cy="491792"/>
          </a:xfrm>
          <a:prstGeom prst="rect">
            <a:avLst/>
          </a:prstGeom>
        </p:spPr>
        <p:txBody>
          <a:bodyPr lIns="0" anchor="t" anchorCtr="0">
            <a:normAutofit/>
          </a:bodyPr>
          <a:lstStyle>
            <a:lvl1pPr marL="0" indent="0">
              <a:buFont typeface="+mj-lt"/>
              <a:buNone/>
              <a:defRPr sz="2800">
                <a:solidFill>
                  <a:srgbClr val="3AB0E0"/>
                </a:solidFill>
              </a:defRPr>
            </a:lvl1pPr>
            <a:lvl2pPr marL="457200" indent="0">
              <a:buFont typeface="+mj-lt"/>
              <a:buNone/>
              <a:defRPr sz="2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2"/>
          </p:nvPr>
        </p:nvSpPr>
        <p:spPr>
          <a:xfrm>
            <a:off x="599597" y="5213530"/>
            <a:ext cx="10219828" cy="491792"/>
          </a:xfrm>
          <a:prstGeom prst="rect">
            <a:avLst/>
          </a:prstGeom>
        </p:spPr>
        <p:txBody>
          <a:bodyPr lIns="0" anchor="t" anchorCtr="0">
            <a:normAutofit/>
          </a:bodyPr>
          <a:lstStyle>
            <a:lvl1pPr marL="0" indent="0">
              <a:spcBef>
                <a:spcPts val="0"/>
              </a:spcBef>
              <a:buFont typeface="+mj-lt"/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Font typeface="+mj-lt"/>
              <a:buNone/>
              <a:defRPr sz="2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263" y="234687"/>
            <a:ext cx="2361395" cy="198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118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C294B835-9D51-405C-B2DF-A7574D3F774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" y="1"/>
            <a:ext cx="12192000" cy="3870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99597" y="1643783"/>
            <a:ext cx="10219828" cy="2893789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 marL="0" indent="0">
              <a:buNone/>
              <a:defRPr sz="6000" b="0">
                <a:solidFill>
                  <a:srgbClr val="000640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Title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1"/>
          </p:nvPr>
        </p:nvSpPr>
        <p:spPr>
          <a:xfrm>
            <a:off x="599597" y="4897200"/>
            <a:ext cx="10219828" cy="491792"/>
          </a:xfrm>
          <a:prstGeom prst="rect">
            <a:avLst/>
          </a:prstGeom>
        </p:spPr>
        <p:txBody>
          <a:bodyPr lIns="0" anchor="t" anchorCtr="0">
            <a:normAutofit/>
          </a:bodyPr>
          <a:lstStyle>
            <a:lvl1pPr marL="0" indent="0">
              <a:buFont typeface="+mj-lt"/>
              <a:buNone/>
              <a:defRPr sz="2800">
                <a:solidFill>
                  <a:srgbClr val="3AB0E0"/>
                </a:solidFill>
              </a:defRPr>
            </a:lvl1pPr>
            <a:lvl2pPr marL="457200" indent="0">
              <a:buFont typeface="+mj-lt"/>
              <a:buNone/>
              <a:defRPr sz="2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2"/>
          </p:nvPr>
        </p:nvSpPr>
        <p:spPr>
          <a:xfrm>
            <a:off x="599597" y="5568160"/>
            <a:ext cx="10219828" cy="491792"/>
          </a:xfrm>
          <a:prstGeom prst="rect">
            <a:avLst/>
          </a:prstGeom>
        </p:spPr>
        <p:txBody>
          <a:bodyPr lIns="0" anchor="t" anchorCtr="0">
            <a:normAutofit/>
          </a:bodyPr>
          <a:lstStyle>
            <a:lvl1pPr marL="0" indent="0">
              <a:spcBef>
                <a:spcPts val="0"/>
              </a:spcBef>
              <a:buFont typeface="+mj-lt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 typeface="+mj-lt"/>
              <a:buNone/>
              <a:defRPr sz="2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002" y="534258"/>
            <a:ext cx="1912487" cy="153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158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F059147-DB75-440D-8F4B-357A338A272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ector recto 54">
            <a:extLst>
              <a:ext uri="{FF2B5EF4-FFF2-40B4-BE49-F238E27FC236}">
                <a16:creationId xmlns:a16="http://schemas.microsoft.com/office/drawing/2014/main" id="{584B27FC-965D-49F4-82BC-735FF965AF50}"/>
              </a:ext>
            </a:extLst>
          </p:cNvPr>
          <p:cNvCxnSpPr>
            <a:cxnSpLocks/>
          </p:cNvCxnSpPr>
          <p:nvPr/>
        </p:nvCxnSpPr>
        <p:spPr>
          <a:xfrm>
            <a:off x="6035041" y="1183260"/>
            <a:ext cx="0" cy="30782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00640"/>
          </a:solidFill>
          <a:ln w="12700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" name="Content Placeholder 6"/>
          <p:cNvSpPr>
            <a:spLocks noGrp="1"/>
          </p:cNvSpPr>
          <p:nvPr>
            <p:ph sz="quarter" idx="12" hasCustomPrompt="1"/>
          </p:nvPr>
        </p:nvSpPr>
        <p:spPr>
          <a:xfrm>
            <a:off x="321595" y="400057"/>
            <a:ext cx="10400610" cy="461077"/>
          </a:xfrm>
          <a:prstGeom prst="rect">
            <a:avLst/>
          </a:prstGeom>
        </p:spPr>
        <p:txBody>
          <a:bodyPr lIns="0"/>
          <a:lstStyle>
            <a:lvl1pPr marL="0" indent="0">
              <a:buFont typeface="+mj-lt"/>
              <a:buNone/>
              <a:defRPr sz="3600" b="0">
                <a:solidFill>
                  <a:schemeClr val="bg1"/>
                </a:solidFill>
                <a:latin typeface="Cronos Pro" panose="020C0502030403020304" pitchFamily="34" charset="0"/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 of slide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-12192" y="1091004"/>
            <a:ext cx="12204192" cy="0"/>
          </a:xfrm>
          <a:prstGeom prst="line">
            <a:avLst/>
          </a:prstGeom>
          <a:ln w="57150">
            <a:solidFill>
              <a:srgbClr val="5AC4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615" y="-9236"/>
            <a:ext cx="1299206" cy="1091004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</p:pic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B141E527-F051-4910-96BF-DF0EA0BD4D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2" y="1170708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20" name="Marcador de gráfico 19">
            <a:extLst>
              <a:ext uri="{FF2B5EF4-FFF2-40B4-BE49-F238E27FC236}">
                <a16:creationId xmlns:a16="http://schemas.microsoft.com/office/drawing/2014/main" id="{5DA77E4F-6109-4BC9-8AAF-0BECE6763A3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6038" y="1506657"/>
            <a:ext cx="5943600" cy="24054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22" name="Marcador de gráfico 19">
            <a:extLst>
              <a:ext uri="{FF2B5EF4-FFF2-40B4-BE49-F238E27FC236}">
                <a16:creationId xmlns:a16="http://schemas.microsoft.com/office/drawing/2014/main" id="{D9A4BF7A-9CF2-43BA-8131-870275D5DE5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60636" y="1506657"/>
            <a:ext cx="5943600" cy="24054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24" name="Marcador de texto 15">
            <a:extLst>
              <a:ext uri="{FF2B5EF4-FFF2-40B4-BE49-F238E27FC236}">
                <a16:creationId xmlns:a16="http://schemas.microsoft.com/office/drawing/2014/main" id="{E3F9E8EE-CF1E-4274-9700-F062FB64946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51495" y="1170708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26" name="Marcador de texto 15">
            <a:extLst>
              <a:ext uri="{FF2B5EF4-FFF2-40B4-BE49-F238E27FC236}">
                <a16:creationId xmlns:a16="http://schemas.microsoft.com/office/drawing/2014/main" id="{7BD28E69-29E4-42F5-BF11-7B6FCDB780E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-3709" y="3987910"/>
            <a:ext cx="12189787" cy="2736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630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77117F1F-2106-4366-9EFB-CA1066DF9C7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00640"/>
          </a:solidFill>
          <a:ln w="12700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" name="Content Placeholder 6"/>
          <p:cNvSpPr>
            <a:spLocks noGrp="1"/>
          </p:cNvSpPr>
          <p:nvPr>
            <p:ph sz="quarter" idx="12" hasCustomPrompt="1"/>
          </p:nvPr>
        </p:nvSpPr>
        <p:spPr>
          <a:xfrm>
            <a:off x="321595" y="400057"/>
            <a:ext cx="10400610" cy="461077"/>
          </a:xfrm>
          <a:prstGeom prst="rect">
            <a:avLst/>
          </a:prstGeom>
        </p:spPr>
        <p:txBody>
          <a:bodyPr lIns="0"/>
          <a:lstStyle>
            <a:lvl1pPr marL="0" indent="0">
              <a:buFont typeface="+mj-lt"/>
              <a:buNone/>
              <a:defRPr sz="3600" b="0">
                <a:solidFill>
                  <a:schemeClr val="bg1"/>
                </a:solidFill>
                <a:latin typeface="Cronos Pro" panose="020C0502030403020304" pitchFamily="34" charset="0"/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 of slide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-12192" y="1091004"/>
            <a:ext cx="12204192" cy="0"/>
          </a:xfrm>
          <a:prstGeom prst="line">
            <a:avLst/>
          </a:prstGeom>
          <a:ln w="57150">
            <a:solidFill>
              <a:srgbClr val="5AC4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615" y="-9236"/>
            <a:ext cx="1299206" cy="1091004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</p:pic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B141E527-F051-4910-96BF-DF0EA0BD4D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2" y="1170708"/>
            <a:ext cx="12204192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22" name="Marcador de gráfico 19">
            <a:extLst>
              <a:ext uri="{FF2B5EF4-FFF2-40B4-BE49-F238E27FC236}">
                <a16:creationId xmlns:a16="http://schemas.microsoft.com/office/drawing/2014/main" id="{D9A4BF7A-9CF2-43BA-8131-870275D5DE5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110169" y="1496571"/>
            <a:ext cx="11994067" cy="24054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26" name="Marcador de texto 15">
            <a:extLst>
              <a:ext uri="{FF2B5EF4-FFF2-40B4-BE49-F238E27FC236}">
                <a16:creationId xmlns:a16="http://schemas.microsoft.com/office/drawing/2014/main" id="{7BD28E69-29E4-42F5-BF11-7B6FCDB780E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-3709" y="3987910"/>
            <a:ext cx="12189787" cy="2736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4" name="Marcador de gráfico 19">
            <a:extLst>
              <a:ext uri="{FF2B5EF4-FFF2-40B4-BE49-F238E27FC236}">
                <a16:creationId xmlns:a16="http://schemas.microsoft.com/office/drawing/2014/main" id="{C07DECFA-2EAD-4837-855B-CEAFF1F7D096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110169" y="4341933"/>
            <a:ext cx="11994067" cy="24054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8951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7B42D475-95D4-4A7F-A446-D9D632183CC4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ector recto 54">
            <a:extLst>
              <a:ext uri="{FF2B5EF4-FFF2-40B4-BE49-F238E27FC236}">
                <a16:creationId xmlns:a16="http://schemas.microsoft.com/office/drawing/2014/main" id="{CC7AB0AA-2822-48C1-88DE-3F5A813F39CC}"/>
              </a:ext>
            </a:extLst>
          </p:cNvPr>
          <p:cNvCxnSpPr>
            <a:cxnSpLocks/>
          </p:cNvCxnSpPr>
          <p:nvPr/>
        </p:nvCxnSpPr>
        <p:spPr>
          <a:xfrm>
            <a:off x="6035041" y="1183260"/>
            <a:ext cx="0" cy="565749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00640"/>
          </a:solidFill>
          <a:ln w="12700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" name="Content Placeholder 6"/>
          <p:cNvSpPr>
            <a:spLocks noGrp="1"/>
          </p:cNvSpPr>
          <p:nvPr>
            <p:ph sz="quarter" idx="12" hasCustomPrompt="1"/>
          </p:nvPr>
        </p:nvSpPr>
        <p:spPr>
          <a:xfrm>
            <a:off x="321595" y="400057"/>
            <a:ext cx="10400610" cy="461077"/>
          </a:xfrm>
          <a:prstGeom prst="rect">
            <a:avLst/>
          </a:prstGeom>
        </p:spPr>
        <p:txBody>
          <a:bodyPr lIns="0"/>
          <a:lstStyle>
            <a:lvl1pPr marL="0" indent="0">
              <a:buFont typeface="+mj-lt"/>
              <a:buNone/>
              <a:defRPr sz="3600" b="0">
                <a:solidFill>
                  <a:schemeClr val="bg1"/>
                </a:solidFill>
                <a:latin typeface="Cronos Pro" panose="020C0502030403020304" pitchFamily="34" charset="0"/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 of slide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-12192" y="1091004"/>
            <a:ext cx="12204192" cy="0"/>
          </a:xfrm>
          <a:prstGeom prst="line">
            <a:avLst/>
          </a:prstGeom>
          <a:ln w="57150">
            <a:solidFill>
              <a:srgbClr val="5AC4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615" y="-9236"/>
            <a:ext cx="1299206" cy="1091004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</p:pic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B141E527-F051-4910-96BF-DF0EA0BD4D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2" y="1170708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20" name="Marcador de gráfico 19">
            <a:extLst>
              <a:ext uri="{FF2B5EF4-FFF2-40B4-BE49-F238E27FC236}">
                <a16:creationId xmlns:a16="http://schemas.microsoft.com/office/drawing/2014/main" id="{5DA77E4F-6109-4BC9-8AAF-0BECE6763A3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6038" y="1506657"/>
            <a:ext cx="5943600" cy="496137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22" name="Marcador de gráfico 19">
            <a:extLst>
              <a:ext uri="{FF2B5EF4-FFF2-40B4-BE49-F238E27FC236}">
                <a16:creationId xmlns:a16="http://schemas.microsoft.com/office/drawing/2014/main" id="{D9A4BF7A-9CF2-43BA-8131-870275D5DE5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60636" y="1496571"/>
            <a:ext cx="5943600" cy="496137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24" name="Marcador de texto 15">
            <a:extLst>
              <a:ext uri="{FF2B5EF4-FFF2-40B4-BE49-F238E27FC236}">
                <a16:creationId xmlns:a16="http://schemas.microsoft.com/office/drawing/2014/main" id="{E3F9E8EE-CF1E-4274-9700-F062FB64946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51495" y="1170708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83665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C37FD392-5097-4222-87EF-148FBA22719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ector recto 54">
            <a:extLst>
              <a:ext uri="{FF2B5EF4-FFF2-40B4-BE49-F238E27FC236}">
                <a16:creationId xmlns:a16="http://schemas.microsoft.com/office/drawing/2014/main" id="{1F8B09D7-1DAA-42F6-96CA-1D39CFC4EE6A}"/>
              </a:ext>
            </a:extLst>
          </p:cNvPr>
          <p:cNvCxnSpPr>
            <a:cxnSpLocks/>
          </p:cNvCxnSpPr>
          <p:nvPr/>
        </p:nvCxnSpPr>
        <p:spPr>
          <a:xfrm>
            <a:off x="6035041" y="1183260"/>
            <a:ext cx="0" cy="565749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00640"/>
          </a:solidFill>
          <a:ln w="12700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" name="Content Placeholder 6"/>
          <p:cNvSpPr>
            <a:spLocks noGrp="1"/>
          </p:cNvSpPr>
          <p:nvPr>
            <p:ph sz="quarter" idx="12" hasCustomPrompt="1"/>
          </p:nvPr>
        </p:nvSpPr>
        <p:spPr>
          <a:xfrm>
            <a:off x="321595" y="400057"/>
            <a:ext cx="10400610" cy="461077"/>
          </a:xfrm>
          <a:prstGeom prst="rect">
            <a:avLst/>
          </a:prstGeom>
        </p:spPr>
        <p:txBody>
          <a:bodyPr lIns="0"/>
          <a:lstStyle>
            <a:lvl1pPr marL="0" indent="0">
              <a:buFont typeface="+mj-lt"/>
              <a:buNone/>
              <a:defRPr sz="3600" b="0">
                <a:solidFill>
                  <a:schemeClr val="bg1"/>
                </a:solidFill>
                <a:latin typeface="Cronos Pro" panose="020C0502030403020304" pitchFamily="34" charset="0"/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 of slide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-12192" y="1091004"/>
            <a:ext cx="12204192" cy="0"/>
          </a:xfrm>
          <a:prstGeom prst="line">
            <a:avLst/>
          </a:prstGeom>
          <a:ln w="57150">
            <a:solidFill>
              <a:srgbClr val="5AC4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615" y="-9236"/>
            <a:ext cx="1299206" cy="1091004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</p:pic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B141E527-F051-4910-96BF-DF0EA0BD4D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2" y="1170708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20" name="Marcador de gráfico 19">
            <a:extLst>
              <a:ext uri="{FF2B5EF4-FFF2-40B4-BE49-F238E27FC236}">
                <a16:creationId xmlns:a16="http://schemas.microsoft.com/office/drawing/2014/main" id="{5DA77E4F-6109-4BC9-8AAF-0BECE6763A3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6038" y="1506657"/>
            <a:ext cx="5943600" cy="24054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22" name="Marcador de gráfico 19">
            <a:extLst>
              <a:ext uri="{FF2B5EF4-FFF2-40B4-BE49-F238E27FC236}">
                <a16:creationId xmlns:a16="http://schemas.microsoft.com/office/drawing/2014/main" id="{D9A4BF7A-9CF2-43BA-8131-870275D5DE5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60636" y="1506657"/>
            <a:ext cx="5943600" cy="24054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24" name="Marcador de texto 15">
            <a:extLst>
              <a:ext uri="{FF2B5EF4-FFF2-40B4-BE49-F238E27FC236}">
                <a16:creationId xmlns:a16="http://schemas.microsoft.com/office/drawing/2014/main" id="{E3F9E8EE-CF1E-4274-9700-F062FB64946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51495" y="1170708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15">
            <a:extLst>
              <a:ext uri="{FF2B5EF4-FFF2-40B4-BE49-F238E27FC236}">
                <a16:creationId xmlns:a16="http://schemas.microsoft.com/office/drawing/2014/main" id="{91DED5FB-FD37-478E-BFF5-DAAAB94F3C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2" y="4004104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9" name="Marcador de gráfico 19">
            <a:extLst>
              <a:ext uri="{FF2B5EF4-FFF2-40B4-BE49-F238E27FC236}">
                <a16:creationId xmlns:a16="http://schemas.microsoft.com/office/drawing/2014/main" id="{603566B5-BDA3-48E6-88A9-A67B26A07418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33374" y="4340053"/>
            <a:ext cx="5943600" cy="24054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21" name="Marcador de gráfico 19">
            <a:extLst>
              <a:ext uri="{FF2B5EF4-FFF2-40B4-BE49-F238E27FC236}">
                <a16:creationId xmlns:a16="http://schemas.microsoft.com/office/drawing/2014/main" id="{DC8572D6-15AD-4342-B18F-701E498ED77E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6147972" y="4340053"/>
            <a:ext cx="5943600" cy="24054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23" name="Marcador de texto 15">
            <a:extLst>
              <a:ext uri="{FF2B5EF4-FFF2-40B4-BE49-F238E27FC236}">
                <a16:creationId xmlns:a16="http://schemas.microsoft.com/office/drawing/2014/main" id="{8AC34CA1-A95F-425C-A256-1B0265AA0B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1495" y="4004104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847303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 not remove" hidden="1">
            <a:extLst>
              <a:ext uri="{FF2B5EF4-FFF2-40B4-BE49-F238E27FC236}">
                <a16:creationId xmlns:a16="http://schemas.microsoft.com/office/drawing/2014/main" id="{4D37D2E9-D0EE-4A71-8E23-086E19BD033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ector recto 54">
            <a:extLst>
              <a:ext uri="{FF2B5EF4-FFF2-40B4-BE49-F238E27FC236}">
                <a16:creationId xmlns:a16="http://schemas.microsoft.com/office/drawing/2014/main" id="{1F8B09D7-1DAA-42F6-96CA-1D39CFC4EE6A}"/>
              </a:ext>
            </a:extLst>
          </p:cNvPr>
          <p:cNvCxnSpPr>
            <a:cxnSpLocks/>
          </p:cNvCxnSpPr>
          <p:nvPr/>
        </p:nvCxnSpPr>
        <p:spPr>
          <a:xfrm>
            <a:off x="6035041" y="1183260"/>
            <a:ext cx="0" cy="565749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00640"/>
          </a:solidFill>
          <a:ln w="12700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" name="Content Placeholder 6"/>
          <p:cNvSpPr>
            <a:spLocks noGrp="1"/>
          </p:cNvSpPr>
          <p:nvPr>
            <p:ph sz="quarter" idx="12" hasCustomPrompt="1"/>
          </p:nvPr>
        </p:nvSpPr>
        <p:spPr>
          <a:xfrm>
            <a:off x="321595" y="400057"/>
            <a:ext cx="10400610" cy="461077"/>
          </a:xfrm>
          <a:prstGeom prst="rect">
            <a:avLst/>
          </a:prstGeom>
        </p:spPr>
        <p:txBody>
          <a:bodyPr lIns="0"/>
          <a:lstStyle>
            <a:lvl1pPr marL="0" indent="0">
              <a:buFont typeface="+mj-lt"/>
              <a:buNone/>
              <a:defRPr sz="3600" b="0">
                <a:solidFill>
                  <a:schemeClr val="bg1"/>
                </a:solidFill>
                <a:latin typeface="Cronos Pro" panose="020C0502030403020304" pitchFamily="34" charset="0"/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 of slide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-12192" y="1091004"/>
            <a:ext cx="12204192" cy="0"/>
          </a:xfrm>
          <a:prstGeom prst="line">
            <a:avLst/>
          </a:prstGeom>
          <a:ln w="57150">
            <a:solidFill>
              <a:srgbClr val="5AC4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615" y="-9236"/>
            <a:ext cx="1299206" cy="1091004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</p:pic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B141E527-F051-4910-96BF-DF0EA0BD4D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2" y="1170708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20" name="Marcador de gráfico 19">
            <a:extLst>
              <a:ext uri="{FF2B5EF4-FFF2-40B4-BE49-F238E27FC236}">
                <a16:creationId xmlns:a16="http://schemas.microsoft.com/office/drawing/2014/main" id="{5DA77E4F-6109-4BC9-8AAF-0BECE6763A3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6038" y="1506657"/>
            <a:ext cx="5943600" cy="24054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22" name="Marcador de gráfico 19">
            <a:extLst>
              <a:ext uri="{FF2B5EF4-FFF2-40B4-BE49-F238E27FC236}">
                <a16:creationId xmlns:a16="http://schemas.microsoft.com/office/drawing/2014/main" id="{D9A4BF7A-9CF2-43BA-8131-870275D5DE5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60636" y="1496571"/>
            <a:ext cx="5943600" cy="24054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24" name="Marcador de texto 15">
            <a:extLst>
              <a:ext uri="{FF2B5EF4-FFF2-40B4-BE49-F238E27FC236}">
                <a16:creationId xmlns:a16="http://schemas.microsoft.com/office/drawing/2014/main" id="{E3F9E8EE-CF1E-4274-9700-F062FB64946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51495" y="1170708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15">
            <a:extLst>
              <a:ext uri="{FF2B5EF4-FFF2-40B4-BE49-F238E27FC236}">
                <a16:creationId xmlns:a16="http://schemas.microsoft.com/office/drawing/2014/main" id="{91DED5FB-FD37-478E-BFF5-DAAAB94F3C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2" y="4004104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9" name="Marcador de gráfico 19">
            <a:extLst>
              <a:ext uri="{FF2B5EF4-FFF2-40B4-BE49-F238E27FC236}">
                <a16:creationId xmlns:a16="http://schemas.microsoft.com/office/drawing/2014/main" id="{603566B5-BDA3-48E6-88A9-A67B26A07418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33374" y="4340411"/>
            <a:ext cx="5943600" cy="24054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23" name="Marcador de texto 15">
            <a:extLst>
              <a:ext uri="{FF2B5EF4-FFF2-40B4-BE49-F238E27FC236}">
                <a16:creationId xmlns:a16="http://schemas.microsoft.com/office/drawing/2014/main" id="{8AC34CA1-A95F-425C-A256-1B0265AA0B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1495" y="4004104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855EF0B-4CDE-4F6F-B9E9-AE5DBA07152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60636" y="4340411"/>
            <a:ext cx="5930900" cy="2405063"/>
          </a:xfrm>
        </p:spPr>
        <p:txBody>
          <a:bodyPr>
            <a:noAutofit/>
          </a:bodyPr>
          <a:lstStyle>
            <a:lvl1pPr marL="285750" indent="-285750" algn="l" defTabSz="914400" rtl="0" eaLnBrk="1" latinLnBrk="0" hangingPunct="1">
              <a:lnSpc>
                <a:spcPct val="150000"/>
              </a:lnSpc>
              <a:buClr>
                <a:srgbClr val="00B0F0"/>
              </a:buClr>
              <a:buSzPct val="80000"/>
              <a:buFont typeface="Cronos Pro Caption" panose="020C0502030503020304" pitchFamily="34" charset="0"/>
              <a:buChar char="&gt;"/>
              <a:defRPr lang="es-ES" sz="2000" kern="1200" dirty="0" smtClean="0">
                <a:solidFill>
                  <a:schemeClr val="tx1"/>
                </a:solidFill>
                <a:latin typeface="Cronos Pro" panose="020C05020304030203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50000"/>
              </a:lnSpc>
              <a:buClr>
                <a:srgbClr val="00B0F0"/>
              </a:buClr>
              <a:buSzPct val="80000"/>
              <a:buFont typeface="Cronos Pro Caption" panose="020C0502030503020304" pitchFamily="34" charset="0"/>
              <a:buChar char="&gt;"/>
              <a:defRPr lang="es-ES" sz="2000" kern="1200" dirty="0" smtClean="0">
                <a:solidFill>
                  <a:schemeClr val="tx1"/>
                </a:solidFill>
                <a:latin typeface="Cronos Pro" panose="020C0502030403020304" pitchFamily="34" charset="0"/>
                <a:ea typeface="+mn-ea"/>
                <a:cs typeface="+mn-cs"/>
              </a:defRPr>
            </a:lvl2pPr>
            <a:lvl3pPr marL="539750" indent="-285750" algn="l" defTabSz="914400" rtl="0" eaLnBrk="1" latinLnBrk="0" hangingPunct="1">
              <a:lnSpc>
                <a:spcPct val="150000"/>
              </a:lnSpc>
              <a:buClr>
                <a:srgbClr val="00B0F0"/>
              </a:buClr>
              <a:buSzPct val="80000"/>
              <a:buFont typeface="Cronos Pro Caption" panose="020C0502030503020304" pitchFamily="34" charset="0"/>
              <a:buChar char="&gt;"/>
              <a:defRPr lang="es-ES" sz="1600" kern="1200" dirty="0" smtClean="0">
                <a:solidFill>
                  <a:schemeClr val="tx1"/>
                </a:solidFill>
                <a:latin typeface="Cronos Pro" panose="020C0502030403020304" pitchFamily="34" charset="0"/>
                <a:ea typeface="+mn-ea"/>
                <a:cs typeface="+mn-cs"/>
              </a:defRPr>
            </a:lvl3pPr>
            <a:lvl4pPr marL="285750" indent="-285750" algn="l" defTabSz="914400" rtl="0" eaLnBrk="1" latinLnBrk="0" hangingPunct="1">
              <a:lnSpc>
                <a:spcPct val="150000"/>
              </a:lnSpc>
              <a:buClr>
                <a:srgbClr val="00B0F0"/>
              </a:buClr>
              <a:buSzPct val="80000"/>
              <a:buFont typeface="Cronos Pro Caption" panose="020C0502030503020304" pitchFamily="34" charset="0"/>
              <a:buChar char="&gt;"/>
              <a:defRPr lang="es-ES" sz="2000" kern="1200" dirty="0" smtClean="0">
                <a:solidFill>
                  <a:schemeClr val="tx1"/>
                </a:solidFill>
                <a:latin typeface="Cronos Pro" panose="020C0502030403020304" pitchFamily="34" charset="0"/>
                <a:ea typeface="+mn-ea"/>
                <a:cs typeface="+mn-cs"/>
              </a:defRPr>
            </a:lvl4pPr>
            <a:lvl5pPr marL="285750" indent="-285750" algn="l" defTabSz="914400" rtl="0" eaLnBrk="1" latinLnBrk="0" hangingPunct="1">
              <a:lnSpc>
                <a:spcPct val="150000"/>
              </a:lnSpc>
              <a:buClr>
                <a:srgbClr val="00B0F0"/>
              </a:buClr>
              <a:buSzPct val="80000"/>
              <a:buFont typeface="Cronos Pro Caption" panose="020C0502030503020304" pitchFamily="34" charset="0"/>
              <a:buChar char="&gt;"/>
              <a:defRPr lang="es-CO" sz="2000" kern="1200" dirty="0">
                <a:solidFill>
                  <a:schemeClr val="tx1"/>
                </a:solidFill>
                <a:latin typeface="Cronos Pro" panose="020C05020304030203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5767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926DB43A-7FDE-42CC-B6CC-7BB99B48B6F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00640"/>
          </a:solidFill>
          <a:ln w="12700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" name="Content Placeholder 6"/>
          <p:cNvSpPr>
            <a:spLocks noGrp="1"/>
          </p:cNvSpPr>
          <p:nvPr>
            <p:ph sz="quarter" idx="12" hasCustomPrompt="1"/>
          </p:nvPr>
        </p:nvSpPr>
        <p:spPr>
          <a:xfrm>
            <a:off x="321595" y="400057"/>
            <a:ext cx="10400610" cy="461077"/>
          </a:xfrm>
          <a:prstGeom prst="rect">
            <a:avLst/>
          </a:prstGeom>
        </p:spPr>
        <p:txBody>
          <a:bodyPr lIns="0"/>
          <a:lstStyle>
            <a:lvl1pPr marL="0" indent="0">
              <a:buFont typeface="+mj-lt"/>
              <a:buNone/>
              <a:defRPr sz="3600" b="0">
                <a:solidFill>
                  <a:schemeClr val="bg1"/>
                </a:solidFill>
                <a:latin typeface="Cronos Pro" panose="020C0502030403020304" pitchFamily="34" charset="0"/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 of slide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-12192" y="1091004"/>
            <a:ext cx="12204192" cy="0"/>
          </a:xfrm>
          <a:prstGeom prst="line">
            <a:avLst/>
          </a:prstGeom>
          <a:ln w="57150">
            <a:solidFill>
              <a:srgbClr val="5AC4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615" y="-9236"/>
            <a:ext cx="1299206" cy="1091004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</p:pic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B141E527-F051-4910-96BF-DF0EA0BD4D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2" y="1170708"/>
            <a:ext cx="12191528" cy="27426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980537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9149114-994C-471E-9DCE-B8F1FA27D27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5" name="Conector recto 54">
            <a:extLst>
              <a:ext uri="{FF2B5EF4-FFF2-40B4-BE49-F238E27FC236}">
                <a16:creationId xmlns:a16="http://schemas.microsoft.com/office/drawing/2014/main" id="{1F8B09D7-1DAA-42F6-96CA-1D39CFC4EE6A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6022391" y="4141264"/>
            <a:ext cx="12650" cy="2699493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00640"/>
          </a:solidFill>
          <a:ln w="12700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" name="Content Placeholder 6"/>
          <p:cNvSpPr>
            <a:spLocks noGrp="1"/>
          </p:cNvSpPr>
          <p:nvPr>
            <p:ph sz="quarter" idx="12" hasCustomPrompt="1"/>
          </p:nvPr>
        </p:nvSpPr>
        <p:spPr>
          <a:xfrm>
            <a:off x="321595" y="400057"/>
            <a:ext cx="10400610" cy="461077"/>
          </a:xfrm>
          <a:prstGeom prst="rect">
            <a:avLst/>
          </a:prstGeom>
        </p:spPr>
        <p:txBody>
          <a:bodyPr lIns="0"/>
          <a:lstStyle>
            <a:lvl1pPr marL="0" indent="0">
              <a:buFont typeface="+mj-lt"/>
              <a:buNone/>
              <a:defRPr sz="3600" b="0">
                <a:solidFill>
                  <a:schemeClr val="bg1"/>
                </a:solidFill>
                <a:latin typeface="Cronos Pro" panose="020C0502030403020304" pitchFamily="34" charset="0"/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 of slide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-12192" y="1091004"/>
            <a:ext cx="12204192" cy="0"/>
          </a:xfrm>
          <a:prstGeom prst="line">
            <a:avLst/>
          </a:prstGeom>
          <a:ln w="57150">
            <a:solidFill>
              <a:srgbClr val="5AC4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615" y="-9236"/>
            <a:ext cx="1299206" cy="1091004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</p:pic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B141E527-F051-4910-96BF-DF0EA0BD4D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2" y="1170708"/>
            <a:ext cx="12191528" cy="27426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15">
            <a:extLst>
              <a:ext uri="{FF2B5EF4-FFF2-40B4-BE49-F238E27FC236}">
                <a16:creationId xmlns:a16="http://schemas.microsoft.com/office/drawing/2014/main" id="{91DED5FB-FD37-478E-BFF5-DAAAB94F3C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12192" y="4004104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9" name="Marcador de gráfico 19">
            <a:extLst>
              <a:ext uri="{FF2B5EF4-FFF2-40B4-BE49-F238E27FC236}">
                <a16:creationId xmlns:a16="http://schemas.microsoft.com/office/drawing/2014/main" id="{603566B5-BDA3-48E6-88A9-A67B26A07418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33374" y="4340053"/>
            <a:ext cx="5943600" cy="24054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23" name="Marcador de texto 15">
            <a:extLst>
              <a:ext uri="{FF2B5EF4-FFF2-40B4-BE49-F238E27FC236}">
                <a16:creationId xmlns:a16="http://schemas.microsoft.com/office/drawing/2014/main" id="{8AC34CA1-A95F-425C-A256-1B0265AA0B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38831" y="4004104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7" name="Marcador de gráfico 19">
            <a:extLst>
              <a:ext uri="{FF2B5EF4-FFF2-40B4-BE49-F238E27FC236}">
                <a16:creationId xmlns:a16="http://schemas.microsoft.com/office/drawing/2014/main" id="{9EE9F35D-A977-4B8C-B689-BFE3916817F9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6147972" y="4329967"/>
            <a:ext cx="5943600" cy="24054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14" name="Marcador de gráfico 19">
            <a:extLst>
              <a:ext uri="{FF2B5EF4-FFF2-40B4-BE49-F238E27FC236}">
                <a16:creationId xmlns:a16="http://schemas.microsoft.com/office/drawing/2014/main" id="{21451F04-CB77-4A15-B5D7-37B7E9640BA8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73455" y="1514025"/>
            <a:ext cx="12032898" cy="24054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70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o not remove" hidden="1">
            <a:extLst>
              <a:ext uri="{FF2B5EF4-FFF2-40B4-BE49-F238E27FC236}">
                <a16:creationId xmlns:a16="http://schemas.microsoft.com/office/drawing/2014/main" id="{A331AF06-068B-412F-8E48-3BDBAC027DE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00640"/>
          </a:solidFill>
          <a:ln w="12700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" name="Content Placeholder 6"/>
          <p:cNvSpPr>
            <a:spLocks noGrp="1"/>
          </p:cNvSpPr>
          <p:nvPr>
            <p:ph sz="quarter" idx="12" hasCustomPrompt="1"/>
          </p:nvPr>
        </p:nvSpPr>
        <p:spPr>
          <a:xfrm>
            <a:off x="321595" y="400057"/>
            <a:ext cx="10400610" cy="461077"/>
          </a:xfrm>
          <a:prstGeom prst="rect">
            <a:avLst/>
          </a:prstGeom>
        </p:spPr>
        <p:txBody>
          <a:bodyPr lIns="0"/>
          <a:lstStyle>
            <a:lvl1pPr marL="0" indent="0">
              <a:buFont typeface="+mj-lt"/>
              <a:buNone/>
              <a:defRPr sz="3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 of slide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091004"/>
            <a:ext cx="12192000" cy="0"/>
          </a:xfrm>
          <a:prstGeom prst="line">
            <a:avLst/>
          </a:prstGeom>
          <a:ln w="57150">
            <a:solidFill>
              <a:srgbClr val="5AC4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615" y="-9236"/>
            <a:ext cx="1299206" cy="10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502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cto 54">
            <a:extLst>
              <a:ext uri="{FF2B5EF4-FFF2-40B4-BE49-F238E27FC236}">
                <a16:creationId xmlns:a16="http://schemas.microsoft.com/office/drawing/2014/main" id="{1B1CCE58-B1E1-45A5-BF8F-4712965615F6}"/>
              </a:ext>
            </a:extLst>
          </p:cNvPr>
          <p:cNvCxnSpPr>
            <a:cxnSpLocks/>
          </p:cNvCxnSpPr>
          <p:nvPr userDrawn="1"/>
        </p:nvCxnSpPr>
        <p:spPr>
          <a:xfrm>
            <a:off x="3947808" y="3988905"/>
            <a:ext cx="0" cy="295800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54">
            <a:extLst>
              <a:ext uri="{FF2B5EF4-FFF2-40B4-BE49-F238E27FC236}">
                <a16:creationId xmlns:a16="http://schemas.microsoft.com/office/drawing/2014/main" id="{79B7F63D-6C4A-4C38-8316-7D41C822BC92}"/>
              </a:ext>
            </a:extLst>
          </p:cNvPr>
          <p:cNvCxnSpPr>
            <a:cxnSpLocks/>
          </p:cNvCxnSpPr>
          <p:nvPr userDrawn="1"/>
        </p:nvCxnSpPr>
        <p:spPr>
          <a:xfrm>
            <a:off x="8066943" y="3995083"/>
            <a:ext cx="0" cy="295800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54">
            <a:extLst>
              <a:ext uri="{FF2B5EF4-FFF2-40B4-BE49-F238E27FC236}">
                <a16:creationId xmlns:a16="http://schemas.microsoft.com/office/drawing/2014/main" id="{1F8B09D7-1DAA-42F6-96CA-1D39CFC4EE6A}"/>
              </a:ext>
            </a:extLst>
          </p:cNvPr>
          <p:cNvCxnSpPr>
            <a:cxnSpLocks/>
          </p:cNvCxnSpPr>
          <p:nvPr/>
        </p:nvCxnSpPr>
        <p:spPr>
          <a:xfrm>
            <a:off x="6035041" y="1183260"/>
            <a:ext cx="0" cy="295800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206CD564-D927-48E8-830D-A75A1781B8A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00640"/>
          </a:solidFill>
          <a:ln w="12700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" name="Content Placeholder 6"/>
          <p:cNvSpPr>
            <a:spLocks noGrp="1"/>
          </p:cNvSpPr>
          <p:nvPr>
            <p:ph sz="quarter" idx="12" hasCustomPrompt="1"/>
          </p:nvPr>
        </p:nvSpPr>
        <p:spPr>
          <a:xfrm>
            <a:off x="321595" y="400057"/>
            <a:ext cx="10400610" cy="461077"/>
          </a:xfrm>
          <a:prstGeom prst="rect">
            <a:avLst/>
          </a:prstGeom>
        </p:spPr>
        <p:txBody>
          <a:bodyPr lIns="0"/>
          <a:lstStyle>
            <a:lvl1pPr marL="0" indent="0">
              <a:buFont typeface="+mj-lt"/>
              <a:buNone/>
              <a:defRPr sz="3600" b="0">
                <a:solidFill>
                  <a:schemeClr val="bg1"/>
                </a:solidFill>
                <a:latin typeface="Cronos Pro" panose="020C0502030403020304" pitchFamily="34" charset="0"/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 of slide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-12192" y="1091004"/>
            <a:ext cx="12204192" cy="0"/>
          </a:xfrm>
          <a:prstGeom prst="line">
            <a:avLst/>
          </a:prstGeom>
          <a:ln w="57150">
            <a:solidFill>
              <a:srgbClr val="5AC4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615" y="-9236"/>
            <a:ext cx="1299206" cy="1091004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</p:pic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B141E527-F051-4910-96BF-DF0EA0BD4D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2" y="1170708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20" name="Marcador de gráfico 19">
            <a:extLst>
              <a:ext uri="{FF2B5EF4-FFF2-40B4-BE49-F238E27FC236}">
                <a16:creationId xmlns:a16="http://schemas.microsoft.com/office/drawing/2014/main" id="{5DA77E4F-6109-4BC9-8AAF-0BECE6763A3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6038" y="1506657"/>
            <a:ext cx="5943600" cy="24054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22" name="Marcador de gráfico 19">
            <a:extLst>
              <a:ext uri="{FF2B5EF4-FFF2-40B4-BE49-F238E27FC236}">
                <a16:creationId xmlns:a16="http://schemas.microsoft.com/office/drawing/2014/main" id="{D9A4BF7A-9CF2-43BA-8131-870275D5DE5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60636" y="1496571"/>
            <a:ext cx="5943600" cy="24054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24" name="Marcador de texto 15">
            <a:extLst>
              <a:ext uri="{FF2B5EF4-FFF2-40B4-BE49-F238E27FC236}">
                <a16:creationId xmlns:a16="http://schemas.microsoft.com/office/drawing/2014/main" id="{E3F9E8EE-CF1E-4274-9700-F062FB64946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51495" y="1170708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15">
            <a:extLst>
              <a:ext uri="{FF2B5EF4-FFF2-40B4-BE49-F238E27FC236}">
                <a16:creationId xmlns:a16="http://schemas.microsoft.com/office/drawing/2014/main" id="{91DED5FB-FD37-478E-BFF5-DAAAB94F3C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12192" y="3988905"/>
            <a:ext cx="3960000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9" name="Marcador de gráfico 19">
            <a:extLst>
              <a:ext uri="{FF2B5EF4-FFF2-40B4-BE49-F238E27FC236}">
                <a16:creationId xmlns:a16="http://schemas.microsoft.com/office/drawing/2014/main" id="{603566B5-BDA3-48E6-88A9-A67B26A07418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33374" y="4340053"/>
            <a:ext cx="3755297" cy="24054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21" name="Marcador de gráfico 19">
            <a:extLst>
              <a:ext uri="{FF2B5EF4-FFF2-40B4-BE49-F238E27FC236}">
                <a16:creationId xmlns:a16="http://schemas.microsoft.com/office/drawing/2014/main" id="{DC8572D6-15AD-4342-B18F-701E498ED77E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4125058" y="4350138"/>
            <a:ext cx="3714015" cy="24054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17" name="Marcador de texto 15">
            <a:extLst>
              <a:ext uri="{FF2B5EF4-FFF2-40B4-BE49-F238E27FC236}">
                <a16:creationId xmlns:a16="http://schemas.microsoft.com/office/drawing/2014/main" id="{14008D87-1BAE-4339-8CF9-389D48541C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106943" y="3988905"/>
            <a:ext cx="3960000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26" name="Marcador de texto 15">
            <a:extLst>
              <a:ext uri="{FF2B5EF4-FFF2-40B4-BE49-F238E27FC236}">
                <a16:creationId xmlns:a16="http://schemas.microsoft.com/office/drawing/2014/main" id="{30BE2A29-761B-43B7-B71B-E6A75725788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26078" y="3988905"/>
            <a:ext cx="3960000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texto 8">
            <a:extLst>
              <a:ext uri="{FF2B5EF4-FFF2-40B4-BE49-F238E27FC236}">
                <a16:creationId xmlns:a16="http://schemas.microsoft.com/office/drawing/2014/main" id="{C7B42E11-429A-4075-A631-99A4A1055C1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94814" y="4340411"/>
            <a:ext cx="3796722" cy="2405063"/>
          </a:xfrm>
        </p:spPr>
        <p:txBody>
          <a:bodyPr>
            <a:noAutofit/>
          </a:bodyPr>
          <a:lstStyle>
            <a:lvl1pPr marL="285750" indent="-285750" algn="l" defTabSz="914400" rtl="0" eaLnBrk="1" latinLnBrk="0" hangingPunct="1">
              <a:lnSpc>
                <a:spcPct val="150000"/>
              </a:lnSpc>
              <a:buClr>
                <a:srgbClr val="00B0F0"/>
              </a:buClr>
              <a:buSzPct val="80000"/>
              <a:buFont typeface="Cronos Pro Caption" panose="020C0502030503020304" pitchFamily="34" charset="0"/>
              <a:buChar char="&gt;"/>
              <a:defRPr lang="es-ES" sz="1600" kern="1200" dirty="0" smtClean="0">
                <a:solidFill>
                  <a:schemeClr val="tx1"/>
                </a:solidFill>
                <a:latin typeface="Cronos Pro" panose="020C05020304030203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50000"/>
              </a:lnSpc>
              <a:buClr>
                <a:srgbClr val="00B0F0"/>
              </a:buClr>
              <a:buSzPct val="80000"/>
              <a:buFont typeface="Cronos Pro Caption" panose="020C0502030503020304" pitchFamily="34" charset="0"/>
              <a:buChar char="&gt;"/>
              <a:defRPr lang="es-ES" sz="1600" kern="1200" dirty="0" smtClean="0">
                <a:solidFill>
                  <a:schemeClr val="tx1"/>
                </a:solidFill>
                <a:latin typeface="Cronos Pro" panose="020C0502030403020304" pitchFamily="34" charset="0"/>
                <a:ea typeface="+mn-ea"/>
                <a:cs typeface="+mn-cs"/>
              </a:defRPr>
            </a:lvl2pPr>
            <a:lvl3pPr marL="539750" indent="-285750" algn="l" defTabSz="914400" rtl="0" eaLnBrk="1" latinLnBrk="0" hangingPunct="1">
              <a:lnSpc>
                <a:spcPct val="150000"/>
              </a:lnSpc>
              <a:buClr>
                <a:srgbClr val="00B0F0"/>
              </a:buClr>
              <a:buSzPct val="80000"/>
              <a:buFont typeface="Cronos Pro Caption" panose="020C0502030503020304" pitchFamily="34" charset="0"/>
              <a:buChar char="&gt;"/>
              <a:defRPr lang="es-ES" sz="1200" kern="1200" dirty="0" smtClean="0">
                <a:solidFill>
                  <a:schemeClr val="tx1"/>
                </a:solidFill>
                <a:latin typeface="Cronos Pro" panose="020C0502030403020304" pitchFamily="34" charset="0"/>
                <a:ea typeface="+mn-ea"/>
                <a:cs typeface="+mn-cs"/>
              </a:defRPr>
            </a:lvl3pPr>
            <a:lvl4pPr marL="285750" indent="-285750" algn="l" defTabSz="914400" rtl="0" eaLnBrk="1" latinLnBrk="0" hangingPunct="1">
              <a:lnSpc>
                <a:spcPct val="150000"/>
              </a:lnSpc>
              <a:buClr>
                <a:srgbClr val="00B0F0"/>
              </a:buClr>
              <a:buSzPct val="80000"/>
              <a:buFont typeface="Cronos Pro Caption" panose="020C0502030503020304" pitchFamily="34" charset="0"/>
              <a:buChar char="&gt;"/>
              <a:defRPr lang="es-ES" sz="1600" kern="1200" dirty="0" smtClean="0">
                <a:solidFill>
                  <a:schemeClr val="tx1"/>
                </a:solidFill>
                <a:latin typeface="Cronos Pro" panose="020C0502030403020304" pitchFamily="34" charset="0"/>
                <a:ea typeface="+mn-ea"/>
                <a:cs typeface="+mn-cs"/>
              </a:defRPr>
            </a:lvl4pPr>
            <a:lvl5pPr marL="285750" indent="-285750" algn="l" defTabSz="914400" rtl="0" eaLnBrk="1" latinLnBrk="0" hangingPunct="1">
              <a:lnSpc>
                <a:spcPct val="150000"/>
              </a:lnSpc>
              <a:buClr>
                <a:srgbClr val="00B0F0"/>
              </a:buClr>
              <a:buSzPct val="80000"/>
              <a:buFont typeface="Cronos Pro Caption" panose="020C0502030503020304" pitchFamily="34" charset="0"/>
              <a:buChar char="&gt;"/>
              <a:defRPr lang="es-CO" sz="1600" kern="1200" dirty="0">
                <a:solidFill>
                  <a:schemeClr val="tx1"/>
                </a:solidFill>
                <a:latin typeface="Cronos Pro" panose="020C05020304030203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7209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5D7C2A64-07D7-43CD-8FA5-A9AB0C4821C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ector recto 54">
            <a:extLst>
              <a:ext uri="{FF2B5EF4-FFF2-40B4-BE49-F238E27FC236}">
                <a16:creationId xmlns:a16="http://schemas.microsoft.com/office/drawing/2014/main" id="{1B1CCE58-B1E1-45A5-BF8F-4712965615F6}"/>
              </a:ext>
            </a:extLst>
          </p:cNvPr>
          <p:cNvCxnSpPr>
            <a:cxnSpLocks/>
          </p:cNvCxnSpPr>
          <p:nvPr userDrawn="1"/>
        </p:nvCxnSpPr>
        <p:spPr>
          <a:xfrm>
            <a:off x="3947808" y="1218400"/>
            <a:ext cx="0" cy="563960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54">
            <a:extLst>
              <a:ext uri="{FF2B5EF4-FFF2-40B4-BE49-F238E27FC236}">
                <a16:creationId xmlns:a16="http://schemas.microsoft.com/office/drawing/2014/main" id="{79B7F63D-6C4A-4C38-8316-7D41C822BC92}"/>
              </a:ext>
            </a:extLst>
          </p:cNvPr>
          <p:cNvCxnSpPr>
            <a:cxnSpLocks/>
          </p:cNvCxnSpPr>
          <p:nvPr userDrawn="1"/>
        </p:nvCxnSpPr>
        <p:spPr>
          <a:xfrm>
            <a:off x="8066943" y="1224578"/>
            <a:ext cx="0" cy="563342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00640"/>
          </a:solidFill>
          <a:ln w="12700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" name="Content Placeholder 6"/>
          <p:cNvSpPr>
            <a:spLocks noGrp="1"/>
          </p:cNvSpPr>
          <p:nvPr>
            <p:ph sz="quarter" idx="12" hasCustomPrompt="1"/>
          </p:nvPr>
        </p:nvSpPr>
        <p:spPr>
          <a:xfrm>
            <a:off x="321595" y="400057"/>
            <a:ext cx="10400610" cy="461077"/>
          </a:xfrm>
          <a:prstGeom prst="rect">
            <a:avLst/>
          </a:prstGeom>
        </p:spPr>
        <p:txBody>
          <a:bodyPr lIns="0"/>
          <a:lstStyle>
            <a:lvl1pPr marL="0" indent="0">
              <a:buFont typeface="+mj-lt"/>
              <a:buNone/>
              <a:defRPr sz="3600" b="0">
                <a:solidFill>
                  <a:schemeClr val="bg1"/>
                </a:solidFill>
                <a:latin typeface="Cronos Pro" panose="020C0502030403020304" pitchFamily="34" charset="0"/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 of slide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615" y="-9236"/>
            <a:ext cx="1299206" cy="1091004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</p:pic>
      <p:sp>
        <p:nvSpPr>
          <p:cNvPr id="18" name="Marcador de texto 15">
            <a:extLst>
              <a:ext uri="{FF2B5EF4-FFF2-40B4-BE49-F238E27FC236}">
                <a16:creationId xmlns:a16="http://schemas.microsoft.com/office/drawing/2014/main" id="{91DED5FB-FD37-478E-BFF5-DAAAB94F3C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12192" y="1170708"/>
            <a:ext cx="3960000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9" name="Marcador de gráfico 19">
            <a:extLst>
              <a:ext uri="{FF2B5EF4-FFF2-40B4-BE49-F238E27FC236}">
                <a16:creationId xmlns:a16="http://schemas.microsoft.com/office/drawing/2014/main" id="{603566B5-BDA3-48E6-88A9-A67B26A07418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33374" y="1629353"/>
            <a:ext cx="3755297" cy="51161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21" name="Marcador de gráfico 19">
            <a:extLst>
              <a:ext uri="{FF2B5EF4-FFF2-40B4-BE49-F238E27FC236}">
                <a16:creationId xmlns:a16="http://schemas.microsoft.com/office/drawing/2014/main" id="{DC8572D6-15AD-4342-B18F-701E498ED77E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4125058" y="1639438"/>
            <a:ext cx="3714015" cy="51161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17" name="Marcador de texto 15">
            <a:extLst>
              <a:ext uri="{FF2B5EF4-FFF2-40B4-BE49-F238E27FC236}">
                <a16:creationId xmlns:a16="http://schemas.microsoft.com/office/drawing/2014/main" id="{14008D87-1BAE-4339-8CF9-389D48541C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106943" y="1170708"/>
            <a:ext cx="3960000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26" name="Marcador de texto 15">
            <a:extLst>
              <a:ext uri="{FF2B5EF4-FFF2-40B4-BE49-F238E27FC236}">
                <a16:creationId xmlns:a16="http://schemas.microsoft.com/office/drawing/2014/main" id="{30BE2A29-761B-43B7-B71B-E6A75725788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26078" y="1170708"/>
            <a:ext cx="3960000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29" name="Marcador de gráfico 19">
            <a:extLst>
              <a:ext uri="{FF2B5EF4-FFF2-40B4-BE49-F238E27FC236}">
                <a16:creationId xmlns:a16="http://schemas.microsoft.com/office/drawing/2014/main" id="{4792F95C-670A-463C-843B-AC9D33E4FBAE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8244192" y="1629352"/>
            <a:ext cx="3714015" cy="51161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1204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8F73E4B9-F1A2-4414-9D14-011DDBE54B5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00640"/>
          </a:solidFill>
          <a:ln w="12700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" name="Content Placeholder 6"/>
          <p:cNvSpPr>
            <a:spLocks noGrp="1"/>
          </p:cNvSpPr>
          <p:nvPr>
            <p:ph sz="quarter" idx="12" hasCustomPrompt="1"/>
          </p:nvPr>
        </p:nvSpPr>
        <p:spPr>
          <a:xfrm>
            <a:off x="321595" y="400057"/>
            <a:ext cx="10400610" cy="461077"/>
          </a:xfrm>
          <a:prstGeom prst="rect">
            <a:avLst/>
          </a:prstGeom>
        </p:spPr>
        <p:txBody>
          <a:bodyPr lIns="0"/>
          <a:lstStyle>
            <a:lvl1pPr marL="0" indent="0">
              <a:buFont typeface="+mj-lt"/>
              <a:buNone/>
              <a:defRPr sz="3600" b="0">
                <a:solidFill>
                  <a:schemeClr val="bg1"/>
                </a:solidFill>
                <a:latin typeface="Cronos Pro" panose="020C0502030403020304" pitchFamily="34" charset="0"/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 of slide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-12192" y="1091004"/>
            <a:ext cx="12204192" cy="0"/>
          </a:xfrm>
          <a:prstGeom prst="line">
            <a:avLst/>
          </a:prstGeom>
          <a:ln w="57150">
            <a:solidFill>
              <a:srgbClr val="5AC4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615" y="-9236"/>
            <a:ext cx="1299206" cy="1091004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</p:pic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B141E527-F051-4910-96BF-DF0EA0BD4D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2" y="1170708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20" name="Marcador de gráfico 19">
            <a:extLst>
              <a:ext uri="{FF2B5EF4-FFF2-40B4-BE49-F238E27FC236}">
                <a16:creationId xmlns:a16="http://schemas.microsoft.com/office/drawing/2014/main" id="{5DA77E4F-6109-4BC9-8AAF-0BECE6763A3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6038" y="1506657"/>
            <a:ext cx="5943600" cy="496137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cxnSp>
        <p:nvCxnSpPr>
          <p:cNvPr id="12" name="Conector recto 54">
            <a:extLst>
              <a:ext uri="{FF2B5EF4-FFF2-40B4-BE49-F238E27FC236}">
                <a16:creationId xmlns:a16="http://schemas.microsoft.com/office/drawing/2014/main" id="{CC7AB0AA-2822-48C1-88DE-3F5A813F39CC}"/>
              </a:ext>
            </a:extLst>
          </p:cNvPr>
          <p:cNvCxnSpPr>
            <a:cxnSpLocks/>
          </p:cNvCxnSpPr>
          <p:nvPr/>
        </p:nvCxnSpPr>
        <p:spPr>
          <a:xfrm>
            <a:off x="6035041" y="1183260"/>
            <a:ext cx="0" cy="565749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gráfico 19">
            <a:extLst>
              <a:ext uri="{FF2B5EF4-FFF2-40B4-BE49-F238E27FC236}">
                <a16:creationId xmlns:a16="http://schemas.microsoft.com/office/drawing/2014/main" id="{34FCA2CC-7610-4041-84B7-7CCC750590C2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60636" y="1496572"/>
            <a:ext cx="5943600" cy="150983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14" name="Marcador de texto 15">
            <a:extLst>
              <a:ext uri="{FF2B5EF4-FFF2-40B4-BE49-F238E27FC236}">
                <a16:creationId xmlns:a16="http://schemas.microsoft.com/office/drawing/2014/main" id="{2ABBE5BE-C289-487E-B91C-8DC04483F3B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0636" y="1170708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gráfico 19">
            <a:extLst>
              <a:ext uri="{FF2B5EF4-FFF2-40B4-BE49-F238E27FC236}">
                <a16:creationId xmlns:a16="http://schemas.microsoft.com/office/drawing/2014/main" id="{F8BC6A97-E007-4AE8-BED1-03ECBA090949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160636" y="3405169"/>
            <a:ext cx="5943600" cy="150983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1B0FFD20-6A66-459B-8EF7-BF60B31A60F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60636" y="3079305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25" name="Marcador de gráfico 19">
            <a:extLst>
              <a:ext uri="{FF2B5EF4-FFF2-40B4-BE49-F238E27FC236}">
                <a16:creationId xmlns:a16="http://schemas.microsoft.com/office/drawing/2014/main" id="{E31AF908-8619-4D19-B1C1-7CF293896695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6160636" y="5316245"/>
            <a:ext cx="5943600" cy="150983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sp>
        <p:nvSpPr>
          <p:cNvPr id="26" name="Marcador de texto 15">
            <a:extLst>
              <a:ext uri="{FF2B5EF4-FFF2-40B4-BE49-F238E27FC236}">
                <a16:creationId xmlns:a16="http://schemas.microsoft.com/office/drawing/2014/main" id="{4BAF8994-F711-4770-8EE2-CFB3BF8EA1D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60636" y="4990381"/>
            <a:ext cx="6034583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lIns="91440" tIns="45720" rIns="91440" bIns="0" rtlCol="0" anchor="ctr" anchorCtr="0">
            <a:noAutofit/>
          </a:bodyPr>
          <a:lstStyle>
            <a:lvl1pPr marL="0" indent="0" algn="ctr">
              <a:buNone/>
              <a:defRPr kumimoji="0" lang="es-ES" sz="18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ronos Pro Caption" panose="020C0502030503020304" pitchFamily="34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CO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411868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3578"/>
              </a:gs>
              <a:gs pos="50000">
                <a:srgbClr val="00124F"/>
              </a:gs>
              <a:gs pos="100000">
                <a:srgbClr val="01043C"/>
              </a:gs>
            </a:gsLst>
            <a:path path="circle">
              <a:fillToRect l="50000" t="50000" r="50000" b="50000"/>
            </a:path>
            <a:tileRect/>
          </a:gradFill>
          <a:ln w="12700" cap="flat">
            <a:noFill/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Calibri Regular" charset="0"/>
              <a:cs typeface="Calibri Regular" charset="0"/>
              <a:sym typeface="Helvetica Light"/>
            </a:endParaRPr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4"/>
          </p:nvPr>
        </p:nvSpPr>
        <p:spPr>
          <a:xfrm>
            <a:off x="11543065" y="6267797"/>
            <a:ext cx="314058" cy="315982"/>
          </a:xfrm>
          <a:prstGeom prst="rect">
            <a:avLst/>
          </a:prstGeom>
          <a:ln w="3175">
            <a:miter lim="400000"/>
          </a:ln>
        </p:spPr>
        <p:txBody>
          <a:bodyPr wrap="none" lIns="65023" tIns="65023" rIns="65023" bIns="65023" anchor="ctr">
            <a:spAutoFit/>
          </a:bodyPr>
          <a:lstStyle>
            <a:lvl1pPr algn="r" defTabSz="1300480">
              <a:defRPr sz="12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91004"/>
            <a:ext cx="12192000" cy="0"/>
          </a:xfrm>
          <a:prstGeom prst="line">
            <a:avLst/>
          </a:prstGeom>
          <a:ln w="57150">
            <a:solidFill>
              <a:srgbClr val="5AC4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6"/>
          <p:cNvSpPr>
            <a:spLocks noGrp="1"/>
          </p:cNvSpPr>
          <p:nvPr>
            <p:ph sz="quarter" idx="12" hasCustomPrompt="1"/>
          </p:nvPr>
        </p:nvSpPr>
        <p:spPr>
          <a:xfrm>
            <a:off x="321595" y="400057"/>
            <a:ext cx="10400610" cy="461077"/>
          </a:xfrm>
          <a:prstGeom prst="rect">
            <a:avLst/>
          </a:prstGeom>
        </p:spPr>
        <p:txBody>
          <a:bodyPr lIns="0"/>
          <a:lstStyle>
            <a:lvl1pPr marL="0" indent="0">
              <a:buFont typeface="+mj-lt"/>
              <a:buNone/>
              <a:defRPr sz="3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 of slide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615" y="-9236"/>
            <a:ext cx="1299206" cy="10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588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87205828-5D3C-482F-BA4B-C6C8F12A369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3578"/>
              </a:gs>
              <a:gs pos="50000">
                <a:srgbClr val="00124F"/>
              </a:gs>
              <a:gs pos="100000">
                <a:srgbClr val="01043C"/>
              </a:gs>
            </a:gsLst>
            <a:path path="circle">
              <a:fillToRect l="50000" t="50000" r="50000" b="50000"/>
            </a:path>
            <a:tileRect/>
          </a:gradFill>
          <a:ln w="12700" cap="flat">
            <a:noFill/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Calibri Regular" charset="0"/>
              <a:cs typeface="Calibri Regular" charset="0"/>
              <a:sym typeface="Helvetica Light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969402" y="2858162"/>
            <a:ext cx="6825854" cy="488272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buNone/>
              <a:defRPr sz="3400" b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1"/>
          </p:nvPr>
        </p:nvSpPr>
        <p:spPr>
          <a:xfrm>
            <a:off x="4969402" y="3515465"/>
            <a:ext cx="6825854" cy="88659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457200" indent="-457200">
              <a:buFont typeface="+mj-lt"/>
              <a:buAutoNum type="alphaLcPeriod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+mj-lt"/>
              <a:buAutoNum type="alphaLcParenR"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Line"/>
          <p:cNvSpPr/>
          <p:nvPr/>
        </p:nvSpPr>
        <p:spPr>
          <a:xfrm flipH="1">
            <a:off x="4455389" y="2293155"/>
            <a:ext cx="2" cy="2108900"/>
          </a:xfrm>
          <a:prstGeom prst="line">
            <a:avLst/>
          </a:prstGeom>
          <a:ln w="38100">
            <a:solidFill>
              <a:srgbClr val="61D3FF"/>
            </a:solidFill>
            <a:miter lim="400000"/>
          </a:ln>
        </p:spPr>
        <p:txBody>
          <a:bodyPr lIns="45718" tIns="45718" rIns="45718" bIns="45718"/>
          <a:lstStyle/>
          <a:p>
            <a:pPr>
              <a:defRPr sz="3600"/>
            </a:pPr>
            <a:endParaRPr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151" y="2374158"/>
            <a:ext cx="2512290" cy="210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0991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o not remove" hidden="1">
            <a:extLst>
              <a:ext uri="{FF2B5EF4-FFF2-40B4-BE49-F238E27FC236}">
                <a16:creationId xmlns:a16="http://schemas.microsoft.com/office/drawing/2014/main" id="{8BE3A05E-CA0E-47B8-A838-D59D9D57A46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4"/>
          </p:nvPr>
        </p:nvSpPr>
        <p:spPr>
          <a:xfrm>
            <a:off x="11543065" y="6267797"/>
            <a:ext cx="314058" cy="315982"/>
          </a:xfrm>
          <a:prstGeom prst="rect">
            <a:avLst/>
          </a:prstGeom>
          <a:ln w="3175">
            <a:miter lim="400000"/>
          </a:ln>
        </p:spPr>
        <p:txBody>
          <a:bodyPr wrap="none" lIns="65023" tIns="65023" rIns="65023" bIns="65023" anchor="ctr">
            <a:spAutoFit/>
          </a:bodyPr>
          <a:lstStyle>
            <a:lvl1pPr algn="r" defTabSz="1300480">
              <a:defRPr sz="1200">
                <a:solidFill>
                  <a:schemeClr val="tx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Content Placeholder 6"/>
          <p:cNvSpPr>
            <a:spLocks noGrp="1"/>
          </p:cNvSpPr>
          <p:nvPr>
            <p:ph sz="quarter" idx="11"/>
          </p:nvPr>
        </p:nvSpPr>
        <p:spPr>
          <a:xfrm>
            <a:off x="1251971" y="2169818"/>
            <a:ext cx="10367373" cy="457200"/>
          </a:xfrm>
          <a:prstGeom prst="rect">
            <a:avLst/>
          </a:prstGeom>
          <a:solidFill>
            <a:srgbClr val="244C8F"/>
          </a:solidFill>
        </p:spPr>
        <p:txBody>
          <a:bodyPr lIns="182880" anchor="ctr" anchorCtr="0"/>
          <a:lstStyle>
            <a:lvl1pPr marL="0" indent="0">
              <a:buFont typeface="Arial" charset="0"/>
              <a:buNone/>
              <a:defRPr sz="2000">
                <a:solidFill>
                  <a:schemeClr val="bg1"/>
                </a:solidFill>
              </a:defRPr>
            </a:lvl1pPr>
            <a:lvl2pPr marL="342900" indent="0">
              <a:buNone/>
              <a:defRPr sz="1800">
                <a:solidFill>
                  <a:schemeClr val="tx2"/>
                </a:solidFill>
              </a:defRPr>
            </a:lvl2pPr>
            <a:lvl3pPr>
              <a:defRPr sz="2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6"/>
          <p:cNvSpPr>
            <a:spLocks noGrp="1"/>
          </p:cNvSpPr>
          <p:nvPr>
            <p:ph sz="quarter" idx="12" hasCustomPrompt="1"/>
          </p:nvPr>
        </p:nvSpPr>
        <p:spPr>
          <a:xfrm>
            <a:off x="321595" y="400057"/>
            <a:ext cx="10400610" cy="461077"/>
          </a:xfrm>
          <a:prstGeom prst="rect">
            <a:avLst/>
          </a:prstGeom>
        </p:spPr>
        <p:txBody>
          <a:bodyPr lIns="0"/>
          <a:lstStyle>
            <a:lvl1pPr marL="0" indent="0">
              <a:buFont typeface="+mj-lt"/>
              <a:buNone/>
              <a:defRPr sz="4400">
                <a:solidFill>
                  <a:srgbClr val="000640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" name="Content Placeholder 6"/>
          <p:cNvSpPr>
            <a:spLocks noGrp="1"/>
          </p:cNvSpPr>
          <p:nvPr>
            <p:ph sz="quarter" idx="18" hasCustomPrompt="1"/>
          </p:nvPr>
        </p:nvSpPr>
        <p:spPr>
          <a:xfrm>
            <a:off x="321595" y="1338635"/>
            <a:ext cx="11535528" cy="461077"/>
          </a:xfrm>
          <a:prstGeom prst="rect">
            <a:avLst/>
          </a:prstGeom>
          <a:solidFill>
            <a:srgbClr val="244C8F"/>
          </a:solidFill>
        </p:spPr>
        <p:txBody>
          <a:bodyPr lIns="91440"/>
          <a:lstStyle>
            <a:lvl1pPr marL="0" indent="0" algn="ctr">
              <a:buFont typeface="+mj-lt"/>
              <a:buNone/>
              <a:defRPr sz="24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" name="Content Placeholder 7"/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562883" y="2169817"/>
            <a:ext cx="457200" cy="457200"/>
          </a:xfrm>
          <a:prstGeom prst="rect">
            <a:avLst/>
          </a:prstGeom>
          <a:solidFill>
            <a:srgbClr val="244C8F"/>
          </a:solidFill>
        </p:spPr>
        <p:txBody>
          <a:bodyPr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9"/>
          </p:nvPr>
        </p:nvSpPr>
        <p:spPr>
          <a:xfrm>
            <a:off x="1251971" y="2855587"/>
            <a:ext cx="10367373" cy="457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182880" anchor="ctr" anchorCtr="0"/>
          <a:lstStyle>
            <a:lvl1pPr marL="0" indent="0">
              <a:buFont typeface="Arial" charset="0"/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800">
                <a:solidFill>
                  <a:schemeClr val="tx2"/>
                </a:solidFill>
              </a:defRPr>
            </a:lvl2pPr>
            <a:lvl3pPr>
              <a:defRPr sz="2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Content Placeholder 7"/>
          <p:cNvSpPr>
            <a:spLocks noGrp="1" noChangeAspect="1"/>
          </p:cNvSpPr>
          <p:nvPr>
            <p:ph sz="quarter" idx="20" hasCustomPrompt="1"/>
          </p:nvPr>
        </p:nvSpPr>
        <p:spPr>
          <a:xfrm>
            <a:off x="562883" y="2855586"/>
            <a:ext cx="457200" cy="457200"/>
          </a:xfrm>
          <a:prstGeom prst="rect">
            <a:avLst/>
          </a:prstGeom>
          <a:solidFill>
            <a:srgbClr val="244C8F"/>
          </a:solidFill>
        </p:spPr>
        <p:txBody>
          <a:bodyPr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quarter" idx="21"/>
          </p:nvPr>
        </p:nvSpPr>
        <p:spPr>
          <a:xfrm>
            <a:off x="1251971" y="3541356"/>
            <a:ext cx="10367373" cy="457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182880" anchor="ctr" anchorCtr="0"/>
          <a:lstStyle>
            <a:lvl1pPr marL="0" indent="0">
              <a:buFont typeface="Arial" charset="0"/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800">
                <a:solidFill>
                  <a:schemeClr val="tx2"/>
                </a:solidFill>
              </a:defRPr>
            </a:lvl2pPr>
            <a:lvl3pPr>
              <a:defRPr sz="2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Content Placeholder 7"/>
          <p:cNvSpPr>
            <a:spLocks noGrp="1" noChangeAspect="1"/>
          </p:cNvSpPr>
          <p:nvPr>
            <p:ph sz="quarter" idx="22" hasCustomPrompt="1"/>
          </p:nvPr>
        </p:nvSpPr>
        <p:spPr>
          <a:xfrm>
            <a:off x="562883" y="3541355"/>
            <a:ext cx="457200" cy="457200"/>
          </a:xfrm>
          <a:prstGeom prst="rect">
            <a:avLst/>
          </a:prstGeom>
          <a:solidFill>
            <a:srgbClr val="244C8F"/>
          </a:solidFill>
        </p:spPr>
        <p:txBody>
          <a:bodyPr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23"/>
          </p:nvPr>
        </p:nvSpPr>
        <p:spPr>
          <a:xfrm>
            <a:off x="1251971" y="4227125"/>
            <a:ext cx="10367373" cy="457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182880" anchor="ctr" anchorCtr="0"/>
          <a:lstStyle>
            <a:lvl1pPr marL="0" indent="0">
              <a:buFont typeface="Arial" charset="0"/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800">
                <a:solidFill>
                  <a:schemeClr val="tx2"/>
                </a:solidFill>
              </a:defRPr>
            </a:lvl2pPr>
            <a:lvl3pPr>
              <a:defRPr sz="2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7"/>
          <p:cNvSpPr>
            <a:spLocks noGrp="1" noChangeAspect="1"/>
          </p:cNvSpPr>
          <p:nvPr>
            <p:ph sz="quarter" idx="24" hasCustomPrompt="1"/>
          </p:nvPr>
        </p:nvSpPr>
        <p:spPr>
          <a:xfrm>
            <a:off x="562883" y="4227124"/>
            <a:ext cx="457200" cy="457200"/>
          </a:xfrm>
          <a:prstGeom prst="rect">
            <a:avLst/>
          </a:prstGeom>
          <a:solidFill>
            <a:srgbClr val="244C8F"/>
          </a:solidFill>
        </p:spPr>
        <p:txBody>
          <a:bodyPr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14" name="Content Placeholder 6"/>
          <p:cNvSpPr>
            <a:spLocks noGrp="1"/>
          </p:cNvSpPr>
          <p:nvPr>
            <p:ph sz="quarter" idx="25"/>
          </p:nvPr>
        </p:nvSpPr>
        <p:spPr>
          <a:xfrm>
            <a:off x="1251971" y="4912894"/>
            <a:ext cx="10367373" cy="457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182880" anchor="ctr" anchorCtr="0"/>
          <a:lstStyle>
            <a:lvl1pPr marL="0" indent="0">
              <a:buFont typeface="Arial" charset="0"/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800">
                <a:solidFill>
                  <a:schemeClr val="tx2"/>
                </a:solidFill>
              </a:defRPr>
            </a:lvl2pPr>
            <a:lvl3pPr>
              <a:defRPr sz="2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Content Placeholder 7"/>
          <p:cNvSpPr>
            <a:spLocks noGrp="1" noChangeAspect="1"/>
          </p:cNvSpPr>
          <p:nvPr>
            <p:ph sz="quarter" idx="26" hasCustomPrompt="1"/>
          </p:nvPr>
        </p:nvSpPr>
        <p:spPr>
          <a:xfrm>
            <a:off x="562883" y="4912893"/>
            <a:ext cx="457200" cy="457200"/>
          </a:xfrm>
          <a:prstGeom prst="rect">
            <a:avLst/>
          </a:prstGeom>
          <a:solidFill>
            <a:srgbClr val="244C8F"/>
          </a:solidFill>
        </p:spPr>
        <p:txBody>
          <a:bodyPr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16" name="Content Placeholder 6"/>
          <p:cNvSpPr>
            <a:spLocks noGrp="1"/>
          </p:cNvSpPr>
          <p:nvPr>
            <p:ph sz="quarter" idx="27"/>
          </p:nvPr>
        </p:nvSpPr>
        <p:spPr>
          <a:xfrm>
            <a:off x="1251971" y="5598663"/>
            <a:ext cx="10367373" cy="457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182880" anchor="ctr" anchorCtr="0"/>
          <a:lstStyle>
            <a:lvl1pPr marL="0" indent="0">
              <a:buFont typeface="Arial" charset="0"/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800">
                <a:solidFill>
                  <a:schemeClr val="tx2"/>
                </a:solidFill>
              </a:defRPr>
            </a:lvl2pPr>
            <a:lvl3pPr>
              <a:defRPr sz="2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Content Placeholder 7"/>
          <p:cNvSpPr>
            <a:spLocks noGrp="1" noChangeAspect="1"/>
          </p:cNvSpPr>
          <p:nvPr>
            <p:ph sz="quarter" idx="28" hasCustomPrompt="1"/>
          </p:nvPr>
        </p:nvSpPr>
        <p:spPr>
          <a:xfrm>
            <a:off x="562883" y="5598662"/>
            <a:ext cx="457200" cy="457200"/>
          </a:xfrm>
          <a:prstGeom prst="rect">
            <a:avLst/>
          </a:prstGeom>
          <a:solidFill>
            <a:srgbClr val="244C8F"/>
          </a:solidFill>
        </p:spPr>
        <p:txBody>
          <a:bodyPr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0200" y="2026772"/>
            <a:ext cx="11526923" cy="4241025"/>
          </a:xfrm>
          <a:prstGeom prst="rect">
            <a:avLst/>
          </a:prstGeom>
          <a:noFill/>
          <a:ln w="12700" cap="flat">
            <a:solidFill>
              <a:srgbClr val="00064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927455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" y="1"/>
            <a:ext cx="12192000" cy="3870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969402" y="2858162"/>
            <a:ext cx="6825854" cy="488272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buNone/>
              <a:defRPr sz="3400" b="0">
                <a:solidFill>
                  <a:srgbClr val="000640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1"/>
          </p:nvPr>
        </p:nvSpPr>
        <p:spPr>
          <a:xfrm>
            <a:off x="4969402" y="3515465"/>
            <a:ext cx="6825854" cy="88659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457200" indent="-457200">
              <a:buFont typeface="+mj-lt"/>
              <a:buAutoNum type="alphaLcPeriod"/>
              <a:defRPr sz="2000">
                <a:solidFill>
                  <a:srgbClr val="000640"/>
                </a:solidFill>
              </a:defRPr>
            </a:lvl1pPr>
            <a:lvl2pPr marL="800100" indent="-342900">
              <a:buFont typeface="+mj-lt"/>
              <a:buAutoNum type="alphaLcParenR"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Line"/>
          <p:cNvSpPr/>
          <p:nvPr/>
        </p:nvSpPr>
        <p:spPr>
          <a:xfrm flipH="1">
            <a:off x="4455389" y="2293155"/>
            <a:ext cx="2" cy="2108900"/>
          </a:xfrm>
          <a:prstGeom prst="line">
            <a:avLst/>
          </a:prstGeom>
          <a:ln w="38100">
            <a:solidFill>
              <a:srgbClr val="61D3FF"/>
            </a:solidFill>
            <a:miter lim="400000"/>
          </a:ln>
        </p:spPr>
        <p:txBody>
          <a:bodyPr lIns="45718" tIns="45718" rIns="45718" bIns="45718"/>
          <a:lstStyle/>
          <a:p>
            <a:pPr>
              <a:defRPr sz="3600"/>
            </a:pPr>
            <a:endParaRPr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2678544"/>
            <a:ext cx="2064312" cy="165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510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EE46D442-2B6C-4F6B-BC42-A3276F20DB4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4"/>
          </p:nvPr>
        </p:nvSpPr>
        <p:spPr>
          <a:xfrm>
            <a:off x="11543065" y="6267797"/>
            <a:ext cx="314058" cy="315982"/>
          </a:xfrm>
          <a:prstGeom prst="rect">
            <a:avLst/>
          </a:prstGeom>
          <a:ln w="3175">
            <a:miter lim="400000"/>
          </a:ln>
        </p:spPr>
        <p:txBody>
          <a:bodyPr wrap="none" lIns="65023" tIns="65023" rIns="65023" bIns="65023" anchor="ctr">
            <a:spAutoFit/>
          </a:bodyPr>
          <a:lstStyle>
            <a:lvl1pPr algn="r" defTabSz="1300480">
              <a:defRPr sz="1200">
                <a:solidFill>
                  <a:schemeClr val="tx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3578"/>
              </a:gs>
              <a:gs pos="50000">
                <a:srgbClr val="00124F"/>
              </a:gs>
              <a:gs pos="100000">
                <a:srgbClr val="01043C"/>
              </a:gs>
            </a:gsLst>
            <a:path path="circle">
              <a:fillToRect l="50000" t="50000" r="50000" b="50000"/>
            </a:path>
            <a:tileRect/>
          </a:gradFill>
          <a:ln w="12700" cap="flat">
            <a:noFill/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Calibri Regular" charset="0"/>
              <a:cs typeface="Calibri Regular" charset="0"/>
              <a:sym typeface="Helvetica Ligh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559" y="2051447"/>
            <a:ext cx="3280882" cy="275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013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" y="1"/>
            <a:ext cx="12192000" cy="3870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228" y="2460509"/>
            <a:ext cx="2675907" cy="214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223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2CA761-7048-4B7A-8E87-EF0252BC338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4"/>
          </p:nvPr>
        </p:nvSpPr>
        <p:spPr>
          <a:xfrm>
            <a:off x="11543065" y="6267797"/>
            <a:ext cx="314058" cy="315982"/>
          </a:xfrm>
          <a:prstGeom prst="rect">
            <a:avLst/>
          </a:prstGeom>
          <a:ln w="3175">
            <a:miter lim="400000"/>
          </a:ln>
        </p:spPr>
        <p:txBody>
          <a:bodyPr wrap="none" lIns="65023" tIns="65023" rIns="65023" bIns="65023" anchor="ctr">
            <a:spAutoFit/>
          </a:bodyPr>
          <a:lstStyle>
            <a:lvl1pPr algn="r" defTabSz="1300480">
              <a:defRPr sz="1200">
                <a:solidFill>
                  <a:schemeClr val="tx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3578"/>
              </a:gs>
              <a:gs pos="50000">
                <a:srgbClr val="00124F"/>
              </a:gs>
              <a:gs pos="100000">
                <a:srgbClr val="01043C"/>
              </a:gs>
            </a:gsLst>
            <a:path path="circle">
              <a:fillToRect l="50000" t="50000" r="50000" b="50000"/>
            </a:path>
            <a:tileRect/>
          </a:gradFill>
          <a:ln w="12700" cap="flat">
            <a:noFill/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Calibri Regular" charset="0"/>
              <a:cs typeface="Calibri Regular" charset="0"/>
              <a:sym typeface="Helvetica Light"/>
            </a:endParaRP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99597" y="1633927"/>
            <a:ext cx="10219828" cy="2549015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 marL="0" indent="0">
              <a:buNone/>
              <a:defRPr sz="6000" b="0">
                <a:solidFill>
                  <a:schemeClr val="bg1"/>
                </a:solidFill>
                <a:latin typeface="Cronos Pro" panose="020C05020304030203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Title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1"/>
          </p:nvPr>
        </p:nvSpPr>
        <p:spPr>
          <a:xfrm>
            <a:off x="599597" y="4542570"/>
            <a:ext cx="10219828" cy="491792"/>
          </a:xfrm>
          <a:prstGeom prst="rect">
            <a:avLst/>
          </a:prstGeom>
        </p:spPr>
        <p:txBody>
          <a:bodyPr lIns="0" anchor="t" anchorCtr="0">
            <a:normAutofit/>
          </a:bodyPr>
          <a:lstStyle>
            <a:lvl1pPr marL="0" indent="0">
              <a:buFont typeface="+mj-lt"/>
              <a:buNone/>
              <a:defRPr sz="2800">
                <a:solidFill>
                  <a:srgbClr val="3AB0E0"/>
                </a:solidFill>
                <a:latin typeface="Cronos Pro" panose="020C0502030403020304" pitchFamily="34" charset="0"/>
              </a:defRPr>
            </a:lvl1pPr>
            <a:lvl2pPr marL="457200" indent="0">
              <a:buFont typeface="+mj-lt"/>
              <a:buNone/>
              <a:defRPr sz="2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2"/>
          </p:nvPr>
        </p:nvSpPr>
        <p:spPr>
          <a:xfrm>
            <a:off x="599597" y="5213530"/>
            <a:ext cx="10219828" cy="491792"/>
          </a:xfrm>
          <a:prstGeom prst="rect">
            <a:avLst/>
          </a:prstGeom>
        </p:spPr>
        <p:txBody>
          <a:bodyPr lIns="0" anchor="t" anchorCtr="0">
            <a:normAutofit/>
          </a:bodyPr>
          <a:lstStyle>
            <a:lvl1pPr marL="0" indent="0">
              <a:spcBef>
                <a:spcPts val="0"/>
              </a:spcBef>
              <a:buFont typeface="+mj-lt"/>
              <a:buNone/>
              <a:defRPr sz="2400">
                <a:solidFill>
                  <a:schemeClr val="bg1"/>
                </a:solidFill>
                <a:latin typeface="Cronos Pro" panose="020C0502030403020304" pitchFamily="34" charset="0"/>
              </a:defRPr>
            </a:lvl1pPr>
            <a:lvl2pPr marL="457200" indent="0">
              <a:buFont typeface="+mj-lt"/>
              <a:buNone/>
              <a:defRPr sz="2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263" y="234687"/>
            <a:ext cx="2361395" cy="198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640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DAF4E7F2-8ECD-4257-9AE6-53B54D4A18F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00640"/>
          </a:solidFill>
          <a:ln w="12700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" name="Content Placeholder 6"/>
          <p:cNvSpPr>
            <a:spLocks noGrp="1"/>
          </p:cNvSpPr>
          <p:nvPr>
            <p:ph sz="quarter" idx="12" hasCustomPrompt="1"/>
          </p:nvPr>
        </p:nvSpPr>
        <p:spPr>
          <a:xfrm>
            <a:off x="321595" y="400057"/>
            <a:ext cx="10400610" cy="461077"/>
          </a:xfrm>
          <a:prstGeom prst="rect">
            <a:avLst/>
          </a:prstGeom>
        </p:spPr>
        <p:txBody>
          <a:bodyPr lIns="0"/>
          <a:lstStyle>
            <a:lvl1pPr marL="0" indent="0">
              <a:buFont typeface="+mj-lt"/>
              <a:buNone/>
              <a:defRPr sz="3600">
                <a:solidFill>
                  <a:schemeClr val="bg1"/>
                </a:solidFill>
                <a:latin typeface="Cronos Pro" panose="020C0502030403020304" pitchFamily="34" charset="0"/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 of slide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091004"/>
            <a:ext cx="12192000" cy="0"/>
          </a:xfrm>
          <a:prstGeom prst="line">
            <a:avLst/>
          </a:prstGeom>
          <a:ln w="57150">
            <a:solidFill>
              <a:srgbClr val="5AC4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615" y="-9236"/>
            <a:ext cx="1299206" cy="10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9012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ier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1843796B-EF32-4BE6-8281-BCB1FD94581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4"/>
          </p:nvPr>
        </p:nvSpPr>
        <p:spPr>
          <a:xfrm>
            <a:off x="11543065" y="6267797"/>
            <a:ext cx="314058" cy="315982"/>
          </a:xfrm>
          <a:prstGeom prst="rect">
            <a:avLst/>
          </a:prstGeom>
          <a:ln w="3175">
            <a:miter lim="400000"/>
          </a:ln>
        </p:spPr>
        <p:txBody>
          <a:bodyPr wrap="none" lIns="65023" tIns="65023" rIns="65023" bIns="65023" anchor="ctr">
            <a:spAutoFit/>
          </a:bodyPr>
          <a:lstStyle>
            <a:lvl1pPr algn="r" defTabSz="1300480">
              <a:defRPr sz="1200">
                <a:solidFill>
                  <a:schemeClr val="tx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3578"/>
              </a:gs>
              <a:gs pos="50000">
                <a:srgbClr val="00124F"/>
              </a:gs>
              <a:gs pos="100000">
                <a:srgbClr val="01043C"/>
              </a:gs>
            </a:gsLst>
            <a:path path="circle">
              <a:fillToRect l="50000" t="50000" r="50000" b="50000"/>
            </a:path>
            <a:tileRect/>
          </a:gradFill>
          <a:ln w="12700" cap="flat">
            <a:noFill/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Calibri Regular" charset="0"/>
              <a:cs typeface="Calibri Regular" charset="0"/>
              <a:sym typeface="Helvetica Ligh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559" y="2051447"/>
            <a:ext cx="3280882" cy="275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3449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E5744AF7-C25B-499E-87E9-44A34B0883F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6333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6936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26" Type="http://schemas.openxmlformats.org/officeDocument/2006/relationships/tags" Target="../tags/tag2.xml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29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28" Type="http://schemas.openxmlformats.org/officeDocument/2006/relationships/image" Target="../media/image2.emf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Relationship Id="rId27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5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D19C4E1-323B-4CA9-B77F-19E8C289D71A}"/>
              </a:ext>
            </a:extLst>
          </p:cNvPr>
          <p:cNvGraphicFramePr>
            <a:graphicFrameLocks noChangeAspect="1"/>
          </p:cNvGraphicFramePr>
          <p:nvPr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543671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27" imgW="421" imgH="423" progId="TCLayout.ActiveDocument.1">
                  <p:embed/>
                </p:oleObj>
              </mc:Choice>
              <mc:Fallback>
                <p:oleObj name="Diapositiva de think-cell" r:id="rId27" imgW="421" imgH="42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D19C4E1-323B-4CA9-B77F-19E8C289D7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/>
          <p:cNvCxnSpPr/>
          <p:nvPr/>
        </p:nvCxnSpPr>
        <p:spPr>
          <a:xfrm>
            <a:off x="0" y="1091004"/>
            <a:ext cx="12192000" cy="0"/>
          </a:xfrm>
          <a:prstGeom prst="line">
            <a:avLst/>
          </a:prstGeom>
          <a:ln w="57150">
            <a:solidFill>
              <a:srgbClr val="5AC4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318" y="157022"/>
            <a:ext cx="1039899" cy="832386"/>
          </a:xfrm>
          <a:prstGeom prst="rect">
            <a:avLst/>
          </a:prstGeom>
        </p:spPr>
      </p:pic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BDF586F6-C068-44FC-B274-B7AAA19937BC}"/>
              </a:ext>
            </a:extLst>
          </p:cNvPr>
          <p:cNvSpPr txBox="1">
            <a:spLocks/>
          </p:cNvSpPr>
          <p:nvPr/>
        </p:nvSpPr>
        <p:spPr>
          <a:xfrm>
            <a:off x="11644829" y="6554249"/>
            <a:ext cx="6242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CO"/>
            </a:defPPr>
            <a:lvl1pPr marL="0" algn="r" defTabSz="914400" rtl="0" eaLnBrk="1" latinLnBrk="0" hangingPunct="1">
              <a:defRPr sz="1100" b="1" kern="1200">
                <a:solidFill>
                  <a:srgbClr val="002060"/>
                </a:solidFill>
                <a:latin typeface="Cronos Pro Caption" panose="020C05020305030203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3B416-D767-C240-A0E8-CE35750BE394}" type="slidenum">
              <a:rPr kumimoji="0" lang="es-CO" sz="11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 Caption" panose="020C0502030503020304" pitchFamily="34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1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 Caption" panose="020C0502030503020304" pitchFamily="34" charset="77"/>
              <a:ea typeface="+mn-ea"/>
              <a:cs typeface="+mn-cs"/>
            </a:endParaRPr>
          </a:p>
        </p:txBody>
      </p:sp>
      <p:sp>
        <p:nvSpPr>
          <p:cNvPr id="2" name="Done [SS]" hidden="1">
            <a:extLst>
              <a:ext uri="{FF2B5EF4-FFF2-40B4-BE49-F238E27FC236}">
                <a16:creationId xmlns:a16="http://schemas.microsoft.com/office/drawing/2014/main" id="{72069319-22AC-43FE-B943-462122E5F64C}"/>
              </a:ext>
            </a:extLst>
          </p:cNvPr>
          <p:cNvSpPr/>
          <p:nvPr/>
        </p:nvSpPr>
        <p:spPr>
          <a:xfrm>
            <a:off x="9239253" y="106241"/>
            <a:ext cx="2405576" cy="93394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Done</a:t>
            </a:r>
          </a:p>
        </p:txBody>
      </p:sp>
      <p:sp>
        <p:nvSpPr>
          <p:cNvPr id="8" name="Pending [SS]" hidden="1">
            <a:extLst>
              <a:ext uri="{FF2B5EF4-FFF2-40B4-BE49-F238E27FC236}">
                <a16:creationId xmlns:a16="http://schemas.microsoft.com/office/drawing/2014/main" id="{C0B670EF-84E2-496E-87D7-AD033974CBFA}"/>
              </a:ext>
            </a:extLst>
          </p:cNvPr>
          <p:cNvSpPr/>
          <p:nvPr/>
        </p:nvSpPr>
        <p:spPr>
          <a:xfrm>
            <a:off x="9242636" y="106240"/>
            <a:ext cx="2405576" cy="93394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Pending</a:t>
            </a:r>
          </a:p>
        </p:txBody>
      </p:sp>
    </p:spTree>
    <p:extLst>
      <p:ext uri="{BB962C8B-B14F-4D97-AF65-F5344CB8AC3E}">
        <p14:creationId xmlns:p14="http://schemas.microsoft.com/office/powerpoint/2010/main" val="3964676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033D"/>
          </a:solidFill>
          <a:ln w="12700">
            <a:solidFill>
              <a:srgbClr val="00033D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91695" cy="50292"/>
          </a:xfrm>
          <a:prstGeom prst="rect">
            <a:avLst/>
          </a:prstGeom>
          <a:solidFill>
            <a:srgbClr val="59C7EE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040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s-ES_tradnl" sz="3200" b="1">
                <a:solidFill>
                  <a:srgbClr val="000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Administracion</a:t>
            </a:r>
            <a:r>
              <a:rPr lang="es-ES_tradnl" sz="3200" b="1" dirty="0">
                <a:solidFill>
                  <a:srgbClr val="000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y Finanzas</a:t>
            </a:r>
            <a:endParaRPr lang="es-ES_tradnl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29992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2B3C"/>
                </a:solidFill>
              </a:rPr>
              <a:t>Refresh gerencial del programa de transformacion CRM + Billing convergente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7" y="3886200"/>
            <a:ext cx="5093503" cy="45721"/>
          </a:xfrm>
          <a:prstGeom prst="rect">
            <a:avLst/>
          </a:prstGeom>
          <a:solidFill>
            <a:srgbClr val="59C7EE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8" name="Text 6"/>
          <p:cNvSpPr/>
          <p:nvPr/>
        </p:nvSpPr>
        <p:spPr>
          <a:xfrm>
            <a:off x="658368" y="4160520"/>
            <a:ext cx="6949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8758A"/>
                </a:solidFill>
              </a:rPr>
              <a:t>Adm. &amp; Finanzas | Estado de sesiones, hallazgos y proximos pasos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14048" y="6528816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033D"/>
                </a:solidFill>
              </a:rPr>
              <a:t>1</a:t>
            </a:r>
            <a:endParaRPr lang="en-US" sz="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FC400FD-9299-A61A-7A9B-B204E4FC7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2163" y="147164"/>
            <a:ext cx="990600" cy="736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403EB-68FC-9626-AC8F-1A9556EAE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B20DD4-E148-168F-474B-297C6B76A273}"/>
              </a:ext>
            </a:extLst>
          </p:cNvPr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0033D"/>
          </a:solidFill>
          <a:ln w="12700">
            <a:solidFill>
              <a:srgbClr val="00033D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DF05F05-8E09-6FC9-B1CE-673CBF2C7C0C}"/>
              </a:ext>
            </a:extLst>
          </p:cNvPr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59C7EE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09F111-CFD5-C918-E3C5-6A38C8E90968}"/>
              </a:ext>
            </a:extLst>
          </p:cNvPr>
          <p:cNvSpPr/>
          <p:nvPr/>
        </p:nvSpPr>
        <p:spPr>
          <a:xfrm>
            <a:off x="411480" y="32918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que estamos implementando esta transformación?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D9D77CF-AFD1-C220-87D3-BB7FA3A21C75}"/>
              </a:ext>
            </a:extLst>
          </p:cNvPr>
          <p:cNvSpPr/>
          <p:nvPr/>
        </p:nvSpPr>
        <p:spPr>
          <a:xfrm>
            <a:off x="11814048" y="6528816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900" b="1" dirty="0">
                <a:solidFill>
                  <a:srgbClr val="000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s-ES_tradnl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ED5D4E4-7B3C-F892-7617-63046A3A2F10}"/>
              </a:ext>
            </a:extLst>
          </p:cNvPr>
          <p:cNvSpPr/>
          <p:nvPr/>
        </p:nvSpPr>
        <p:spPr>
          <a:xfrm>
            <a:off x="487051" y="2619881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EB4252E-4C5A-800D-5403-F2D75EC7C855}"/>
              </a:ext>
            </a:extLst>
          </p:cNvPr>
          <p:cNvSpPr/>
          <p:nvPr/>
        </p:nvSpPr>
        <p:spPr>
          <a:xfrm>
            <a:off x="487051" y="2619881"/>
            <a:ext cx="73152" cy="1965960"/>
          </a:xfrm>
          <a:prstGeom prst="rect">
            <a:avLst/>
          </a:prstGeom>
          <a:solidFill>
            <a:srgbClr val="59C7EE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BFDA2FB-586E-8E57-90CD-6423104B68D5}"/>
              </a:ext>
            </a:extLst>
          </p:cNvPr>
          <p:cNvSpPr/>
          <p:nvPr/>
        </p:nvSpPr>
        <p:spPr>
          <a:xfrm>
            <a:off x="706507" y="2784473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00033D"/>
                </a:solidFill>
              </a:rPr>
              <a:t>Stabilization</a:t>
            </a:r>
            <a:endParaRPr lang="en-US" sz="1500" b="1" dirty="0">
              <a:solidFill>
                <a:srgbClr val="00033D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6F074BF-F853-B142-CD03-82D47219670B}"/>
              </a:ext>
            </a:extLst>
          </p:cNvPr>
          <p:cNvSpPr/>
          <p:nvPr/>
        </p:nvSpPr>
        <p:spPr>
          <a:xfrm>
            <a:off x="761371" y="3122801"/>
            <a:ext cx="31546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s-ES_tradnl" sz="11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4DABEE5-9A9E-F3A3-28D6-1F4A259ED644}"/>
              </a:ext>
            </a:extLst>
          </p:cNvPr>
          <p:cNvSpPr/>
          <p:nvPr/>
        </p:nvSpPr>
        <p:spPr>
          <a:xfrm>
            <a:off x="4327531" y="2619881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3E2D364-93C9-D3CC-1682-DB2ED3B463C4}"/>
              </a:ext>
            </a:extLst>
          </p:cNvPr>
          <p:cNvSpPr/>
          <p:nvPr/>
        </p:nvSpPr>
        <p:spPr>
          <a:xfrm>
            <a:off x="4327531" y="2619881"/>
            <a:ext cx="73152" cy="1965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66CE207-092C-58BC-3BEC-77FD40558FA3}"/>
              </a:ext>
            </a:extLst>
          </p:cNvPr>
          <p:cNvSpPr/>
          <p:nvPr/>
        </p:nvSpPr>
        <p:spPr>
          <a:xfrm>
            <a:off x="4546987" y="2784473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033D"/>
                </a:solidFill>
              </a:rPr>
              <a:t>Simplification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C4B69A7-6661-36EC-76E2-5898CDC4B67C}"/>
              </a:ext>
            </a:extLst>
          </p:cNvPr>
          <p:cNvSpPr/>
          <p:nvPr/>
        </p:nvSpPr>
        <p:spPr>
          <a:xfrm>
            <a:off x="4601851" y="3122801"/>
            <a:ext cx="31546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s-ES_tradnl" sz="115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4A0E6E1B-324A-1512-40FB-8CB52DE83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2320" y="145796"/>
            <a:ext cx="990600" cy="736600"/>
          </a:xfrm>
          <a:prstGeom prst="rect">
            <a:avLst/>
          </a:prstGeom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9F2943B4-3D4B-8879-E659-7ADD95C6F1B2}"/>
              </a:ext>
            </a:extLst>
          </p:cNvPr>
          <p:cNvSpPr/>
          <p:nvPr/>
        </p:nvSpPr>
        <p:spPr>
          <a:xfrm>
            <a:off x="487051" y="1495822"/>
            <a:ext cx="11176621" cy="712453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E3C518CD-ADD8-DD4A-A156-9B2D45AF9737}"/>
              </a:ext>
            </a:extLst>
          </p:cNvPr>
          <p:cNvSpPr/>
          <p:nvPr/>
        </p:nvSpPr>
        <p:spPr>
          <a:xfrm>
            <a:off x="631640" y="1535121"/>
            <a:ext cx="5431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500" b="1" dirty="0">
                <a:solidFill>
                  <a:srgbClr val="00033D"/>
                </a:solidFill>
              </a:rPr>
              <a:t>Objetivo:</a:t>
            </a:r>
            <a:endParaRPr lang="es-ES_tradnl" sz="1500" dirty="0"/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40A3F422-5A23-A72E-AC80-8ECB3BE44351}"/>
              </a:ext>
            </a:extLst>
          </p:cNvPr>
          <p:cNvSpPr/>
          <p:nvPr/>
        </p:nvSpPr>
        <p:spPr>
          <a:xfrm>
            <a:off x="4546987" y="3230421"/>
            <a:ext cx="320954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150" dirty="0">
                <a:solidFill>
                  <a:srgbClr val="202B3C"/>
                </a:solidFill>
              </a:rPr>
              <a:t>Consolidación de 2 CRM y 2 Billing en una sola plataforma.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150" dirty="0">
                <a:solidFill>
                  <a:srgbClr val="202B3C"/>
                </a:solidFill>
              </a:rPr>
              <a:t>Reducción del time-</a:t>
            </a:r>
            <a:r>
              <a:rPr lang="es-ES_tradnl" sz="1150" dirty="0" err="1">
                <a:solidFill>
                  <a:srgbClr val="202B3C"/>
                </a:solidFill>
              </a:rPr>
              <a:t>to</a:t>
            </a:r>
            <a:r>
              <a:rPr lang="es-ES_tradnl" sz="1150" dirty="0">
                <a:solidFill>
                  <a:srgbClr val="202B3C"/>
                </a:solidFill>
              </a:rPr>
              <a:t>-</a:t>
            </a:r>
            <a:r>
              <a:rPr lang="es-ES_tradnl" sz="1150" dirty="0" err="1">
                <a:solidFill>
                  <a:srgbClr val="202B3C"/>
                </a:solidFill>
              </a:rPr>
              <a:t>market</a:t>
            </a:r>
            <a:r>
              <a:rPr lang="es-ES_tradnl" sz="1150" dirty="0">
                <a:solidFill>
                  <a:srgbClr val="202B3C"/>
                </a:solidFill>
              </a:rPr>
              <a:t> para nuevas ofertas.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150" dirty="0">
                <a:solidFill>
                  <a:srgbClr val="202B3C"/>
                </a:solidFill>
              </a:rPr>
              <a:t>Optimización de la operación interna al reducir integraciones, interfaces (70) y conciliación entre sistemas.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_tradnl" sz="1150" dirty="0">
              <a:solidFill>
                <a:srgbClr val="202B3C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_tradnl" sz="1150" dirty="0">
              <a:solidFill>
                <a:srgbClr val="202B3C"/>
              </a:solidFill>
            </a:endParaRPr>
          </a:p>
          <a:p>
            <a:endParaRPr lang="es-ES_tradnl" sz="1200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4B6DCFF9-DE87-4155-89CC-35B10E996D5E}"/>
              </a:ext>
            </a:extLst>
          </p:cNvPr>
          <p:cNvSpPr/>
          <p:nvPr/>
        </p:nvSpPr>
        <p:spPr>
          <a:xfrm>
            <a:off x="715651" y="3218360"/>
            <a:ext cx="320954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150" dirty="0">
                <a:solidFill>
                  <a:srgbClr val="202B3C"/>
                </a:solidFill>
              </a:rPr>
              <a:t>Reducción de incidentes críticos al consolidar 14 plataformas en una arquitectura única,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150" dirty="0">
                <a:solidFill>
                  <a:srgbClr val="202B3C"/>
                </a:solidFill>
              </a:rPr>
              <a:t>Disminución de puntos de falla y obsolescencia.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150" dirty="0">
                <a:solidFill>
                  <a:srgbClr val="202B3C"/>
                </a:solidFill>
              </a:rPr>
              <a:t>Reducción de costos de O&amp;M y soporte del ecosistema 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_tradnl" sz="1150" dirty="0">
              <a:solidFill>
                <a:srgbClr val="202B3C"/>
              </a:solidFill>
            </a:endParaRPr>
          </a:p>
          <a:p>
            <a:endParaRPr lang="es-ES_tradnl" sz="120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95C09F52-3F23-6559-F0B4-773A436743BD}"/>
              </a:ext>
            </a:extLst>
          </p:cNvPr>
          <p:cNvSpPr/>
          <p:nvPr/>
        </p:nvSpPr>
        <p:spPr>
          <a:xfrm>
            <a:off x="655320" y="1777244"/>
            <a:ext cx="10880336" cy="55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s-ES_tradnl" sz="1300" dirty="0" err="1">
                <a:solidFill>
                  <a:srgbClr val="202B3C"/>
                </a:solidFill>
              </a:rPr>
              <a:t>Stabilization</a:t>
            </a:r>
            <a:r>
              <a:rPr lang="es-ES_tradnl" sz="1300" dirty="0">
                <a:solidFill>
                  <a:srgbClr val="202B3C"/>
                </a:solidFill>
              </a:rPr>
              <a:t>, </a:t>
            </a:r>
            <a:r>
              <a:rPr lang="es-ES_tradnl" sz="1300" dirty="0" err="1">
                <a:solidFill>
                  <a:srgbClr val="202B3C"/>
                </a:solidFill>
              </a:rPr>
              <a:t>Simplification</a:t>
            </a:r>
            <a:r>
              <a:rPr lang="es-ES_tradnl" sz="1300" dirty="0">
                <a:solidFill>
                  <a:srgbClr val="202B3C"/>
                </a:solidFill>
              </a:rPr>
              <a:t> y </a:t>
            </a:r>
            <a:r>
              <a:rPr lang="es-ES_tradnl" sz="1300" dirty="0" err="1">
                <a:solidFill>
                  <a:srgbClr val="202B3C"/>
                </a:solidFill>
              </a:rPr>
              <a:t>Standardization</a:t>
            </a:r>
            <a:r>
              <a:rPr lang="es-ES_tradnl" sz="1300" dirty="0">
                <a:solidFill>
                  <a:srgbClr val="202B3C"/>
                </a:solidFill>
              </a:rPr>
              <a:t> nuestro ecosistema lo cual se traduce en mejor experiencia al cliente, reducción de costos y mayor generación de ingresos acompañando la estrategia Pre to Post to FMC.</a:t>
            </a:r>
          </a:p>
          <a:p>
            <a:endParaRPr lang="es-ES_tradnl" sz="12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CA285E48-A089-CB93-678C-5FCEDFF8933C}"/>
              </a:ext>
            </a:extLst>
          </p:cNvPr>
          <p:cNvSpPr/>
          <p:nvPr/>
        </p:nvSpPr>
        <p:spPr>
          <a:xfrm>
            <a:off x="8097512" y="2619881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B1043B77-731C-79BD-BF01-BDBE4D0B1CEE}"/>
              </a:ext>
            </a:extLst>
          </p:cNvPr>
          <p:cNvSpPr/>
          <p:nvPr/>
        </p:nvSpPr>
        <p:spPr>
          <a:xfrm>
            <a:off x="8097512" y="2619881"/>
            <a:ext cx="73152" cy="19659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663C9F1B-7072-11F7-6803-833A067E3BBC}"/>
              </a:ext>
            </a:extLst>
          </p:cNvPr>
          <p:cNvSpPr/>
          <p:nvPr/>
        </p:nvSpPr>
        <p:spPr>
          <a:xfrm>
            <a:off x="8316968" y="2784473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33D"/>
                </a:solidFill>
              </a:rPr>
              <a:t>Standardization</a:t>
            </a:r>
            <a:endParaRPr lang="en-US" sz="15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58464E3D-8490-B284-15BD-1B2ABBB51D31}"/>
              </a:ext>
            </a:extLst>
          </p:cNvPr>
          <p:cNvSpPr/>
          <p:nvPr/>
        </p:nvSpPr>
        <p:spPr>
          <a:xfrm>
            <a:off x="8371832" y="3122801"/>
            <a:ext cx="31546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s-ES_tradnl" sz="11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3EC884D-B0C5-D2D5-DFD3-D86A4D7DBD1A}"/>
              </a:ext>
            </a:extLst>
          </p:cNvPr>
          <p:cNvSpPr/>
          <p:nvPr/>
        </p:nvSpPr>
        <p:spPr>
          <a:xfrm>
            <a:off x="8316968" y="3219536"/>
            <a:ext cx="320954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150" dirty="0">
                <a:solidFill>
                  <a:srgbClr val="202B3C"/>
                </a:solidFill>
              </a:rPr>
              <a:t>Procesos de negocio homogéneos end-to-end.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150" dirty="0">
                <a:solidFill>
                  <a:srgbClr val="202B3C"/>
                </a:solidFill>
              </a:rPr>
              <a:t>Base sólida para analítica y generación de ingresos. (Vista única del cliente).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_tradnl" sz="1150" dirty="0">
              <a:solidFill>
                <a:srgbClr val="202B3C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_tradnl" sz="1150" dirty="0">
              <a:solidFill>
                <a:srgbClr val="202B3C"/>
              </a:solidFill>
            </a:endParaRPr>
          </a:p>
          <a:p>
            <a:endParaRPr lang="es-ES_tradnl" sz="120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5C3FBF2D-ABBC-F4C2-3CA2-B8061000F37C}"/>
              </a:ext>
            </a:extLst>
          </p:cNvPr>
          <p:cNvSpPr/>
          <p:nvPr/>
        </p:nvSpPr>
        <p:spPr>
          <a:xfrm>
            <a:off x="655320" y="51640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33D"/>
                </a:solidFill>
              </a:rPr>
              <a:t>CRM / Billing actuales</a:t>
            </a:r>
            <a:endParaRPr lang="en-US" sz="1300" dirty="0"/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170F2E7D-E8A6-89B1-7E72-D40A8A9FEE45}"/>
              </a:ext>
            </a:extLst>
          </p:cNvPr>
          <p:cNvSpPr/>
          <p:nvPr/>
        </p:nvSpPr>
        <p:spPr>
          <a:xfrm>
            <a:off x="563880" y="5438412"/>
            <a:ext cx="2148840" cy="64008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D9E2ED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03071201-1BE2-3F46-4801-5C073B4213AD}"/>
              </a:ext>
            </a:extLst>
          </p:cNvPr>
          <p:cNvSpPr/>
          <p:nvPr/>
        </p:nvSpPr>
        <p:spPr>
          <a:xfrm>
            <a:off x="655320" y="5632763"/>
            <a:ext cx="1920240" cy="34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B3C"/>
                </a:solidFill>
              </a:rPr>
              <a:t>AS IS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202B3C"/>
                </a:solidFill>
              </a:rPr>
              <a:t>BCCS / S1GA / CBS / SnC + 14 platforms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FFEF4302-D1E2-02AB-B4B1-56EB1F2CCF6F}"/>
              </a:ext>
            </a:extLst>
          </p:cNvPr>
          <p:cNvSpPr/>
          <p:nvPr/>
        </p:nvSpPr>
        <p:spPr>
          <a:xfrm>
            <a:off x="2987040" y="5575572"/>
            <a:ext cx="731520" cy="347472"/>
          </a:xfrm>
          <a:prstGeom prst="rightArrow">
            <a:avLst/>
          </a:prstGeom>
          <a:solidFill>
            <a:srgbClr val="59C7EE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E9135011-16AE-70C4-1801-06D216C2E9AE}"/>
              </a:ext>
            </a:extLst>
          </p:cNvPr>
          <p:cNvSpPr/>
          <p:nvPr/>
        </p:nvSpPr>
        <p:spPr>
          <a:xfrm>
            <a:off x="3928872" y="51640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33D"/>
                </a:solidFill>
              </a:rPr>
              <a:t>Plataformas convergentes</a:t>
            </a:r>
            <a:endParaRPr lang="en-US" sz="1300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E6B94ACA-13B4-7586-59DB-6E87AC667769}"/>
              </a:ext>
            </a:extLst>
          </p:cNvPr>
          <p:cNvSpPr/>
          <p:nvPr/>
        </p:nvSpPr>
        <p:spPr>
          <a:xfrm>
            <a:off x="3855720" y="5438412"/>
            <a:ext cx="2240280" cy="640080"/>
          </a:xfrm>
          <a:prstGeom prst="roundRect">
            <a:avLst>
              <a:gd name="adj" fmla="val 8571"/>
            </a:avLst>
          </a:prstGeom>
          <a:solidFill>
            <a:srgbClr val="EEF9FD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85DDDEB7-B7A4-125C-BB88-7D397129E3C3}"/>
              </a:ext>
            </a:extLst>
          </p:cNvPr>
          <p:cNvSpPr/>
          <p:nvPr/>
        </p:nvSpPr>
        <p:spPr>
          <a:xfrm>
            <a:off x="4011168" y="5471874"/>
            <a:ext cx="1920240" cy="4827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endParaRPr lang="en-US" sz="1100" dirty="0">
              <a:solidFill>
                <a:srgbClr val="202B3C"/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202B3C"/>
                </a:solidFill>
              </a:rPr>
              <a:t>To Be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202B3C"/>
                </a:solidFill>
              </a:rPr>
              <a:t>SnC + CBS + (1 Midw)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02B3C"/>
                </a:solidFill>
              </a:rPr>
              <a:t>nuevo ecosistema</a:t>
            </a:r>
            <a:endParaRPr lang="en-US" sz="1100" dirty="0"/>
          </a:p>
        </p:txBody>
      </p:sp>
      <p:sp>
        <p:nvSpPr>
          <p:cNvPr id="35" name="Shape 20">
            <a:extLst>
              <a:ext uri="{FF2B5EF4-FFF2-40B4-BE49-F238E27FC236}">
                <a16:creationId xmlns:a16="http://schemas.microsoft.com/office/drawing/2014/main" id="{7974EEEC-E4DE-4442-CAA6-A432097DB7A3}"/>
              </a:ext>
            </a:extLst>
          </p:cNvPr>
          <p:cNvSpPr/>
          <p:nvPr/>
        </p:nvSpPr>
        <p:spPr>
          <a:xfrm>
            <a:off x="6370320" y="5575572"/>
            <a:ext cx="731520" cy="347472"/>
          </a:xfrm>
          <a:prstGeom prst="rightArrow">
            <a:avLst/>
          </a:prstGeom>
          <a:solidFill>
            <a:srgbClr val="59C7EE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6" name="Text 21">
            <a:extLst>
              <a:ext uri="{FF2B5EF4-FFF2-40B4-BE49-F238E27FC236}">
                <a16:creationId xmlns:a16="http://schemas.microsoft.com/office/drawing/2014/main" id="{4BAE5863-C478-2782-F47C-3B2D2D405395}"/>
              </a:ext>
            </a:extLst>
          </p:cNvPr>
          <p:cNvSpPr/>
          <p:nvPr/>
        </p:nvSpPr>
        <p:spPr>
          <a:xfrm>
            <a:off x="7284720" y="51640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33D"/>
                </a:solidFill>
              </a:rPr>
              <a:t>Salidas financieras</a:t>
            </a:r>
            <a:endParaRPr lang="en-US" sz="1300" dirty="0"/>
          </a:p>
        </p:txBody>
      </p:sp>
      <p:sp>
        <p:nvSpPr>
          <p:cNvPr id="37" name="Shape 22">
            <a:extLst>
              <a:ext uri="{FF2B5EF4-FFF2-40B4-BE49-F238E27FC236}">
                <a16:creationId xmlns:a16="http://schemas.microsoft.com/office/drawing/2014/main" id="{D5A99E28-953F-44C3-FB7B-BA8E83D5CE35}"/>
              </a:ext>
            </a:extLst>
          </p:cNvPr>
          <p:cNvSpPr/>
          <p:nvPr/>
        </p:nvSpPr>
        <p:spPr>
          <a:xfrm>
            <a:off x="7193280" y="5438412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D9E2ED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8" name="Text 23">
            <a:extLst>
              <a:ext uri="{FF2B5EF4-FFF2-40B4-BE49-F238E27FC236}">
                <a16:creationId xmlns:a16="http://schemas.microsoft.com/office/drawing/2014/main" id="{99AD0F4E-3C4F-E361-3026-26A213E4C2FF}"/>
              </a:ext>
            </a:extLst>
          </p:cNvPr>
          <p:cNvSpPr/>
          <p:nvPr/>
        </p:nvSpPr>
        <p:spPr>
          <a:xfrm>
            <a:off x="7348728" y="563504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B3C"/>
                </a:solidFill>
              </a:rPr>
              <a:t>cubos, reportes,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02B3C"/>
                </a:solidFill>
              </a:rPr>
              <a:t>conciliaciones</a:t>
            </a:r>
            <a:endParaRPr lang="en-US" sz="1100" dirty="0"/>
          </a:p>
        </p:txBody>
      </p:sp>
      <p:sp>
        <p:nvSpPr>
          <p:cNvPr id="39" name="Shape 24">
            <a:extLst>
              <a:ext uri="{FF2B5EF4-FFF2-40B4-BE49-F238E27FC236}">
                <a16:creationId xmlns:a16="http://schemas.microsoft.com/office/drawing/2014/main" id="{96D77C6B-7FB5-FE0A-7360-767E583C64C0}"/>
              </a:ext>
            </a:extLst>
          </p:cNvPr>
          <p:cNvSpPr/>
          <p:nvPr/>
        </p:nvSpPr>
        <p:spPr>
          <a:xfrm>
            <a:off x="9781032" y="5575572"/>
            <a:ext cx="411480" cy="347472"/>
          </a:xfrm>
          <a:prstGeom prst="rightArrow">
            <a:avLst/>
          </a:prstGeom>
          <a:solidFill>
            <a:srgbClr val="59C7EE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494BF952-44D8-2956-2841-A25BF3DB471D}"/>
              </a:ext>
            </a:extLst>
          </p:cNvPr>
          <p:cNvSpPr/>
          <p:nvPr/>
        </p:nvSpPr>
        <p:spPr>
          <a:xfrm>
            <a:off x="10530840" y="51640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33D"/>
                </a:solidFill>
              </a:rPr>
              <a:t>Validacion E2E</a:t>
            </a:r>
            <a:endParaRPr lang="en-US" sz="1300" dirty="0"/>
          </a:p>
        </p:txBody>
      </p:sp>
      <p:sp>
        <p:nvSpPr>
          <p:cNvPr id="41" name="Shape 26">
            <a:extLst>
              <a:ext uri="{FF2B5EF4-FFF2-40B4-BE49-F238E27FC236}">
                <a16:creationId xmlns:a16="http://schemas.microsoft.com/office/drawing/2014/main" id="{C57624FA-7183-E077-B0AE-CB6491214AA4}"/>
              </a:ext>
            </a:extLst>
          </p:cNvPr>
          <p:cNvSpPr/>
          <p:nvPr/>
        </p:nvSpPr>
        <p:spPr>
          <a:xfrm>
            <a:off x="10485120" y="5438412"/>
            <a:ext cx="1051560" cy="64008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D9E2ED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2" name="Text 27">
            <a:extLst>
              <a:ext uri="{FF2B5EF4-FFF2-40B4-BE49-F238E27FC236}">
                <a16:creationId xmlns:a16="http://schemas.microsoft.com/office/drawing/2014/main" id="{B429C52E-C33C-FC21-317A-226AFBC170D4}"/>
              </a:ext>
            </a:extLst>
          </p:cNvPr>
          <p:cNvSpPr/>
          <p:nvPr/>
        </p:nvSpPr>
        <p:spPr>
          <a:xfrm>
            <a:off x="10558272" y="561274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B3C"/>
                </a:solidFill>
              </a:rPr>
              <a:t>plan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02B3C"/>
                </a:solidFill>
              </a:rPr>
              <a:t>pruebas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43292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CE518-CEDE-3D24-6961-F02240648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DE78221-B5A5-134A-E6DD-8FF67BDAC1C8}"/>
              </a:ext>
            </a:extLst>
          </p:cNvPr>
          <p:cNvGraphicFramePr>
            <a:graphicFrameLocks noGrp="1"/>
          </p:cNvGraphicFramePr>
          <p:nvPr/>
        </p:nvGraphicFramePr>
        <p:xfrm>
          <a:off x="73923" y="1171394"/>
          <a:ext cx="11955992" cy="5634606"/>
        </p:xfrm>
        <a:graphic>
          <a:graphicData uri="http://schemas.openxmlformats.org/drawingml/2006/table">
            <a:tbl>
              <a:tblPr firstRow="1" firstCol="1" lastCol="1" bandRow="1">
                <a:tableStyleId>{69CF1AB2-1976-4502-BF36-3FF5EA218861}</a:tableStyleId>
              </a:tblPr>
              <a:tblGrid>
                <a:gridCol w="324010">
                  <a:extLst>
                    <a:ext uri="{9D8B030D-6E8A-4147-A177-3AD203B41FA5}">
                      <a16:colId xmlns:a16="http://schemas.microsoft.com/office/drawing/2014/main" val="1043754042"/>
                    </a:ext>
                  </a:extLst>
                </a:gridCol>
                <a:gridCol w="818809">
                  <a:extLst>
                    <a:ext uri="{9D8B030D-6E8A-4147-A177-3AD203B41FA5}">
                      <a16:colId xmlns:a16="http://schemas.microsoft.com/office/drawing/2014/main" val="2510835691"/>
                    </a:ext>
                  </a:extLst>
                </a:gridCol>
                <a:gridCol w="566236">
                  <a:extLst>
                    <a:ext uri="{9D8B030D-6E8A-4147-A177-3AD203B41FA5}">
                      <a16:colId xmlns:a16="http://schemas.microsoft.com/office/drawing/2014/main" val="30825552"/>
                    </a:ext>
                  </a:extLst>
                </a:gridCol>
                <a:gridCol w="569685">
                  <a:extLst>
                    <a:ext uri="{9D8B030D-6E8A-4147-A177-3AD203B41FA5}">
                      <a16:colId xmlns:a16="http://schemas.microsoft.com/office/drawing/2014/main" val="121437134"/>
                    </a:ext>
                  </a:extLst>
                </a:gridCol>
                <a:gridCol w="569685">
                  <a:extLst>
                    <a:ext uri="{9D8B030D-6E8A-4147-A177-3AD203B41FA5}">
                      <a16:colId xmlns:a16="http://schemas.microsoft.com/office/drawing/2014/main" val="1764170661"/>
                    </a:ext>
                  </a:extLst>
                </a:gridCol>
                <a:gridCol w="569685">
                  <a:extLst>
                    <a:ext uri="{9D8B030D-6E8A-4147-A177-3AD203B41FA5}">
                      <a16:colId xmlns:a16="http://schemas.microsoft.com/office/drawing/2014/main" val="1669372854"/>
                    </a:ext>
                  </a:extLst>
                </a:gridCol>
                <a:gridCol w="562292">
                  <a:extLst>
                    <a:ext uri="{9D8B030D-6E8A-4147-A177-3AD203B41FA5}">
                      <a16:colId xmlns:a16="http://schemas.microsoft.com/office/drawing/2014/main" val="442749533"/>
                    </a:ext>
                  </a:extLst>
                </a:gridCol>
                <a:gridCol w="569685">
                  <a:extLst>
                    <a:ext uri="{9D8B030D-6E8A-4147-A177-3AD203B41FA5}">
                      <a16:colId xmlns:a16="http://schemas.microsoft.com/office/drawing/2014/main" val="1551311435"/>
                    </a:ext>
                  </a:extLst>
                </a:gridCol>
                <a:gridCol w="569685">
                  <a:extLst>
                    <a:ext uri="{9D8B030D-6E8A-4147-A177-3AD203B41FA5}">
                      <a16:colId xmlns:a16="http://schemas.microsoft.com/office/drawing/2014/main" val="379575840"/>
                    </a:ext>
                  </a:extLst>
                </a:gridCol>
                <a:gridCol w="604769">
                  <a:extLst>
                    <a:ext uri="{9D8B030D-6E8A-4147-A177-3AD203B41FA5}">
                      <a16:colId xmlns:a16="http://schemas.microsoft.com/office/drawing/2014/main" val="4182640650"/>
                    </a:ext>
                  </a:extLst>
                </a:gridCol>
                <a:gridCol w="534601">
                  <a:extLst>
                    <a:ext uri="{9D8B030D-6E8A-4147-A177-3AD203B41FA5}">
                      <a16:colId xmlns:a16="http://schemas.microsoft.com/office/drawing/2014/main" val="2925051364"/>
                    </a:ext>
                  </a:extLst>
                </a:gridCol>
                <a:gridCol w="569685">
                  <a:extLst>
                    <a:ext uri="{9D8B030D-6E8A-4147-A177-3AD203B41FA5}">
                      <a16:colId xmlns:a16="http://schemas.microsoft.com/office/drawing/2014/main" val="1818258580"/>
                    </a:ext>
                  </a:extLst>
                </a:gridCol>
                <a:gridCol w="569685">
                  <a:extLst>
                    <a:ext uri="{9D8B030D-6E8A-4147-A177-3AD203B41FA5}">
                      <a16:colId xmlns:a16="http://schemas.microsoft.com/office/drawing/2014/main" val="3303048597"/>
                    </a:ext>
                  </a:extLst>
                </a:gridCol>
                <a:gridCol w="569685">
                  <a:extLst>
                    <a:ext uri="{9D8B030D-6E8A-4147-A177-3AD203B41FA5}">
                      <a16:colId xmlns:a16="http://schemas.microsoft.com/office/drawing/2014/main" val="1211179132"/>
                    </a:ext>
                  </a:extLst>
                </a:gridCol>
                <a:gridCol w="569685">
                  <a:extLst>
                    <a:ext uri="{9D8B030D-6E8A-4147-A177-3AD203B41FA5}">
                      <a16:colId xmlns:a16="http://schemas.microsoft.com/office/drawing/2014/main" val="2496411257"/>
                    </a:ext>
                  </a:extLst>
                </a:gridCol>
                <a:gridCol w="569685">
                  <a:extLst>
                    <a:ext uri="{9D8B030D-6E8A-4147-A177-3AD203B41FA5}">
                      <a16:colId xmlns:a16="http://schemas.microsoft.com/office/drawing/2014/main" val="264028614"/>
                    </a:ext>
                  </a:extLst>
                </a:gridCol>
                <a:gridCol w="569685">
                  <a:extLst>
                    <a:ext uri="{9D8B030D-6E8A-4147-A177-3AD203B41FA5}">
                      <a16:colId xmlns:a16="http://schemas.microsoft.com/office/drawing/2014/main" val="1262000209"/>
                    </a:ext>
                  </a:extLst>
                </a:gridCol>
                <a:gridCol w="569685">
                  <a:extLst>
                    <a:ext uri="{9D8B030D-6E8A-4147-A177-3AD203B41FA5}">
                      <a16:colId xmlns:a16="http://schemas.microsoft.com/office/drawing/2014/main" val="3955472305"/>
                    </a:ext>
                  </a:extLst>
                </a:gridCol>
                <a:gridCol w="569685">
                  <a:extLst>
                    <a:ext uri="{9D8B030D-6E8A-4147-A177-3AD203B41FA5}">
                      <a16:colId xmlns:a16="http://schemas.microsoft.com/office/drawing/2014/main" val="3252317979"/>
                    </a:ext>
                  </a:extLst>
                </a:gridCol>
                <a:gridCol w="569685">
                  <a:extLst>
                    <a:ext uri="{9D8B030D-6E8A-4147-A177-3AD203B41FA5}">
                      <a16:colId xmlns:a16="http://schemas.microsoft.com/office/drawing/2014/main" val="3844897898"/>
                    </a:ext>
                  </a:extLst>
                </a:gridCol>
                <a:gridCol w="569685">
                  <a:extLst>
                    <a:ext uri="{9D8B030D-6E8A-4147-A177-3AD203B41FA5}">
                      <a16:colId xmlns:a16="http://schemas.microsoft.com/office/drawing/2014/main" val="472725027"/>
                    </a:ext>
                  </a:extLst>
                </a:gridCol>
              </a:tblGrid>
              <a:tr h="394900">
                <a:tc>
                  <a:txBody>
                    <a:bodyPr/>
                    <a:lstStyle/>
                    <a:p>
                      <a:endParaRPr lang="es-BO" sz="105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BO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Oct 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Nov 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 err="1">
                          <a:solidFill>
                            <a:schemeClr val="bg1"/>
                          </a:solidFill>
                        </a:rPr>
                        <a:t>Dec</a:t>
                      </a:r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 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Jan 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Feb 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Mar 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Apr 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May 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Jun 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Jul 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 err="1">
                          <a:solidFill>
                            <a:schemeClr val="bg1"/>
                          </a:solidFill>
                        </a:rPr>
                        <a:t>Aug</a:t>
                      </a:r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 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 err="1">
                          <a:solidFill>
                            <a:schemeClr val="bg1"/>
                          </a:solidFill>
                        </a:rPr>
                        <a:t>Sep</a:t>
                      </a:r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 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Oct 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Nov 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Dec 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Jan 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Feb 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Mar 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>
                          <a:solidFill>
                            <a:schemeClr val="bg1"/>
                          </a:solidFill>
                        </a:rPr>
                        <a:t>Apr 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928696"/>
                  </a:ext>
                </a:extLst>
              </a:tr>
              <a:tr h="957485">
                <a:tc rowSpan="6">
                  <a:txBody>
                    <a:bodyPr/>
                    <a:lstStyle/>
                    <a:p>
                      <a:pPr algn="ctr"/>
                      <a:r>
                        <a:rPr lang="en-US" sz="900"/>
                        <a:t>S&amp;C &amp; CBS</a:t>
                      </a:r>
                    </a:p>
                    <a:p>
                      <a:pPr algn="ctr"/>
                      <a:r>
                        <a:rPr lang="en-US" sz="900"/>
                        <a:t>Phase 2-3 </a:t>
                      </a:r>
                    </a:p>
                  </a:txBody>
                  <a:tcPr vert="vert270" anchor="ctr"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noProof="0" dirty="0"/>
                        <a:t>Analysis &amp; Built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692150"/>
                  </a:ext>
                </a:extLst>
              </a:tr>
              <a:tr h="894335"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noProof="0"/>
                        <a:t>API required and dev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573157"/>
                  </a:ext>
                </a:extLst>
              </a:tr>
              <a:tr h="376646">
                <a:tc vMerge="1"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noProof="0"/>
                        <a:t>Training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5243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noProof="0"/>
                        <a:t>Offer Simplification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  <a:p>
                      <a:endParaRPr lang="es-BO" sz="600"/>
                    </a:p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101805"/>
                  </a:ext>
                </a:extLst>
              </a:tr>
              <a:tr h="1638300">
                <a:tc vMerge="1"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noProof="0"/>
                        <a:t>Data Migration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BO" sz="1050"/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198031"/>
                  </a:ext>
                </a:extLst>
              </a:tr>
              <a:tr h="944880">
                <a:tc vMerge="1">
                  <a:txBody>
                    <a:bodyPr/>
                    <a:lstStyle/>
                    <a:p>
                      <a:endParaRPr lang="es-BO" sz="9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Conciliations, Reports</a:t>
                      </a:r>
                    </a:p>
                    <a:p>
                      <a:pPr algn="ctr"/>
                      <a:r>
                        <a:rPr lang="en-US" sz="900"/>
                        <a:t>&amp; Controls</a:t>
                      </a:r>
                      <a:endParaRPr lang="en-US" sz="900" noProof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BO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134505"/>
                  </a:ext>
                </a:extLst>
              </a:tr>
            </a:tbl>
          </a:graphicData>
        </a:graphic>
      </p:graphicFrame>
      <p:sp>
        <p:nvSpPr>
          <p:cNvPr id="9" name="Marcador de contenido 4">
            <a:extLst>
              <a:ext uri="{FF2B5EF4-FFF2-40B4-BE49-F238E27FC236}">
                <a16:creationId xmlns:a16="http://schemas.microsoft.com/office/drawing/2014/main" id="{C208F4A7-EE37-8C0C-78AF-333AFC8736C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61576" y="315177"/>
            <a:ext cx="10400610" cy="461077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>
                <a:latin typeface="Calibri"/>
                <a:ea typeface="Calibri"/>
                <a:cs typeface="Calibri"/>
              </a:rPr>
              <a:t>BO - IT Transformation </a:t>
            </a:r>
            <a:r>
              <a:rPr lang="en-US" sz="3200" b="1"/>
              <a:t>| High Level Time Plan &amp; Status</a:t>
            </a:r>
          </a:p>
          <a:p>
            <a:endParaRPr lang="en-US" b="1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220AE9-4B12-D8CF-4B65-A64400535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7728"/>
            <a:ext cx="65" cy="24174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CO" altLang="es-CO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Rectángulo: esquinas redondeadas 33">
            <a:extLst>
              <a:ext uri="{FF2B5EF4-FFF2-40B4-BE49-F238E27FC236}">
                <a16:creationId xmlns:a16="http://schemas.microsoft.com/office/drawing/2014/main" id="{48AB980D-2551-4DAA-3873-40D9777B2D8F}"/>
              </a:ext>
            </a:extLst>
          </p:cNvPr>
          <p:cNvSpPr/>
          <p:nvPr/>
        </p:nvSpPr>
        <p:spPr>
          <a:xfrm>
            <a:off x="3162826" y="1643526"/>
            <a:ext cx="378900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2056" name="Rectángulo: esquinas redondeadas 33">
            <a:extLst>
              <a:ext uri="{FF2B5EF4-FFF2-40B4-BE49-F238E27FC236}">
                <a16:creationId xmlns:a16="http://schemas.microsoft.com/office/drawing/2014/main" id="{0AC60CD2-B62D-E836-1724-2815B591F749}"/>
              </a:ext>
            </a:extLst>
          </p:cNvPr>
          <p:cNvSpPr/>
          <p:nvPr/>
        </p:nvSpPr>
        <p:spPr>
          <a:xfrm>
            <a:off x="1502247" y="1643026"/>
            <a:ext cx="1651657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+mn-ea"/>
                <a:cs typeface="+mn-cs"/>
              </a:rPr>
              <a:t>FRS + ISD</a:t>
            </a:r>
          </a:p>
        </p:txBody>
      </p:sp>
      <p:sp>
        <p:nvSpPr>
          <p:cNvPr id="2063" name="Rectángulo: esquinas redondeadas 33">
            <a:extLst>
              <a:ext uri="{FF2B5EF4-FFF2-40B4-BE49-F238E27FC236}">
                <a16:creationId xmlns:a16="http://schemas.microsoft.com/office/drawing/2014/main" id="{F4F50747-FC01-A2E5-67C8-200C6F15AD52}"/>
              </a:ext>
            </a:extLst>
          </p:cNvPr>
          <p:cNvSpPr/>
          <p:nvPr/>
        </p:nvSpPr>
        <p:spPr>
          <a:xfrm>
            <a:off x="5807847" y="1640552"/>
            <a:ext cx="839901" cy="216000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1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1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2066" name="CuadroTexto 73">
            <a:extLst>
              <a:ext uri="{FF2B5EF4-FFF2-40B4-BE49-F238E27FC236}">
                <a16:creationId xmlns:a16="http://schemas.microsoft.com/office/drawing/2014/main" id="{E23C5CB7-9679-86E1-19F6-6C9B45238450}"/>
              </a:ext>
            </a:extLst>
          </p:cNvPr>
          <p:cNvSpPr txBox="1"/>
          <p:nvPr/>
        </p:nvSpPr>
        <p:spPr>
          <a:xfrm>
            <a:off x="6277071" y="1963956"/>
            <a:ext cx="572596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Jun 30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th</a:t>
            </a:r>
          </a:p>
        </p:txBody>
      </p:sp>
      <p:sp>
        <p:nvSpPr>
          <p:cNvPr id="2068" name="Rectángulo: esquinas redondeadas 33">
            <a:extLst>
              <a:ext uri="{FF2B5EF4-FFF2-40B4-BE49-F238E27FC236}">
                <a16:creationId xmlns:a16="http://schemas.microsoft.com/office/drawing/2014/main" id="{35DEABE4-CD2F-3627-B242-5B4118354919}"/>
              </a:ext>
            </a:extLst>
          </p:cNvPr>
          <p:cNvSpPr/>
          <p:nvPr/>
        </p:nvSpPr>
        <p:spPr>
          <a:xfrm>
            <a:off x="5862693" y="2230959"/>
            <a:ext cx="1917634" cy="216000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1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1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478FC42-2C29-D4FA-631A-5FFF56518254}"/>
              </a:ext>
            </a:extLst>
          </p:cNvPr>
          <p:cNvGrpSpPr/>
          <p:nvPr/>
        </p:nvGrpSpPr>
        <p:grpSpPr>
          <a:xfrm>
            <a:off x="7955440" y="1953671"/>
            <a:ext cx="640279" cy="460507"/>
            <a:chOff x="8283159" y="2490615"/>
            <a:chExt cx="640279" cy="460507"/>
          </a:xfrm>
        </p:grpSpPr>
        <p:sp>
          <p:nvSpPr>
            <p:cNvPr id="3" name="CuadroTexto 75">
              <a:extLst>
                <a:ext uri="{FF2B5EF4-FFF2-40B4-BE49-F238E27FC236}">
                  <a16:creationId xmlns:a16="http://schemas.microsoft.com/office/drawing/2014/main" id="{AA25C9AD-BC2A-A242-4364-A3B6DFF5B83A}"/>
                </a:ext>
              </a:extLst>
            </p:cNvPr>
            <p:cNvSpPr txBox="1"/>
            <p:nvPr/>
          </p:nvSpPr>
          <p:spPr>
            <a:xfrm>
              <a:off x="8407271" y="2490615"/>
              <a:ext cx="516167" cy="32316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38100" tIns="38100" rIns="38100" bIns="38100" numCol="1" spcCol="38100" rtlCol="0" anchor="ctr">
              <a:spAutoFit/>
            </a:bodyPr>
            <a:lstStyle/>
            <a:p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ronos Pro"/>
                  <a:ea typeface="Calibri" charset="0"/>
                  <a:cs typeface="Calibri" charset="0"/>
                  <a:sym typeface="Helvetica Light"/>
                </a:rPr>
                <a:t>Go Live </a:t>
              </a:r>
            </a:p>
            <a:p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ronos Pro"/>
                  <a:ea typeface="Calibri" charset="0"/>
                  <a:cs typeface="Calibri" charset="0"/>
                  <a:sym typeface="Helvetica Light"/>
                </a:rPr>
                <a:t>Greenfield</a:t>
              </a:r>
            </a:p>
          </p:txBody>
        </p:sp>
        <p:sp>
          <p:nvSpPr>
            <p:cNvPr id="7" name="CuadroTexto 75">
              <a:extLst>
                <a:ext uri="{FF2B5EF4-FFF2-40B4-BE49-F238E27FC236}">
                  <a16:creationId xmlns:a16="http://schemas.microsoft.com/office/drawing/2014/main" id="{25B36721-CABB-0EB7-47D0-B19336288E88}"/>
                </a:ext>
              </a:extLst>
            </p:cNvPr>
            <p:cNvSpPr txBox="1"/>
            <p:nvPr/>
          </p:nvSpPr>
          <p:spPr>
            <a:xfrm>
              <a:off x="8283159" y="2751067"/>
              <a:ext cx="478816" cy="20005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8100" tIns="38100" rIns="38100" bIns="38100" numCol="1" spcCol="38100" rtlCol="0" anchor="ctr">
              <a:spAutoFit/>
            </a:bodyPr>
            <a:lstStyle/>
            <a:p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Helvetica Light"/>
                </a:rPr>
                <a:t>Oct 23</a:t>
              </a:r>
              <a:r>
                <a:rPr kumimoji="0" lang="en-US" sz="8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Helvetica Light"/>
                </a:rPr>
                <a:t>rd</a:t>
              </a:r>
            </a:p>
          </p:txBody>
        </p:sp>
      </p:grpSp>
      <p:sp>
        <p:nvSpPr>
          <p:cNvPr id="31" name="Rectángulo: esquinas redondeadas 33">
            <a:extLst>
              <a:ext uri="{FF2B5EF4-FFF2-40B4-BE49-F238E27FC236}">
                <a16:creationId xmlns:a16="http://schemas.microsoft.com/office/drawing/2014/main" id="{8FE968BD-B3A2-C65D-BAE1-E7EFCF92A883}"/>
              </a:ext>
            </a:extLst>
          </p:cNvPr>
          <p:cNvSpPr/>
          <p:nvPr/>
        </p:nvSpPr>
        <p:spPr>
          <a:xfrm>
            <a:off x="3029550" y="3856164"/>
            <a:ext cx="442813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6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6">
                  <a:lumMod val="40000"/>
                  <a:lumOff val="60000"/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45" name="Rectángulo: esquinas redondeadas 33">
            <a:extLst>
              <a:ext uri="{FF2B5EF4-FFF2-40B4-BE49-F238E27FC236}">
                <a16:creationId xmlns:a16="http://schemas.microsoft.com/office/drawing/2014/main" id="{C4CA0BD1-DC43-D4D7-124F-F104BEE9408A}"/>
              </a:ext>
            </a:extLst>
          </p:cNvPr>
          <p:cNvSpPr/>
          <p:nvPr/>
        </p:nvSpPr>
        <p:spPr>
          <a:xfrm>
            <a:off x="1309914" y="3856420"/>
            <a:ext cx="1020498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6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6">
                  <a:lumMod val="40000"/>
                  <a:lumOff val="60000"/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+mn-ea"/>
                <a:cs typeface="+mn-cs"/>
              </a:rPr>
              <a:t>Strategy</a:t>
            </a:r>
          </a:p>
        </p:txBody>
      </p:sp>
      <p:sp>
        <p:nvSpPr>
          <p:cNvPr id="178" name="Rombo 74">
            <a:extLst>
              <a:ext uri="{FF2B5EF4-FFF2-40B4-BE49-F238E27FC236}">
                <a16:creationId xmlns:a16="http://schemas.microsoft.com/office/drawing/2014/main" id="{05978A9E-0C62-34BA-F98E-08C136541F1B}"/>
              </a:ext>
            </a:extLst>
          </p:cNvPr>
          <p:cNvSpPr/>
          <p:nvPr/>
        </p:nvSpPr>
        <p:spPr>
          <a:xfrm>
            <a:off x="8467716" y="2269416"/>
            <a:ext cx="72419" cy="102060"/>
          </a:xfrm>
          <a:prstGeom prst="diamond">
            <a:avLst/>
          </a:prstGeom>
          <a:solidFill>
            <a:srgbClr val="2BF530"/>
          </a:solidFill>
          <a:ln w="12700" cap="flat">
            <a:solidFill>
              <a:srgbClr val="00B050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048" name="Rectángulo: esquinas redondeadas 33">
            <a:extLst>
              <a:ext uri="{FF2B5EF4-FFF2-40B4-BE49-F238E27FC236}">
                <a16:creationId xmlns:a16="http://schemas.microsoft.com/office/drawing/2014/main" id="{84D52EA7-B314-CA4F-20ED-5A3BB3EDEF19}"/>
              </a:ext>
            </a:extLst>
          </p:cNvPr>
          <p:cNvSpPr/>
          <p:nvPr/>
        </p:nvSpPr>
        <p:spPr>
          <a:xfrm>
            <a:off x="2474166" y="3860399"/>
            <a:ext cx="442372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6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6">
                  <a:lumMod val="40000"/>
                  <a:lumOff val="60000"/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20" name="CuadroTexto 75">
            <a:extLst>
              <a:ext uri="{FF2B5EF4-FFF2-40B4-BE49-F238E27FC236}">
                <a16:creationId xmlns:a16="http://schemas.microsoft.com/office/drawing/2014/main" id="{7E953990-8A25-F677-8740-F1A723AEC894}"/>
              </a:ext>
            </a:extLst>
          </p:cNvPr>
          <p:cNvSpPr txBox="1"/>
          <p:nvPr/>
        </p:nvSpPr>
        <p:spPr>
          <a:xfrm>
            <a:off x="3143767" y="1639698"/>
            <a:ext cx="374232" cy="216000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CV1</a:t>
            </a:r>
          </a:p>
        </p:txBody>
      </p:sp>
      <p:sp>
        <p:nvSpPr>
          <p:cNvPr id="13" name="Rectángulo: esquinas redondeadas 33">
            <a:extLst>
              <a:ext uri="{FF2B5EF4-FFF2-40B4-BE49-F238E27FC236}">
                <a16:creationId xmlns:a16="http://schemas.microsoft.com/office/drawing/2014/main" id="{D0341DEE-6D83-150A-2C41-EBE6F25FDB1F}"/>
              </a:ext>
            </a:extLst>
          </p:cNvPr>
          <p:cNvSpPr/>
          <p:nvPr/>
        </p:nvSpPr>
        <p:spPr>
          <a:xfrm>
            <a:off x="1277389" y="2230678"/>
            <a:ext cx="3381838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6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6">
                  <a:lumMod val="40000"/>
                  <a:lumOff val="6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+mn-ea"/>
                <a:cs typeface="+mn-cs"/>
              </a:rPr>
              <a:t>Test Strategy</a:t>
            </a:r>
          </a:p>
        </p:txBody>
      </p:sp>
      <p:sp>
        <p:nvSpPr>
          <p:cNvPr id="137" name="CuadroTexto 75">
            <a:extLst>
              <a:ext uri="{FF2B5EF4-FFF2-40B4-BE49-F238E27FC236}">
                <a16:creationId xmlns:a16="http://schemas.microsoft.com/office/drawing/2014/main" id="{D5460D1F-6046-F7AA-540C-B3849253FA97}"/>
              </a:ext>
            </a:extLst>
          </p:cNvPr>
          <p:cNvSpPr txBox="1"/>
          <p:nvPr/>
        </p:nvSpPr>
        <p:spPr>
          <a:xfrm>
            <a:off x="2498798" y="3841332"/>
            <a:ext cx="374232" cy="230832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(2/2)</a:t>
            </a:r>
          </a:p>
        </p:txBody>
      </p:sp>
      <p:sp>
        <p:nvSpPr>
          <p:cNvPr id="139" name="CuadroTexto 75">
            <a:extLst>
              <a:ext uri="{FF2B5EF4-FFF2-40B4-BE49-F238E27FC236}">
                <a16:creationId xmlns:a16="http://schemas.microsoft.com/office/drawing/2014/main" id="{917CB088-7786-B3F2-EEB4-5E8448DDC84C}"/>
              </a:ext>
            </a:extLst>
          </p:cNvPr>
          <p:cNvSpPr txBox="1"/>
          <p:nvPr/>
        </p:nvSpPr>
        <p:spPr>
          <a:xfrm>
            <a:off x="2977540" y="3851183"/>
            <a:ext cx="472034" cy="230832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(40/40)</a:t>
            </a:r>
          </a:p>
        </p:txBody>
      </p:sp>
      <p:sp>
        <p:nvSpPr>
          <p:cNvPr id="2051" name="Rectángulo: esquinas redondeadas 33">
            <a:extLst>
              <a:ext uri="{FF2B5EF4-FFF2-40B4-BE49-F238E27FC236}">
                <a16:creationId xmlns:a16="http://schemas.microsoft.com/office/drawing/2014/main" id="{3368C8F2-68B7-4470-1067-22153B790444}"/>
              </a:ext>
            </a:extLst>
          </p:cNvPr>
          <p:cNvSpPr/>
          <p:nvPr/>
        </p:nvSpPr>
        <p:spPr>
          <a:xfrm>
            <a:off x="5848372" y="4567524"/>
            <a:ext cx="1001295" cy="216000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1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1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15" name="CuadroTexto 75">
            <a:extLst>
              <a:ext uri="{FF2B5EF4-FFF2-40B4-BE49-F238E27FC236}">
                <a16:creationId xmlns:a16="http://schemas.microsoft.com/office/drawing/2014/main" id="{AC493456-60D5-EF9C-648C-D89A20BD2DC9}"/>
              </a:ext>
            </a:extLst>
          </p:cNvPr>
          <p:cNvSpPr txBox="1"/>
          <p:nvPr/>
        </p:nvSpPr>
        <p:spPr>
          <a:xfrm>
            <a:off x="8845657" y="5413069"/>
            <a:ext cx="560667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Big Bang</a:t>
            </a:r>
          </a:p>
        </p:txBody>
      </p:sp>
      <p:sp>
        <p:nvSpPr>
          <p:cNvPr id="2053" name="Rectángulo: esquinas redondeadas 33">
            <a:extLst>
              <a:ext uri="{FF2B5EF4-FFF2-40B4-BE49-F238E27FC236}">
                <a16:creationId xmlns:a16="http://schemas.microsoft.com/office/drawing/2014/main" id="{7A9836D8-588F-9DB9-656A-69F10BE025EE}"/>
              </a:ext>
            </a:extLst>
          </p:cNvPr>
          <p:cNvSpPr/>
          <p:nvPr/>
        </p:nvSpPr>
        <p:spPr>
          <a:xfrm>
            <a:off x="4158176" y="5914547"/>
            <a:ext cx="432435" cy="214970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1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1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2057" name="Rectángulo: esquinas redondeadas 33">
            <a:extLst>
              <a:ext uri="{FF2B5EF4-FFF2-40B4-BE49-F238E27FC236}">
                <a16:creationId xmlns:a16="http://schemas.microsoft.com/office/drawing/2014/main" id="{D6338977-657E-0E7B-4593-37F412B2B970}"/>
              </a:ext>
            </a:extLst>
          </p:cNvPr>
          <p:cNvSpPr/>
          <p:nvPr/>
        </p:nvSpPr>
        <p:spPr>
          <a:xfrm>
            <a:off x="2922185" y="5913517"/>
            <a:ext cx="1672619" cy="21497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Discovery &amp; Strategy (262)</a:t>
            </a:r>
          </a:p>
        </p:txBody>
      </p:sp>
      <p:sp>
        <p:nvSpPr>
          <p:cNvPr id="17" name="Rectángulo: esquinas redondeadas 33">
            <a:extLst>
              <a:ext uri="{FF2B5EF4-FFF2-40B4-BE49-F238E27FC236}">
                <a16:creationId xmlns:a16="http://schemas.microsoft.com/office/drawing/2014/main" id="{0EBDCE74-777D-F9A5-30A6-57CDD07CF541}"/>
              </a:ext>
            </a:extLst>
          </p:cNvPr>
          <p:cNvSpPr/>
          <p:nvPr/>
        </p:nvSpPr>
        <p:spPr>
          <a:xfrm>
            <a:off x="4659226" y="3866591"/>
            <a:ext cx="524014" cy="214386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+mn-ea"/>
                <a:cs typeface="+mn-cs"/>
              </a:rPr>
              <a:t>(1/1)</a:t>
            </a:r>
          </a:p>
        </p:txBody>
      </p:sp>
      <p:sp>
        <p:nvSpPr>
          <p:cNvPr id="26" name="Rectángulo: esquinas redondeadas 33">
            <a:extLst>
              <a:ext uri="{FF2B5EF4-FFF2-40B4-BE49-F238E27FC236}">
                <a16:creationId xmlns:a16="http://schemas.microsoft.com/office/drawing/2014/main" id="{91ED07D1-0822-EAF3-3CFF-EF9FD5A118E3}"/>
              </a:ext>
            </a:extLst>
          </p:cNvPr>
          <p:cNvSpPr/>
          <p:nvPr/>
        </p:nvSpPr>
        <p:spPr>
          <a:xfrm>
            <a:off x="4667887" y="4568417"/>
            <a:ext cx="1308842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27" name="CuadroTexto 75">
            <a:extLst>
              <a:ext uri="{FF2B5EF4-FFF2-40B4-BE49-F238E27FC236}">
                <a16:creationId xmlns:a16="http://schemas.microsoft.com/office/drawing/2014/main" id="{19BE2472-20DA-E6A7-93C7-99B38C5A64DF}"/>
              </a:ext>
            </a:extLst>
          </p:cNvPr>
          <p:cNvSpPr txBox="1"/>
          <p:nvPr/>
        </p:nvSpPr>
        <p:spPr>
          <a:xfrm>
            <a:off x="4671975" y="4557845"/>
            <a:ext cx="2105273" cy="230832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Investigation 90% &amp; Development 15%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Calibri" charset="0"/>
              <a:cs typeface="Calibri" charset="0"/>
              <a:sym typeface="Helvetica Light"/>
            </a:endParaRPr>
          </a:p>
        </p:txBody>
      </p:sp>
      <p:sp>
        <p:nvSpPr>
          <p:cNvPr id="29" name="Rectángulo: esquinas redondeadas 33">
            <a:extLst>
              <a:ext uri="{FF2B5EF4-FFF2-40B4-BE49-F238E27FC236}">
                <a16:creationId xmlns:a16="http://schemas.microsoft.com/office/drawing/2014/main" id="{C7EA4AC1-39A0-BE12-E3FD-198C0F9A0952}"/>
              </a:ext>
            </a:extLst>
          </p:cNvPr>
          <p:cNvSpPr/>
          <p:nvPr/>
        </p:nvSpPr>
        <p:spPr>
          <a:xfrm>
            <a:off x="6337700" y="4850891"/>
            <a:ext cx="1384582" cy="216000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1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1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+mn-ea"/>
                <a:cs typeface="+mn-cs"/>
              </a:rPr>
              <a:t>Testing</a:t>
            </a:r>
          </a:p>
        </p:txBody>
      </p:sp>
      <p:sp>
        <p:nvSpPr>
          <p:cNvPr id="32" name="Rectángulo: esquinas redondeadas 33">
            <a:extLst>
              <a:ext uri="{FF2B5EF4-FFF2-40B4-BE49-F238E27FC236}">
                <a16:creationId xmlns:a16="http://schemas.microsoft.com/office/drawing/2014/main" id="{6D5D28A7-7C1C-A64A-EF98-4A6CAB39F7A4}"/>
              </a:ext>
            </a:extLst>
          </p:cNvPr>
          <p:cNvSpPr/>
          <p:nvPr/>
        </p:nvSpPr>
        <p:spPr>
          <a:xfrm>
            <a:off x="7479624" y="5131048"/>
            <a:ext cx="521467" cy="216000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1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1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+mn-ea"/>
                <a:cs typeface="+mn-cs"/>
              </a:rPr>
              <a:t>BCT</a:t>
            </a:r>
          </a:p>
        </p:txBody>
      </p:sp>
      <p:sp>
        <p:nvSpPr>
          <p:cNvPr id="35" name="Rectángulo: esquinas redondeadas 33">
            <a:extLst>
              <a:ext uri="{FF2B5EF4-FFF2-40B4-BE49-F238E27FC236}">
                <a16:creationId xmlns:a16="http://schemas.microsoft.com/office/drawing/2014/main" id="{621A5FD7-6A5B-6B28-9F9B-3D69D37C9D5F}"/>
              </a:ext>
            </a:extLst>
          </p:cNvPr>
          <p:cNvSpPr/>
          <p:nvPr/>
        </p:nvSpPr>
        <p:spPr>
          <a:xfrm>
            <a:off x="8595719" y="5423323"/>
            <a:ext cx="281577" cy="216000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1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1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38" name="Rombo 74">
            <a:extLst>
              <a:ext uri="{FF2B5EF4-FFF2-40B4-BE49-F238E27FC236}">
                <a16:creationId xmlns:a16="http://schemas.microsoft.com/office/drawing/2014/main" id="{45EEEF3E-D298-6D56-D2C3-78A25E343B62}"/>
              </a:ext>
            </a:extLst>
          </p:cNvPr>
          <p:cNvSpPr/>
          <p:nvPr/>
        </p:nvSpPr>
        <p:spPr>
          <a:xfrm>
            <a:off x="8832515" y="5461181"/>
            <a:ext cx="72419" cy="102060"/>
          </a:xfrm>
          <a:prstGeom prst="diamond">
            <a:avLst/>
          </a:prstGeom>
          <a:solidFill>
            <a:srgbClr val="2BF530"/>
          </a:solidFill>
          <a:ln w="12700" cap="flat">
            <a:solidFill>
              <a:srgbClr val="00B050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39" name="Rombo 74">
            <a:extLst>
              <a:ext uri="{FF2B5EF4-FFF2-40B4-BE49-F238E27FC236}">
                <a16:creationId xmlns:a16="http://schemas.microsoft.com/office/drawing/2014/main" id="{A744EFE4-677E-F518-5632-5C136156D21B}"/>
              </a:ext>
            </a:extLst>
          </p:cNvPr>
          <p:cNvSpPr/>
          <p:nvPr/>
        </p:nvSpPr>
        <p:spPr>
          <a:xfrm>
            <a:off x="8476610" y="5472986"/>
            <a:ext cx="72419" cy="102060"/>
          </a:xfrm>
          <a:prstGeom prst="diamond">
            <a:avLst/>
          </a:prstGeom>
          <a:solidFill>
            <a:srgbClr val="2BF530"/>
          </a:solidFill>
          <a:ln w="12700" cap="flat">
            <a:solidFill>
              <a:srgbClr val="00B050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1" name="CuadroTexto 75">
            <a:extLst>
              <a:ext uri="{FF2B5EF4-FFF2-40B4-BE49-F238E27FC236}">
                <a16:creationId xmlns:a16="http://schemas.microsoft.com/office/drawing/2014/main" id="{E388145A-B92D-01B8-A75A-9BD5E56DA787}"/>
              </a:ext>
            </a:extLst>
          </p:cNvPr>
          <p:cNvSpPr txBox="1"/>
          <p:nvPr/>
        </p:nvSpPr>
        <p:spPr>
          <a:xfrm>
            <a:off x="8361497" y="5630476"/>
            <a:ext cx="413168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Light"/>
              </a:rPr>
              <a:t>Oct 23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Light"/>
              </a:rPr>
              <a:t>rd</a:t>
            </a:r>
          </a:p>
        </p:txBody>
      </p:sp>
      <p:grpSp>
        <p:nvGrpSpPr>
          <p:cNvPr id="42" name="Grupo 3">
            <a:extLst>
              <a:ext uri="{FF2B5EF4-FFF2-40B4-BE49-F238E27FC236}">
                <a16:creationId xmlns:a16="http://schemas.microsoft.com/office/drawing/2014/main" id="{B27F1C0D-BC7B-A076-957B-2C8CCD8C0E07}"/>
              </a:ext>
            </a:extLst>
          </p:cNvPr>
          <p:cNvGrpSpPr/>
          <p:nvPr/>
        </p:nvGrpSpPr>
        <p:grpSpPr>
          <a:xfrm>
            <a:off x="8736507" y="1955591"/>
            <a:ext cx="661191" cy="475142"/>
            <a:chOff x="8311633" y="2399398"/>
            <a:chExt cx="661191" cy="475142"/>
          </a:xfrm>
        </p:grpSpPr>
        <p:sp>
          <p:nvSpPr>
            <p:cNvPr id="43" name="CuadroTexto 75">
              <a:extLst>
                <a:ext uri="{FF2B5EF4-FFF2-40B4-BE49-F238E27FC236}">
                  <a16:creationId xmlns:a16="http://schemas.microsoft.com/office/drawing/2014/main" id="{9359727E-B822-0B96-E14D-7D665E80C04E}"/>
                </a:ext>
              </a:extLst>
            </p:cNvPr>
            <p:cNvSpPr txBox="1"/>
            <p:nvPr/>
          </p:nvSpPr>
          <p:spPr>
            <a:xfrm>
              <a:off x="8311633" y="2399398"/>
              <a:ext cx="588303" cy="32316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38100" tIns="38100" rIns="38100" bIns="38100" numCol="1" spcCol="38100" rtlCol="0" anchor="ctr">
              <a:spAutoFit/>
            </a:bodyPr>
            <a:lstStyle/>
            <a:p>
              <a:pPr marL="0" marR="0" lvl="0" indent="0" algn="l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ronos Pro"/>
                  <a:ea typeface="Calibri" charset="0"/>
                  <a:cs typeface="Calibri" charset="0"/>
                  <a:sym typeface="Helvetica Light"/>
                </a:rPr>
                <a:t>Commercial</a:t>
              </a:r>
            </a:p>
            <a:p>
              <a:pPr marL="0" marR="0" lvl="0" indent="0" algn="l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ronos Pro"/>
                  <a:ea typeface="Calibri" charset="0"/>
                  <a:cs typeface="Calibri" charset="0"/>
                  <a:sym typeface="Helvetica Light"/>
                </a:rPr>
                <a:t> Launch</a:t>
              </a:r>
            </a:p>
          </p:txBody>
        </p:sp>
        <p:sp>
          <p:nvSpPr>
            <p:cNvPr id="44" name="CuadroTexto 75">
              <a:extLst>
                <a:ext uri="{FF2B5EF4-FFF2-40B4-BE49-F238E27FC236}">
                  <a16:creationId xmlns:a16="http://schemas.microsoft.com/office/drawing/2014/main" id="{DCFB8C39-896F-863E-BBAF-81E0E6EE9507}"/>
                </a:ext>
              </a:extLst>
            </p:cNvPr>
            <p:cNvSpPr txBox="1"/>
            <p:nvPr/>
          </p:nvSpPr>
          <p:spPr>
            <a:xfrm>
              <a:off x="8494008" y="2674485"/>
              <a:ext cx="478816" cy="20005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8100" tIns="38100" rIns="38100" bIns="38100" numCol="1" spcCol="38100" rtlCol="0" anchor="ctr">
              <a:spAutoFit/>
            </a:bodyPr>
            <a:lstStyle/>
            <a:p>
              <a:pPr marL="0" marR="0" lvl="0" indent="0" algn="l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Helvetica Light"/>
                </a:rPr>
                <a:t>Nov</a:t>
              </a:r>
              <a:endParaRPr kumimoji="0" lang="en-US" sz="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Light"/>
              </a:endParaRPr>
            </a:p>
          </p:txBody>
        </p:sp>
      </p:grpSp>
      <p:sp>
        <p:nvSpPr>
          <p:cNvPr id="47" name="Rombo 74">
            <a:extLst>
              <a:ext uri="{FF2B5EF4-FFF2-40B4-BE49-F238E27FC236}">
                <a16:creationId xmlns:a16="http://schemas.microsoft.com/office/drawing/2014/main" id="{7393EEAD-048B-7168-0CD9-FAFF8759D291}"/>
              </a:ext>
            </a:extLst>
          </p:cNvPr>
          <p:cNvSpPr/>
          <p:nvPr/>
        </p:nvSpPr>
        <p:spPr>
          <a:xfrm>
            <a:off x="8813003" y="2269416"/>
            <a:ext cx="72419" cy="102060"/>
          </a:xfrm>
          <a:prstGeom prst="diamond">
            <a:avLst/>
          </a:prstGeom>
          <a:solidFill>
            <a:srgbClr val="2BF530"/>
          </a:solidFill>
          <a:ln w="12700" cap="flat">
            <a:solidFill>
              <a:srgbClr val="00B050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7" name="Rectángulo: esquinas redondeadas 33">
            <a:extLst>
              <a:ext uri="{FF2B5EF4-FFF2-40B4-BE49-F238E27FC236}">
                <a16:creationId xmlns:a16="http://schemas.microsoft.com/office/drawing/2014/main" id="{483ABAD8-9E5B-BC46-A668-01F15D30FDA7}"/>
              </a:ext>
            </a:extLst>
          </p:cNvPr>
          <p:cNvSpPr/>
          <p:nvPr/>
        </p:nvSpPr>
        <p:spPr>
          <a:xfrm>
            <a:off x="4646127" y="5918330"/>
            <a:ext cx="524014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+mn-ea"/>
                <a:cs typeface="+mn-cs"/>
              </a:rPr>
              <a:t>Plan</a:t>
            </a:r>
          </a:p>
        </p:txBody>
      </p:sp>
      <p:sp>
        <p:nvSpPr>
          <p:cNvPr id="132" name="Rectángulo: esquinas redondeadas 33">
            <a:extLst>
              <a:ext uri="{FF2B5EF4-FFF2-40B4-BE49-F238E27FC236}">
                <a16:creationId xmlns:a16="http://schemas.microsoft.com/office/drawing/2014/main" id="{981EDB4C-4028-A6C4-56A8-7068D6633928}"/>
              </a:ext>
            </a:extLst>
          </p:cNvPr>
          <p:cNvSpPr/>
          <p:nvPr/>
        </p:nvSpPr>
        <p:spPr>
          <a:xfrm>
            <a:off x="1277388" y="2604471"/>
            <a:ext cx="2815327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133" name="CuadroTexto 75">
            <a:extLst>
              <a:ext uri="{FF2B5EF4-FFF2-40B4-BE49-F238E27FC236}">
                <a16:creationId xmlns:a16="http://schemas.microsoft.com/office/drawing/2014/main" id="{D39206C5-E7B2-74BA-1F29-A9519BDE847C}"/>
              </a:ext>
            </a:extLst>
          </p:cNvPr>
          <p:cNvSpPr txBox="1"/>
          <p:nvPr/>
        </p:nvSpPr>
        <p:spPr>
          <a:xfrm>
            <a:off x="2129104" y="2581619"/>
            <a:ext cx="915756" cy="238527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G1 (26/26)</a:t>
            </a:r>
          </a:p>
        </p:txBody>
      </p:sp>
      <p:sp>
        <p:nvSpPr>
          <p:cNvPr id="136" name="Rectángulo: esquinas redondeadas 33">
            <a:extLst>
              <a:ext uri="{FF2B5EF4-FFF2-40B4-BE49-F238E27FC236}">
                <a16:creationId xmlns:a16="http://schemas.microsoft.com/office/drawing/2014/main" id="{ECE964FE-DED9-5544-8B1C-F51E88247AEF}"/>
              </a:ext>
            </a:extLst>
          </p:cNvPr>
          <p:cNvSpPr/>
          <p:nvPr/>
        </p:nvSpPr>
        <p:spPr>
          <a:xfrm>
            <a:off x="4505617" y="2611148"/>
            <a:ext cx="586660" cy="200055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1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1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150" name="Rectángulo: esquinas redondeadas 33">
            <a:extLst>
              <a:ext uri="{FF2B5EF4-FFF2-40B4-BE49-F238E27FC236}">
                <a16:creationId xmlns:a16="http://schemas.microsoft.com/office/drawing/2014/main" id="{0ECEB966-0592-7839-DBC6-23E852D7A025}"/>
              </a:ext>
            </a:extLst>
          </p:cNvPr>
          <p:cNvSpPr/>
          <p:nvPr/>
        </p:nvSpPr>
        <p:spPr>
          <a:xfrm>
            <a:off x="4118378" y="2607457"/>
            <a:ext cx="982146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G2 (12/12)</a:t>
            </a:r>
          </a:p>
        </p:txBody>
      </p:sp>
      <p:sp>
        <p:nvSpPr>
          <p:cNvPr id="153" name="CuadroTexto 75">
            <a:extLst>
              <a:ext uri="{FF2B5EF4-FFF2-40B4-BE49-F238E27FC236}">
                <a16:creationId xmlns:a16="http://schemas.microsoft.com/office/drawing/2014/main" id="{6B149E1C-9A24-CAB7-21E2-3A2C6F1C0B06}"/>
              </a:ext>
            </a:extLst>
          </p:cNvPr>
          <p:cNvSpPr txBox="1"/>
          <p:nvPr/>
        </p:nvSpPr>
        <p:spPr>
          <a:xfrm>
            <a:off x="6173895" y="3078802"/>
            <a:ext cx="554089" cy="32316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Event Mngt</a:t>
            </a:r>
          </a:p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(0/13)</a:t>
            </a:r>
          </a:p>
        </p:txBody>
      </p:sp>
      <p:sp>
        <p:nvSpPr>
          <p:cNvPr id="155" name="CuadroTexto 73">
            <a:extLst>
              <a:ext uri="{FF2B5EF4-FFF2-40B4-BE49-F238E27FC236}">
                <a16:creationId xmlns:a16="http://schemas.microsoft.com/office/drawing/2014/main" id="{4823E03E-7C2E-87DE-882E-D96006BA3C53}"/>
              </a:ext>
            </a:extLst>
          </p:cNvPr>
          <p:cNvSpPr txBox="1"/>
          <p:nvPr/>
        </p:nvSpPr>
        <p:spPr>
          <a:xfrm>
            <a:off x="7015985" y="2779252"/>
            <a:ext cx="445247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Aug 14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th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 </a:t>
            </a:r>
            <a:endParaRPr kumimoji="0" lang="en-US" sz="8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  <a:sym typeface="Helvetica Light"/>
            </a:endParaRPr>
          </a:p>
        </p:txBody>
      </p:sp>
      <p:sp>
        <p:nvSpPr>
          <p:cNvPr id="157" name="CuadroTexto 75">
            <a:extLst>
              <a:ext uri="{FF2B5EF4-FFF2-40B4-BE49-F238E27FC236}">
                <a16:creationId xmlns:a16="http://schemas.microsoft.com/office/drawing/2014/main" id="{4A20AEAF-4DCA-2CE0-C21B-521153E3F137}"/>
              </a:ext>
            </a:extLst>
          </p:cNvPr>
          <p:cNvSpPr txBox="1"/>
          <p:nvPr/>
        </p:nvSpPr>
        <p:spPr>
          <a:xfrm>
            <a:off x="6893546" y="2539299"/>
            <a:ext cx="552695" cy="32316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Mi Tienda (0/4)</a:t>
            </a:r>
          </a:p>
        </p:txBody>
      </p:sp>
      <p:sp>
        <p:nvSpPr>
          <p:cNvPr id="159" name="Rombo 74">
            <a:extLst>
              <a:ext uri="{FF2B5EF4-FFF2-40B4-BE49-F238E27FC236}">
                <a16:creationId xmlns:a16="http://schemas.microsoft.com/office/drawing/2014/main" id="{0C92FB51-9F25-A159-C66E-8A21DE1089B5}"/>
              </a:ext>
            </a:extLst>
          </p:cNvPr>
          <p:cNvSpPr/>
          <p:nvPr/>
        </p:nvSpPr>
        <p:spPr>
          <a:xfrm>
            <a:off x="7123652" y="2977244"/>
            <a:ext cx="72419" cy="102060"/>
          </a:xfrm>
          <a:prstGeom prst="diamond">
            <a:avLst/>
          </a:prstGeom>
          <a:solidFill>
            <a:schemeClr val="accent2"/>
          </a:solidFill>
          <a:ln w="12700" cap="flat">
            <a:solidFill>
              <a:schemeClr val="accent1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71" name="CuadroTexto 75">
            <a:extLst>
              <a:ext uri="{FF2B5EF4-FFF2-40B4-BE49-F238E27FC236}">
                <a16:creationId xmlns:a16="http://schemas.microsoft.com/office/drawing/2014/main" id="{87E45A04-7F27-6D49-2BB7-8DFDF2FC1D96}"/>
              </a:ext>
            </a:extLst>
          </p:cNvPr>
          <p:cNvSpPr txBox="1"/>
          <p:nvPr/>
        </p:nvSpPr>
        <p:spPr>
          <a:xfrm>
            <a:off x="6697569" y="3081043"/>
            <a:ext cx="472325" cy="32316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Co Living</a:t>
            </a:r>
          </a:p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(0/22)</a:t>
            </a:r>
          </a:p>
        </p:txBody>
      </p:sp>
      <p:sp>
        <p:nvSpPr>
          <p:cNvPr id="172" name="Rombo 74">
            <a:extLst>
              <a:ext uri="{FF2B5EF4-FFF2-40B4-BE49-F238E27FC236}">
                <a16:creationId xmlns:a16="http://schemas.microsoft.com/office/drawing/2014/main" id="{9F89E6A6-BA75-0318-3474-16C0F87CD523}"/>
              </a:ext>
            </a:extLst>
          </p:cNvPr>
          <p:cNvSpPr/>
          <p:nvPr/>
        </p:nvSpPr>
        <p:spPr>
          <a:xfrm>
            <a:off x="6871350" y="2977244"/>
            <a:ext cx="72419" cy="102060"/>
          </a:xfrm>
          <a:prstGeom prst="diamond">
            <a:avLst/>
          </a:prstGeom>
          <a:solidFill>
            <a:schemeClr val="accent2"/>
          </a:solidFill>
          <a:ln w="12700" cap="flat">
            <a:solidFill>
              <a:schemeClr val="accent1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80" name="CuadroTexto 73">
            <a:extLst>
              <a:ext uri="{FF2B5EF4-FFF2-40B4-BE49-F238E27FC236}">
                <a16:creationId xmlns:a16="http://schemas.microsoft.com/office/drawing/2014/main" id="{36882E0A-D3C7-BDFD-5821-836A4851681B}"/>
              </a:ext>
            </a:extLst>
          </p:cNvPr>
          <p:cNvSpPr txBox="1"/>
          <p:nvPr/>
        </p:nvSpPr>
        <p:spPr>
          <a:xfrm>
            <a:off x="6641782" y="2785164"/>
            <a:ext cx="400821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Jul 31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st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 </a:t>
            </a:r>
            <a:endParaRPr kumimoji="0" lang="en-US" sz="8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  <a:sym typeface="Helvetica Light"/>
            </a:endParaRPr>
          </a:p>
        </p:txBody>
      </p:sp>
      <p:sp>
        <p:nvSpPr>
          <p:cNvPr id="181" name="CuadroTexto 73">
            <a:extLst>
              <a:ext uri="{FF2B5EF4-FFF2-40B4-BE49-F238E27FC236}">
                <a16:creationId xmlns:a16="http://schemas.microsoft.com/office/drawing/2014/main" id="{84E4B211-CBC2-C618-3EF2-0A049DCB0B43}"/>
              </a:ext>
            </a:extLst>
          </p:cNvPr>
          <p:cNvSpPr txBox="1"/>
          <p:nvPr/>
        </p:nvSpPr>
        <p:spPr>
          <a:xfrm>
            <a:off x="7455995" y="2785438"/>
            <a:ext cx="425602" cy="204150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Aug 30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th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  </a:t>
            </a:r>
            <a:endParaRPr kumimoji="0" lang="en-US" sz="8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  <a:sym typeface="Helvetica Light"/>
            </a:endParaRPr>
          </a:p>
        </p:txBody>
      </p:sp>
      <p:sp>
        <p:nvSpPr>
          <p:cNvPr id="182" name="Rombo 74">
            <a:extLst>
              <a:ext uri="{FF2B5EF4-FFF2-40B4-BE49-F238E27FC236}">
                <a16:creationId xmlns:a16="http://schemas.microsoft.com/office/drawing/2014/main" id="{3C9B3C98-3D5F-AD79-C160-D85CF9859782}"/>
              </a:ext>
            </a:extLst>
          </p:cNvPr>
          <p:cNvSpPr/>
          <p:nvPr/>
        </p:nvSpPr>
        <p:spPr>
          <a:xfrm>
            <a:off x="7438073" y="2977182"/>
            <a:ext cx="72419" cy="102060"/>
          </a:xfrm>
          <a:prstGeom prst="diamond">
            <a:avLst/>
          </a:prstGeom>
          <a:solidFill>
            <a:schemeClr val="accent2"/>
          </a:solidFill>
          <a:ln w="12700" cap="flat">
            <a:solidFill>
              <a:schemeClr val="accent1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83" name="CuadroTexto 75">
            <a:extLst>
              <a:ext uri="{FF2B5EF4-FFF2-40B4-BE49-F238E27FC236}">
                <a16:creationId xmlns:a16="http://schemas.microsoft.com/office/drawing/2014/main" id="{2D69F136-311A-2A5D-CB55-FD76478860DA}"/>
              </a:ext>
            </a:extLst>
          </p:cNvPr>
          <p:cNvSpPr txBox="1"/>
          <p:nvPr/>
        </p:nvSpPr>
        <p:spPr>
          <a:xfrm>
            <a:off x="7211088" y="3087383"/>
            <a:ext cx="543117" cy="32316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3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rd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 Parties</a:t>
            </a:r>
          </a:p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(2/14)</a:t>
            </a:r>
          </a:p>
        </p:txBody>
      </p:sp>
      <p:sp>
        <p:nvSpPr>
          <p:cNvPr id="2055" name="CuadroTexto 75">
            <a:extLst>
              <a:ext uri="{FF2B5EF4-FFF2-40B4-BE49-F238E27FC236}">
                <a16:creationId xmlns:a16="http://schemas.microsoft.com/office/drawing/2014/main" id="{AFD6C6FA-1031-196B-8756-748D5F969543}"/>
              </a:ext>
            </a:extLst>
          </p:cNvPr>
          <p:cNvSpPr txBox="1"/>
          <p:nvPr/>
        </p:nvSpPr>
        <p:spPr>
          <a:xfrm>
            <a:off x="8569013" y="5240258"/>
            <a:ext cx="335921" cy="216000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Pilot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A40242C5-9668-83B5-E72C-F1056A4D2ED4}"/>
              </a:ext>
            </a:extLst>
          </p:cNvPr>
          <p:cNvGrpSpPr/>
          <p:nvPr/>
        </p:nvGrpSpPr>
        <p:grpSpPr>
          <a:xfrm>
            <a:off x="4057396" y="1633583"/>
            <a:ext cx="848554" cy="216000"/>
            <a:chOff x="3803473" y="2359912"/>
            <a:chExt cx="836735" cy="230832"/>
          </a:xfrm>
        </p:grpSpPr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F9322479-DB25-DAD8-8193-7D8B38E337D3}"/>
                </a:ext>
              </a:extLst>
            </p:cNvPr>
            <p:cNvGrpSpPr/>
            <p:nvPr/>
          </p:nvGrpSpPr>
          <p:grpSpPr>
            <a:xfrm>
              <a:off x="3803473" y="2367959"/>
              <a:ext cx="836735" cy="218530"/>
              <a:chOff x="3803473" y="2367959"/>
              <a:chExt cx="836735" cy="218530"/>
            </a:xfrm>
          </p:grpSpPr>
          <p:sp>
            <p:nvSpPr>
              <p:cNvPr id="23" name="Rectángulo: esquinas redondeadas 33">
                <a:extLst>
                  <a:ext uri="{FF2B5EF4-FFF2-40B4-BE49-F238E27FC236}">
                    <a16:creationId xmlns:a16="http://schemas.microsoft.com/office/drawing/2014/main" id="{53F76CBD-F99A-0A64-0C59-201A4687282E}"/>
                  </a:ext>
                </a:extLst>
              </p:cNvPr>
              <p:cNvSpPr/>
              <p:nvPr/>
            </p:nvSpPr>
            <p:spPr>
              <a:xfrm>
                <a:off x="4223166" y="2369355"/>
                <a:ext cx="373430" cy="217134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tx1">
                      <a:lumMod val="10000"/>
                      <a:lumOff val="90000"/>
                      <a:shade val="30000"/>
                      <a:satMod val="115000"/>
                    </a:schemeClr>
                  </a:gs>
                  <a:gs pos="50000">
                    <a:schemeClr val="tx1">
                      <a:lumMod val="10000"/>
                      <a:lumOff val="90000"/>
                      <a:shade val="67500"/>
                      <a:satMod val="115000"/>
                    </a:schemeClr>
                  </a:gs>
                  <a:gs pos="100000">
                    <a:schemeClr val="tx1">
                      <a:lumMod val="10000"/>
                      <a:lumOff val="90000"/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ronos Pro"/>
                  <a:ea typeface="+mn-ea"/>
                  <a:cs typeface="+mn-cs"/>
                </a:endParaRPr>
              </a:p>
            </p:txBody>
          </p:sp>
          <p:sp>
            <p:nvSpPr>
              <p:cNvPr id="21" name="Rectángulo: esquinas redondeadas 33">
                <a:extLst>
                  <a:ext uri="{FF2B5EF4-FFF2-40B4-BE49-F238E27FC236}">
                    <a16:creationId xmlns:a16="http://schemas.microsoft.com/office/drawing/2014/main" id="{EE599CB4-DFBC-713A-9657-18AC6DEB8864}"/>
                  </a:ext>
                </a:extLst>
              </p:cNvPr>
              <p:cNvSpPr/>
              <p:nvPr/>
            </p:nvSpPr>
            <p:spPr>
              <a:xfrm>
                <a:off x="3803473" y="2367959"/>
                <a:ext cx="836735" cy="21600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6">
                      <a:lumMod val="60000"/>
                      <a:lumOff val="40000"/>
                      <a:tint val="66000"/>
                      <a:satMod val="160000"/>
                    </a:schemeClr>
                  </a:gs>
                  <a:gs pos="50000">
                    <a:schemeClr val="accent6">
                      <a:lumMod val="60000"/>
                      <a:lumOff val="40000"/>
                      <a:tint val="44500"/>
                      <a:satMod val="160000"/>
                    </a:schemeClr>
                  </a:gs>
                  <a:gs pos="100000">
                    <a:schemeClr val="accent6">
                      <a:lumMod val="60000"/>
                      <a:lumOff val="40000"/>
                      <a:tint val="23500"/>
                      <a:satMod val="160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ronos Pro"/>
                  <a:ea typeface="+mn-ea"/>
                  <a:cs typeface="+mn-cs"/>
                </a:endParaRPr>
              </a:p>
            </p:txBody>
          </p:sp>
        </p:grpSp>
        <p:sp>
          <p:nvSpPr>
            <p:cNvPr id="22" name="CuadroTexto 75">
              <a:extLst>
                <a:ext uri="{FF2B5EF4-FFF2-40B4-BE49-F238E27FC236}">
                  <a16:creationId xmlns:a16="http://schemas.microsoft.com/office/drawing/2014/main" id="{58DF0211-7032-C1CE-5378-3A8FE55E06D7}"/>
                </a:ext>
              </a:extLst>
            </p:cNvPr>
            <p:cNvSpPr txBox="1"/>
            <p:nvPr/>
          </p:nvSpPr>
          <p:spPr>
            <a:xfrm>
              <a:off x="4062055" y="2359912"/>
              <a:ext cx="446355" cy="230832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8100" tIns="38100" rIns="38100" bIns="38100" numCol="1" spcCol="3810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ronos Pro"/>
                  <a:ea typeface="+mn-ea"/>
                  <a:cs typeface="+mn-cs"/>
                </a:rPr>
                <a:t>CV2</a:t>
              </a:r>
            </a:p>
          </p:txBody>
        </p:sp>
      </p:grpSp>
      <p:sp>
        <p:nvSpPr>
          <p:cNvPr id="184" name="CuadroTexto 75">
            <a:extLst>
              <a:ext uri="{FF2B5EF4-FFF2-40B4-BE49-F238E27FC236}">
                <a16:creationId xmlns:a16="http://schemas.microsoft.com/office/drawing/2014/main" id="{49797428-1891-AB35-66F6-40D4E1D2B8D3}"/>
              </a:ext>
            </a:extLst>
          </p:cNvPr>
          <p:cNvSpPr txBox="1"/>
          <p:nvPr/>
        </p:nvSpPr>
        <p:spPr>
          <a:xfrm>
            <a:off x="3938389" y="1951785"/>
            <a:ext cx="868677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CR Provisioning</a:t>
            </a:r>
          </a:p>
        </p:txBody>
      </p:sp>
      <p:sp>
        <p:nvSpPr>
          <p:cNvPr id="36" name="Rectángulo: esquinas redondeadas 33">
            <a:extLst>
              <a:ext uri="{FF2B5EF4-FFF2-40B4-BE49-F238E27FC236}">
                <a16:creationId xmlns:a16="http://schemas.microsoft.com/office/drawing/2014/main" id="{934A01E6-2A7E-3D76-0AF7-9C26E307C45D}"/>
              </a:ext>
            </a:extLst>
          </p:cNvPr>
          <p:cNvSpPr/>
          <p:nvPr/>
        </p:nvSpPr>
        <p:spPr>
          <a:xfrm>
            <a:off x="5032612" y="1643549"/>
            <a:ext cx="378130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50" name="CuadroTexto 75">
            <a:extLst>
              <a:ext uri="{FF2B5EF4-FFF2-40B4-BE49-F238E27FC236}">
                <a16:creationId xmlns:a16="http://schemas.microsoft.com/office/drawing/2014/main" id="{9C70B094-E68B-BDA9-199C-D90CCB2FF23B}"/>
              </a:ext>
            </a:extLst>
          </p:cNvPr>
          <p:cNvSpPr txBox="1"/>
          <p:nvPr/>
        </p:nvSpPr>
        <p:spPr>
          <a:xfrm>
            <a:off x="5044516" y="1621522"/>
            <a:ext cx="328933" cy="230832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CV3</a:t>
            </a:r>
          </a:p>
        </p:txBody>
      </p:sp>
      <p:sp>
        <p:nvSpPr>
          <p:cNvPr id="130" name="Rectángulo: esquinas redondeadas 33">
            <a:extLst>
              <a:ext uri="{FF2B5EF4-FFF2-40B4-BE49-F238E27FC236}">
                <a16:creationId xmlns:a16="http://schemas.microsoft.com/office/drawing/2014/main" id="{034686BA-EE4F-DA9B-8322-C0E628CE0063}"/>
              </a:ext>
            </a:extLst>
          </p:cNvPr>
          <p:cNvSpPr/>
          <p:nvPr/>
        </p:nvSpPr>
        <p:spPr>
          <a:xfrm>
            <a:off x="4900738" y="1963475"/>
            <a:ext cx="1436962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54" name="Rectángulo: esquinas redondeadas 33">
            <a:extLst>
              <a:ext uri="{FF2B5EF4-FFF2-40B4-BE49-F238E27FC236}">
                <a16:creationId xmlns:a16="http://schemas.microsoft.com/office/drawing/2014/main" id="{E22B14B8-499C-4DAC-5019-B35A54F50A9E}"/>
              </a:ext>
            </a:extLst>
          </p:cNvPr>
          <p:cNvSpPr/>
          <p:nvPr/>
        </p:nvSpPr>
        <p:spPr>
          <a:xfrm>
            <a:off x="4850579" y="3471541"/>
            <a:ext cx="295553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30" name="CuadroTexto 75">
            <a:extLst>
              <a:ext uri="{FF2B5EF4-FFF2-40B4-BE49-F238E27FC236}">
                <a16:creationId xmlns:a16="http://schemas.microsoft.com/office/drawing/2014/main" id="{914F9863-613D-F2A8-32AC-2A91FB61405B}"/>
              </a:ext>
            </a:extLst>
          </p:cNvPr>
          <p:cNvSpPr txBox="1"/>
          <p:nvPr/>
        </p:nvSpPr>
        <p:spPr>
          <a:xfrm>
            <a:off x="3023403" y="3475928"/>
            <a:ext cx="2006960" cy="215444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Training Offers Configuration/operation </a:t>
            </a:r>
          </a:p>
        </p:txBody>
      </p:sp>
      <p:cxnSp>
        <p:nvCxnSpPr>
          <p:cNvPr id="2069" name="Conector recto 2068">
            <a:extLst>
              <a:ext uri="{FF2B5EF4-FFF2-40B4-BE49-F238E27FC236}">
                <a16:creationId xmlns:a16="http://schemas.microsoft.com/office/drawing/2014/main" id="{0AB4F8EB-E762-C5EA-7C9A-CFB8C7BDC1D0}"/>
              </a:ext>
            </a:extLst>
          </p:cNvPr>
          <p:cNvCxnSpPr>
            <a:cxnSpLocks/>
          </p:cNvCxnSpPr>
          <p:nvPr/>
        </p:nvCxnSpPr>
        <p:spPr>
          <a:xfrm flipV="1">
            <a:off x="5581816" y="2459580"/>
            <a:ext cx="2198511" cy="790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2" name="Conector recto 2071">
            <a:extLst>
              <a:ext uri="{FF2B5EF4-FFF2-40B4-BE49-F238E27FC236}">
                <a16:creationId xmlns:a16="http://schemas.microsoft.com/office/drawing/2014/main" id="{442ED485-130B-0A18-0E3A-70700059A051}"/>
              </a:ext>
            </a:extLst>
          </p:cNvPr>
          <p:cNvCxnSpPr>
            <a:cxnSpLocks/>
          </p:cNvCxnSpPr>
          <p:nvPr/>
        </p:nvCxnSpPr>
        <p:spPr>
          <a:xfrm>
            <a:off x="5141557" y="2839896"/>
            <a:ext cx="113551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Conector recto 2076">
            <a:extLst>
              <a:ext uri="{FF2B5EF4-FFF2-40B4-BE49-F238E27FC236}">
                <a16:creationId xmlns:a16="http://schemas.microsoft.com/office/drawing/2014/main" id="{65DDA3D7-2CF2-38D7-99BC-F1B140D615D9}"/>
              </a:ext>
            </a:extLst>
          </p:cNvPr>
          <p:cNvCxnSpPr>
            <a:cxnSpLocks/>
          </p:cNvCxnSpPr>
          <p:nvPr/>
        </p:nvCxnSpPr>
        <p:spPr>
          <a:xfrm flipV="1">
            <a:off x="4667887" y="4796560"/>
            <a:ext cx="2181780" cy="35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2" name="Conector recto 2081">
            <a:extLst>
              <a:ext uri="{FF2B5EF4-FFF2-40B4-BE49-F238E27FC236}">
                <a16:creationId xmlns:a16="http://schemas.microsoft.com/office/drawing/2014/main" id="{20DA4DA3-E065-AD7F-1327-28103014795D}"/>
              </a:ext>
            </a:extLst>
          </p:cNvPr>
          <p:cNvCxnSpPr>
            <a:cxnSpLocks/>
          </p:cNvCxnSpPr>
          <p:nvPr/>
        </p:nvCxnSpPr>
        <p:spPr>
          <a:xfrm>
            <a:off x="6353123" y="5083825"/>
            <a:ext cx="136178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7" name="Conector recto 2086">
            <a:extLst>
              <a:ext uri="{FF2B5EF4-FFF2-40B4-BE49-F238E27FC236}">
                <a16:creationId xmlns:a16="http://schemas.microsoft.com/office/drawing/2014/main" id="{0D91BBC1-A99C-7817-8D03-EAF59299FF08}"/>
              </a:ext>
            </a:extLst>
          </p:cNvPr>
          <p:cNvCxnSpPr>
            <a:cxnSpLocks/>
          </p:cNvCxnSpPr>
          <p:nvPr/>
        </p:nvCxnSpPr>
        <p:spPr>
          <a:xfrm>
            <a:off x="7479624" y="5347048"/>
            <a:ext cx="52146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2" descr="Archivo:Cute-Ball-Go-icon.png - Wikipedia, la enciclopedia libre">
            <a:extLst>
              <a:ext uri="{FF2B5EF4-FFF2-40B4-BE49-F238E27FC236}">
                <a16:creationId xmlns:a16="http://schemas.microsoft.com/office/drawing/2014/main" id="{A5577606-4D77-FA03-5C77-3E6CA8B23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600" y="1986231"/>
            <a:ext cx="142494" cy="13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Rectángulo: esquinas redondeadas 33">
            <a:extLst>
              <a:ext uri="{FF2B5EF4-FFF2-40B4-BE49-F238E27FC236}">
                <a16:creationId xmlns:a16="http://schemas.microsoft.com/office/drawing/2014/main" id="{947927DA-FA2B-2502-7FE4-BC438B2E26AC}"/>
              </a:ext>
            </a:extLst>
          </p:cNvPr>
          <p:cNvSpPr/>
          <p:nvPr/>
        </p:nvSpPr>
        <p:spPr>
          <a:xfrm>
            <a:off x="5516464" y="1639032"/>
            <a:ext cx="460265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170" name="CuadroTexto 75">
            <a:extLst>
              <a:ext uri="{FF2B5EF4-FFF2-40B4-BE49-F238E27FC236}">
                <a16:creationId xmlns:a16="http://schemas.microsoft.com/office/drawing/2014/main" id="{19EDEFC3-9D16-E649-C9AE-13C82A4CEFDF}"/>
              </a:ext>
            </a:extLst>
          </p:cNvPr>
          <p:cNvSpPr txBox="1"/>
          <p:nvPr/>
        </p:nvSpPr>
        <p:spPr>
          <a:xfrm>
            <a:off x="5161889" y="1962588"/>
            <a:ext cx="907301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+mn-ea"/>
                <a:cs typeface="+mn-cs"/>
              </a:rPr>
              <a:t>IOT (72/72 = 100%)</a:t>
            </a:r>
          </a:p>
        </p:txBody>
      </p:sp>
      <p:sp>
        <p:nvSpPr>
          <p:cNvPr id="2073" name="Rectángulo: esquinas redondeadas 33">
            <a:extLst>
              <a:ext uri="{FF2B5EF4-FFF2-40B4-BE49-F238E27FC236}">
                <a16:creationId xmlns:a16="http://schemas.microsoft.com/office/drawing/2014/main" id="{4723F476-532A-BF2D-6337-F606DC307268}"/>
              </a:ext>
            </a:extLst>
          </p:cNvPr>
          <p:cNvSpPr/>
          <p:nvPr/>
        </p:nvSpPr>
        <p:spPr>
          <a:xfrm>
            <a:off x="5211566" y="3874276"/>
            <a:ext cx="578508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+mn-ea"/>
                <a:cs typeface="+mn-cs"/>
              </a:rPr>
              <a:t>0/0</a:t>
            </a:r>
          </a:p>
        </p:txBody>
      </p:sp>
      <p:sp>
        <p:nvSpPr>
          <p:cNvPr id="2084" name="Rectángulo: esquinas redondeadas 33">
            <a:extLst>
              <a:ext uri="{FF2B5EF4-FFF2-40B4-BE49-F238E27FC236}">
                <a16:creationId xmlns:a16="http://schemas.microsoft.com/office/drawing/2014/main" id="{87D9166A-5D79-73B7-16A0-7BAF31316262}"/>
              </a:ext>
            </a:extLst>
          </p:cNvPr>
          <p:cNvSpPr/>
          <p:nvPr/>
        </p:nvSpPr>
        <p:spPr>
          <a:xfrm>
            <a:off x="1909522" y="4267085"/>
            <a:ext cx="4039313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2086" name="CuadroTexto 75">
            <a:extLst>
              <a:ext uri="{FF2B5EF4-FFF2-40B4-BE49-F238E27FC236}">
                <a16:creationId xmlns:a16="http://schemas.microsoft.com/office/drawing/2014/main" id="{14D3AC14-D911-44D2-DADB-E210941D1258}"/>
              </a:ext>
            </a:extLst>
          </p:cNvPr>
          <p:cNvSpPr txBox="1"/>
          <p:nvPr/>
        </p:nvSpPr>
        <p:spPr>
          <a:xfrm>
            <a:off x="2699246" y="4254815"/>
            <a:ext cx="1668498" cy="230832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+mn-ea"/>
                <a:cs typeface="+mn-cs"/>
              </a:rPr>
              <a:t>Migration Strategy 100%</a:t>
            </a:r>
          </a:p>
        </p:txBody>
      </p:sp>
      <p:sp>
        <p:nvSpPr>
          <p:cNvPr id="2092" name="CuadroTexto 73">
            <a:extLst>
              <a:ext uri="{FF2B5EF4-FFF2-40B4-BE49-F238E27FC236}">
                <a16:creationId xmlns:a16="http://schemas.microsoft.com/office/drawing/2014/main" id="{C8285D82-37DA-3DA1-2F8C-958FC60600C2}"/>
              </a:ext>
            </a:extLst>
          </p:cNvPr>
          <p:cNvSpPr txBox="1"/>
          <p:nvPr/>
        </p:nvSpPr>
        <p:spPr>
          <a:xfrm>
            <a:off x="6913517" y="4579389"/>
            <a:ext cx="385173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Jul 31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st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 </a:t>
            </a:r>
            <a:endParaRPr kumimoji="0" lang="en-US" sz="8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  <a:sym typeface="Helvetica Light"/>
            </a:endParaRPr>
          </a:p>
        </p:txBody>
      </p:sp>
      <p:sp>
        <p:nvSpPr>
          <p:cNvPr id="2094" name="Rombo 74">
            <a:extLst>
              <a:ext uri="{FF2B5EF4-FFF2-40B4-BE49-F238E27FC236}">
                <a16:creationId xmlns:a16="http://schemas.microsoft.com/office/drawing/2014/main" id="{557BE098-E12E-8D0C-B601-BD89BECA51C1}"/>
              </a:ext>
            </a:extLst>
          </p:cNvPr>
          <p:cNvSpPr/>
          <p:nvPr/>
        </p:nvSpPr>
        <p:spPr>
          <a:xfrm>
            <a:off x="6815082" y="4624184"/>
            <a:ext cx="72419" cy="102060"/>
          </a:xfrm>
          <a:prstGeom prst="diamond">
            <a:avLst/>
          </a:prstGeom>
          <a:solidFill>
            <a:schemeClr val="accent2"/>
          </a:solidFill>
          <a:ln w="12700" cap="flat">
            <a:solidFill>
              <a:schemeClr val="accent1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096" name="CuadroTexto 73">
            <a:extLst>
              <a:ext uri="{FF2B5EF4-FFF2-40B4-BE49-F238E27FC236}">
                <a16:creationId xmlns:a16="http://schemas.microsoft.com/office/drawing/2014/main" id="{3882A0AF-2714-AD32-AAE7-694694E76E64}"/>
              </a:ext>
            </a:extLst>
          </p:cNvPr>
          <p:cNvSpPr txBox="1"/>
          <p:nvPr/>
        </p:nvSpPr>
        <p:spPr>
          <a:xfrm>
            <a:off x="7790151" y="4838745"/>
            <a:ext cx="421879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Sep 15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th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 </a:t>
            </a:r>
            <a:endParaRPr kumimoji="0" lang="en-US" sz="8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  <a:sym typeface="Helvetica Light"/>
            </a:endParaRPr>
          </a:p>
        </p:txBody>
      </p:sp>
      <p:sp>
        <p:nvSpPr>
          <p:cNvPr id="2097" name="Rombo 74">
            <a:extLst>
              <a:ext uri="{FF2B5EF4-FFF2-40B4-BE49-F238E27FC236}">
                <a16:creationId xmlns:a16="http://schemas.microsoft.com/office/drawing/2014/main" id="{70832568-3892-52C4-B4C7-6252B8547BA1}"/>
              </a:ext>
            </a:extLst>
          </p:cNvPr>
          <p:cNvSpPr/>
          <p:nvPr/>
        </p:nvSpPr>
        <p:spPr>
          <a:xfrm>
            <a:off x="7681786" y="4899263"/>
            <a:ext cx="72419" cy="102060"/>
          </a:xfrm>
          <a:prstGeom prst="diamond">
            <a:avLst/>
          </a:prstGeom>
          <a:solidFill>
            <a:schemeClr val="accent2"/>
          </a:solidFill>
          <a:ln w="12700" cap="flat">
            <a:solidFill>
              <a:schemeClr val="accent1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101" name="Rectángulo: esquinas redondeadas 33">
            <a:extLst>
              <a:ext uri="{FF2B5EF4-FFF2-40B4-BE49-F238E27FC236}">
                <a16:creationId xmlns:a16="http://schemas.microsoft.com/office/drawing/2014/main" id="{7FDFF386-E02D-1193-7620-BBEA3138A12D}"/>
              </a:ext>
            </a:extLst>
          </p:cNvPr>
          <p:cNvSpPr/>
          <p:nvPr/>
        </p:nvSpPr>
        <p:spPr>
          <a:xfrm>
            <a:off x="6537996" y="3472872"/>
            <a:ext cx="926371" cy="216000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1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1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+mn-ea"/>
                <a:cs typeface="+mn-cs"/>
              </a:rPr>
              <a:t>Material</a:t>
            </a:r>
          </a:p>
        </p:txBody>
      </p:sp>
      <p:sp>
        <p:nvSpPr>
          <p:cNvPr id="2102" name="CuadroTexto 73">
            <a:extLst>
              <a:ext uri="{FF2B5EF4-FFF2-40B4-BE49-F238E27FC236}">
                <a16:creationId xmlns:a16="http://schemas.microsoft.com/office/drawing/2014/main" id="{D4EF3628-1CD0-9648-F8D9-236B15919AC6}"/>
              </a:ext>
            </a:extLst>
          </p:cNvPr>
          <p:cNvSpPr txBox="1"/>
          <p:nvPr/>
        </p:nvSpPr>
        <p:spPr>
          <a:xfrm>
            <a:off x="7213144" y="3678190"/>
            <a:ext cx="543117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Aug 30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th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 </a:t>
            </a:r>
            <a:endParaRPr kumimoji="0" lang="en-US" sz="8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  <a:sym typeface="Helvetica Light"/>
            </a:endParaRPr>
          </a:p>
        </p:txBody>
      </p:sp>
      <p:sp>
        <p:nvSpPr>
          <p:cNvPr id="2105" name="Rombo 74">
            <a:extLst>
              <a:ext uri="{FF2B5EF4-FFF2-40B4-BE49-F238E27FC236}">
                <a16:creationId xmlns:a16="http://schemas.microsoft.com/office/drawing/2014/main" id="{54928E14-06B2-73B7-A557-C681FC02C738}"/>
              </a:ext>
            </a:extLst>
          </p:cNvPr>
          <p:cNvSpPr/>
          <p:nvPr/>
        </p:nvSpPr>
        <p:spPr>
          <a:xfrm>
            <a:off x="7419786" y="3529980"/>
            <a:ext cx="72419" cy="102060"/>
          </a:xfrm>
          <a:prstGeom prst="diamond">
            <a:avLst/>
          </a:prstGeom>
          <a:solidFill>
            <a:schemeClr val="accent2"/>
          </a:solidFill>
          <a:ln w="12700" cap="flat">
            <a:solidFill>
              <a:schemeClr val="accent1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107" name="Rectángulo: esquinas redondeadas 33">
            <a:extLst>
              <a:ext uri="{FF2B5EF4-FFF2-40B4-BE49-F238E27FC236}">
                <a16:creationId xmlns:a16="http://schemas.microsoft.com/office/drawing/2014/main" id="{1ACD27A8-E0A4-A6A0-338F-D1DC9CF1D8D9}"/>
              </a:ext>
            </a:extLst>
          </p:cNvPr>
          <p:cNvSpPr/>
          <p:nvPr/>
        </p:nvSpPr>
        <p:spPr>
          <a:xfrm>
            <a:off x="7510492" y="3467474"/>
            <a:ext cx="1302511" cy="215445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1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1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Commercial Training</a:t>
            </a:r>
          </a:p>
        </p:txBody>
      </p:sp>
      <p:sp>
        <p:nvSpPr>
          <p:cNvPr id="2067" name="CuadroTexto 75">
            <a:extLst>
              <a:ext uri="{FF2B5EF4-FFF2-40B4-BE49-F238E27FC236}">
                <a16:creationId xmlns:a16="http://schemas.microsoft.com/office/drawing/2014/main" id="{848D4B9A-E429-7215-2E92-0FC1044E9E23}"/>
              </a:ext>
            </a:extLst>
          </p:cNvPr>
          <p:cNvSpPr txBox="1"/>
          <p:nvPr/>
        </p:nvSpPr>
        <p:spPr>
          <a:xfrm>
            <a:off x="3334499" y="6177653"/>
            <a:ext cx="847989" cy="200055"/>
          </a:xfrm>
          <a:prstGeom prst="rect">
            <a:avLst/>
          </a:prstGeom>
          <a:noFill/>
          <a:ln w="3175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8100" tIns="38100" rIns="38100" bIns="38100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+mn-ea"/>
                <a:cs typeface="+mn-cs"/>
              </a:rPr>
              <a:t>35/262 eliminated</a:t>
            </a:r>
          </a:p>
        </p:txBody>
      </p:sp>
      <p:cxnSp>
        <p:nvCxnSpPr>
          <p:cNvPr id="2089" name="Conector recto 162">
            <a:extLst>
              <a:ext uri="{FF2B5EF4-FFF2-40B4-BE49-F238E27FC236}">
                <a16:creationId xmlns:a16="http://schemas.microsoft.com/office/drawing/2014/main" id="{8E29A961-4764-F374-7F58-431038770717}"/>
              </a:ext>
            </a:extLst>
          </p:cNvPr>
          <p:cNvCxnSpPr>
            <a:cxnSpLocks/>
          </p:cNvCxnSpPr>
          <p:nvPr/>
        </p:nvCxnSpPr>
        <p:spPr>
          <a:xfrm flipV="1">
            <a:off x="5508803" y="1888709"/>
            <a:ext cx="1138945" cy="443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9" name="Rectángulo: esquinas redondeadas 33">
            <a:extLst>
              <a:ext uri="{FF2B5EF4-FFF2-40B4-BE49-F238E27FC236}">
                <a16:creationId xmlns:a16="http://schemas.microsoft.com/office/drawing/2014/main" id="{65548E31-9E3E-55E3-C315-B503C853B420}"/>
              </a:ext>
            </a:extLst>
          </p:cNvPr>
          <p:cNvSpPr/>
          <p:nvPr/>
        </p:nvSpPr>
        <p:spPr>
          <a:xfrm>
            <a:off x="3581291" y="3860209"/>
            <a:ext cx="982146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(43/43)</a:t>
            </a:r>
          </a:p>
        </p:txBody>
      </p:sp>
      <p:sp>
        <p:nvSpPr>
          <p:cNvPr id="2115" name="CuadroTexto 75">
            <a:extLst>
              <a:ext uri="{FF2B5EF4-FFF2-40B4-BE49-F238E27FC236}">
                <a16:creationId xmlns:a16="http://schemas.microsoft.com/office/drawing/2014/main" id="{ECAA7BF8-BAF8-46BB-FDD3-DE7AEA65B601}"/>
              </a:ext>
            </a:extLst>
          </p:cNvPr>
          <p:cNvSpPr txBox="1"/>
          <p:nvPr/>
        </p:nvSpPr>
        <p:spPr>
          <a:xfrm>
            <a:off x="8900056" y="5518288"/>
            <a:ext cx="478816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Light"/>
              </a:rPr>
              <a:t>Nov 13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Light"/>
              </a:rPr>
              <a:t>rd</a:t>
            </a:r>
          </a:p>
        </p:txBody>
      </p:sp>
      <p:sp>
        <p:nvSpPr>
          <p:cNvPr id="2070" name="Rectángulo: esquinas redondeadas 33">
            <a:extLst>
              <a:ext uri="{FF2B5EF4-FFF2-40B4-BE49-F238E27FC236}">
                <a16:creationId xmlns:a16="http://schemas.microsoft.com/office/drawing/2014/main" id="{437F0D06-6CA2-5494-472F-320CD8F0EE27}"/>
              </a:ext>
            </a:extLst>
          </p:cNvPr>
          <p:cNvSpPr/>
          <p:nvPr/>
        </p:nvSpPr>
        <p:spPr>
          <a:xfrm>
            <a:off x="5263612" y="5915422"/>
            <a:ext cx="1361786" cy="21878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Data Analysis 100%</a:t>
            </a:r>
          </a:p>
        </p:txBody>
      </p:sp>
      <p:sp>
        <p:nvSpPr>
          <p:cNvPr id="59" name="Rectángulo: esquinas redondeadas 33">
            <a:extLst>
              <a:ext uri="{FF2B5EF4-FFF2-40B4-BE49-F238E27FC236}">
                <a16:creationId xmlns:a16="http://schemas.microsoft.com/office/drawing/2014/main" id="{D58D3EFE-3661-843E-02ED-914314248BAC}"/>
              </a:ext>
            </a:extLst>
          </p:cNvPr>
          <p:cNvSpPr/>
          <p:nvPr/>
        </p:nvSpPr>
        <p:spPr>
          <a:xfrm>
            <a:off x="5581816" y="2231525"/>
            <a:ext cx="394913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BB76BA6-67DF-3BA9-5DC3-93E1489BC800}"/>
              </a:ext>
            </a:extLst>
          </p:cNvPr>
          <p:cNvSpPr txBox="1"/>
          <p:nvPr/>
        </p:nvSpPr>
        <p:spPr>
          <a:xfrm>
            <a:off x="6001871" y="2210680"/>
            <a:ext cx="1778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+mn-ea"/>
                <a:cs typeface="+mn-cs"/>
              </a:rPr>
              <a:t>UAT(0/294)- E2E(0/643)</a:t>
            </a:r>
          </a:p>
        </p:txBody>
      </p:sp>
      <p:cxnSp>
        <p:nvCxnSpPr>
          <p:cNvPr id="2085" name="Conector recto 2084">
            <a:extLst>
              <a:ext uri="{FF2B5EF4-FFF2-40B4-BE49-F238E27FC236}">
                <a16:creationId xmlns:a16="http://schemas.microsoft.com/office/drawing/2014/main" id="{9A0D7D4B-13DA-5DFC-BDC2-7D033A7BA848}"/>
              </a:ext>
            </a:extLst>
          </p:cNvPr>
          <p:cNvCxnSpPr>
            <a:cxnSpLocks/>
          </p:cNvCxnSpPr>
          <p:nvPr/>
        </p:nvCxnSpPr>
        <p:spPr>
          <a:xfrm>
            <a:off x="7735632" y="5639569"/>
            <a:ext cx="80450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ángulo: esquinas redondeadas 33">
            <a:extLst>
              <a:ext uri="{FF2B5EF4-FFF2-40B4-BE49-F238E27FC236}">
                <a16:creationId xmlns:a16="http://schemas.microsoft.com/office/drawing/2014/main" id="{DDAA0C10-F030-CE2F-1974-C96AC5FAF460}"/>
              </a:ext>
            </a:extLst>
          </p:cNvPr>
          <p:cNvSpPr/>
          <p:nvPr/>
        </p:nvSpPr>
        <p:spPr>
          <a:xfrm>
            <a:off x="5891720" y="5409916"/>
            <a:ext cx="1978827" cy="216000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1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1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187" name="Rombo 74">
            <a:extLst>
              <a:ext uri="{FF2B5EF4-FFF2-40B4-BE49-F238E27FC236}">
                <a16:creationId xmlns:a16="http://schemas.microsoft.com/office/drawing/2014/main" id="{D01199CC-6BB3-B4BA-AEA8-9154D93FF2BD}"/>
              </a:ext>
            </a:extLst>
          </p:cNvPr>
          <p:cNvSpPr/>
          <p:nvPr/>
        </p:nvSpPr>
        <p:spPr>
          <a:xfrm>
            <a:off x="7823291" y="5466479"/>
            <a:ext cx="72419" cy="102060"/>
          </a:xfrm>
          <a:prstGeom prst="diamond">
            <a:avLst/>
          </a:prstGeom>
          <a:solidFill>
            <a:schemeClr val="accent2"/>
          </a:solidFill>
          <a:ln w="12700" cap="flat">
            <a:solidFill>
              <a:schemeClr val="accent1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68" name="Rectángulo: esquinas redondeadas 33">
            <a:extLst>
              <a:ext uri="{FF2B5EF4-FFF2-40B4-BE49-F238E27FC236}">
                <a16:creationId xmlns:a16="http://schemas.microsoft.com/office/drawing/2014/main" id="{65ECA050-70EF-04D9-A0A9-DAE584E00CB9}"/>
              </a:ext>
            </a:extLst>
          </p:cNvPr>
          <p:cNvSpPr/>
          <p:nvPr/>
        </p:nvSpPr>
        <p:spPr>
          <a:xfrm>
            <a:off x="2931557" y="5408947"/>
            <a:ext cx="3040571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169" name="CuadroTexto 75">
            <a:extLst>
              <a:ext uri="{FF2B5EF4-FFF2-40B4-BE49-F238E27FC236}">
                <a16:creationId xmlns:a16="http://schemas.microsoft.com/office/drawing/2014/main" id="{DFBD91B9-F07B-30F1-03D8-D219B12F8F71}"/>
              </a:ext>
            </a:extLst>
          </p:cNvPr>
          <p:cNvSpPr txBox="1"/>
          <p:nvPr/>
        </p:nvSpPr>
        <p:spPr>
          <a:xfrm>
            <a:off x="4026883" y="5397680"/>
            <a:ext cx="2456269" cy="230832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Data Mapping 74% and data cleansing 57%</a:t>
            </a:r>
          </a:p>
        </p:txBody>
      </p:sp>
      <p:sp>
        <p:nvSpPr>
          <p:cNvPr id="149" name="Rectángulo: esquinas redondeadas 33">
            <a:extLst>
              <a:ext uri="{FF2B5EF4-FFF2-40B4-BE49-F238E27FC236}">
                <a16:creationId xmlns:a16="http://schemas.microsoft.com/office/drawing/2014/main" id="{F500F689-9177-5FA1-DEAF-728FF2BF0C5C}"/>
              </a:ext>
            </a:extLst>
          </p:cNvPr>
          <p:cNvSpPr/>
          <p:nvPr/>
        </p:nvSpPr>
        <p:spPr>
          <a:xfrm>
            <a:off x="5807847" y="3872931"/>
            <a:ext cx="545276" cy="216000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1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1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179" name="Rombo 74">
            <a:extLst>
              <a:ext uri="{FF2B5EF4-FFF2-40B4-BE49-F238E27FC236}">
                <a16:creationId xmlns:a16="http://schemas.microsoft.com/office/drawing/2014/main" id="{39A767EA-49BE-ECFD-AC2D-73CD9419EE83}"/>
              </a:ext>
            </a:extLst>
          </p:cNvPr>
          <p:cNvSpPr/>
          <p:nvPr/>
        </p:nvSpPr>
        <p:spPr>
          <a:xfrm>
            <a:off x="6307745" y="3924243"/>
            <a:ext cx="72419" cy="102060"/>
          </a:xfrm>
          <a:prstGeom prst="diamond">
            <a:avLst/>
          </a:prstGeom>
          <a:solidFill>
            <a:schemeClr val="accent2"/>
          </a:solidFill>
          <a:ln w="12700" cap="flat">
            <a:solidFill>
              <a:schemeClr val="accent1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091" name="CuadroTexto 73">
            <a:extLst>
              <a:ext uri="{FF2B5EF4-FFF2-40B4-BE49-F238E27FC236}">
                <a16:creationId xmlns:a16="http://schemas.microsoft.com/office/drawing/2014/main" id="{8FF2A5C7-7F72-BF31-00D2-A18A0CD44A92}"/>
              </a:ext>
            </a:extLst>
          </p:cNvPr>
          <p:cNvSpPr txBox="1"/>
          <p:nvPr/>
        </p:nvSpPr>
        <p:spPr>
          <a:xfrm>
            <a:off x="6303703" y="2537572"/>
            <a:ext cx="412031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Jun 26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th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 </a:t>
            </a:r>
            <a:endParaRPr kumimoji="0" lang="en-US" sz="8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  <a:sym typeface="Helvetica Light"/>
            </a:endParaRPr>
          </a:p>
        </p:txBody>
      </p:sp>
      <p:sp>
        <p:nvSpPr>
          <p:cNvPr id="156" name="Rombo 74">
            <a:extLst>
              <a:ext uri="{FF2B5EF4-FFF2-40B4-BE49-F238E27FC236}">
                <a16:creationId xmlns:a16="http://schemas.microsoft.com/office/drawing/2014/main" id="{13D42860-47DF-D27E-A374-75879D3AC59E}"/>
              </a:ext>
            </a:extLst>
          </p:cNvPr>
          <p:cNvSpPr/>
          <p:nvPr/>
        </p:nvSpPr>
        <p:spPr>
          <a:xfrm>
            <a:off x="6392607" y="2979214"/>
            <a:ext cx="72419" cy="102060"/>
          </a:xfrm>
          <a:prstGeom prst="diamond">
            <a:avLst/>
          </a:prstGeom>
          <a:solidFill>
            <a:schemeClr val="accent2"/>
          </a:solidFill>
          <a:ln w="12700" cap="flat">
            <a:solidFill>
              <a:schemeClr val="accent1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77" name="Rombo 74">
            <a:extLst>
              <a:ext uri="{FF2B5EF4-FFF2-40B4-BE49-F238E27FC236}">
                <a16:creationId xmlns:a16="http://schemas.microsoft.com/office/drawing/2014/main" id="{3CFD153D-7D4F-A8DC-4AB2-7038DD003909}"/>
              </a:ext>
            </a:extLst>
          </p:cNvPr>
          <p:cNvSpPr/>
          <p:nvPr/>
        </p:nvSpPr>
        <p:spPr>
          <a:xfrm>
            <a:off x="6285164" y="2014539"/>
            <a:ext cx="72419" cy="102060"/>
          </a:xfrm>
          <a:prstGeom prst="diamond">
            <a:avLst/>
          </a:prstGeom>
          <a:solidFill>
            <a:schemeClr val="accent2"/>
          </a:solidFill>
          <a:ln w="12700" cap="flat">
            <a:solidFill>
              <a:schemeClr val="accent1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30A8B1B-A206-133A-4F95-E1DFC6904F81}"/>
              </a:ext>
            </a:extLst>
          </p:cNvPr>
          <p:cNvSpPr txBox="1"/>
          <p:nvPr/>
        </p:nvSpPr>
        <p:spPr>
          <a:xfrm>
            <a:off x="5811692" y="1611606"/>
            <a:ext cx="4466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+mn-ea"/>
                <a:cs typeface="+mn-cs"/>
              </a:rPr>
              <a:t>CV4</a:t>
            </a:r>
            <a:endParaRPr kumimoji="0" lang="es-BO" sz="105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160" name="CuadroTexto 73">
            <a:extLst>
              <a:ext uri="{FF2B5EF4-FFF2-40B4-BE49-F238E27FC236}">
                <a16:creationId xmlns:a16="http://schemas.microsoft.com/office/drawing/2014/main" id="{BB2D7715-822E-340E-FE2B-A4C035B212F4}"/>
              </a:ext>
            </a:extLst>
          </p:cNvPr>
          <p:cNvSpPr txBox="1"/>
          <p:nvPr/>
        </p:nvSpPr>
        <p:spPr>
          <a:xfrm>
            <a:off x="6601946" y="1653109"/>
            <a:ext cx="510440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Jul 21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st</a:t>
            </a:r>
          </a:p>
        </p:txBody>
      </p:sp>
      <p:sp>
        <p:nvSpPr>
          <p:cNvPr id="176" name="Rombo 74">
            <a:extLst>
              <a:ext uri="{FF2B5EF4-FFF2-40B4-BE49-F238E27FC236}">
                <a16:creationId xmlns:a16="http://schemas.microsoft.com/office/drawing/2014/main" id="{02D48B51-3D7B-43A0-44D4-3C33495CD1D2}"/>
              </a:ext>
            </a:extLst>
          </p:cNvPr>
          <p:cNvSpPr/>
          <p:nvPr/>
        </p:nvSpPr>
        <p:spPr>
          <a:xfrm>
            <a:off x="6602353" y="1703274"/>
            <a:ext cx="72419" cy="102060"/>
          </a:xfrm>
          <a:prstGeom prst="diamond">
            <a:avLst/>
          </a:prstGeom>
          <a:solidFill>
            <a:schemeClr val="accent2"/>
          </a:solidFill>
          <a:ln w="12700" cap="flat">
            <a:solidFill>
              <a:schemeClr val="accent1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9" name="CuadroTexto 75">
            <a:extLst>
              <a:ext uri="{FF2B5EF4-FFF2-40B4-BE49-F238E27FC236}">
                <a16:creationId xmlns:a16="http://schemas.microsoft.com/office/drawing/2014/main" id="{F4599ABD-39EF-99BC-5E26-3DF4D86AB9AE}"/>
              </a:ext>
            </a:extLst>
          </p:cNvPr>
          <p:cNvSpPr txBox="1"/>
          <p:nvPr/>
        </p:nvSpPr>
        <p:spPr>
          <a:xfrm>
            <a:off x="6777248" y="1929324"/>
            <a:ext cx="1547516" cy="32316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Missing SOM Home endpoint connection</a:t>
            </a:r>
          </a:p>
        </p:txBody>
      </p:sp>
      <p:sp>
        <p:nvSpPr>
          <p:cNvPr id="144" name="Rombo 74">
            <a:extLst>
              <a:ext uri="{FF2B5EF4-FFF2-40B4-BE49-F238E27FC236}">
                <a16:creationId xmlns:a16="http://schemas.microsoft.com/office/drawing/2014/main" id="{02DFFD3B-39F4-CAA9-C1D1-9439CFC95BBB}"/>
              </a:ext>
            </a:extLst>
          </p:cNvPr>
          <p:cNvSpPr/>
          <p:nvPr/>
        </p:nvSpPr>
        <p:spPr>
          <a:xfrm>
            <a:off x="7717919" y="5461810"/>
            <a:ext cx="72419" cy="102060"/>
          </a:xfrm>
          <a:prstGeom prst="diamond">
            <a:avLst/>
          </a:prstGeom>
          <a:solidFill>
            <a:srgbClr val="2BF530"/>
          </a:solidFill>
          <a:ln w="12700" cap="flat">
            <a:solidFill>
              <a:srgbClr val="00B050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45" name="CuadroTexto 75">
            <a:extLst>
              <a:ext uri="{FF2B5EF4-FFF2-40B4-BE49-F238E27FC236}">
                <a16:creationId xmlns:a16="http://schemas.microsoft.com/office/drawing/2014/main" id="{A0E17432-B528-98A3-992F-64B73A8D790B}"/>
              </a:ext>
            </a:extLst>
          </p:cNvPr>
          <p:cNvSpPr txBox="1"/>
          <p:nvPr/>
        </p:nvSpPr>
        <p:spPr>
          <a:xfrm>
            <a:off x="7453783" y="5411205"/>
            <a:ext cx="275717" cy="215444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DR1</a:t>
            </a:r>
          </a:p>
        </p:txBody>
      </p:sp>
      <p:sp>
        <p:nvSpPr>
          <p:cNvPr id="147" name="CuadroTexto 73">
            <a:extLst>
              <a:ext uri="{FF2B5EF4-FFF2-40B4-BE49-F238E27FC236}">
                <a16:creationId xmlns:a16="http://schemas.microsoft.com/office/drawing/2014/main" id="{9FDF8526-F16E-C7C5-1D4C-91DFFB598502}"/>
              </a:ext>
            </a:extLst>
          </p:cNvPr>
          <p:cNvSpPr txBox="1"/>
          <p:nvPr/>
        </p:nvSpPr>
        <p:spPr>
          <a:xfrm>
            <a:off x="7468798" y="5629460"/>
            <a:ext cx="543117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Sep 15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th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 </a:t>
            </a:r>
            <a:endParaRPr kumimoji="0" lang="en-US" sz="8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  <a:sym typeface="Helvetica Light"/>
            </a:endParaRPr>
          </a:p>
        </p:txBody>
      </p:sp>
      <p:sp>
        <p:nvSpPr>
          <p:cNvPr id="191" name="Rombo 74">
            <a:extLst>
              <a:ext uri="{FF2B5EF4-FFF2-40B4-BE49-F238E27FC236}">
                <a16:creationId xmlns:a16="http://schemas.microsoft.com/office/drawing/2014/main" id="{B4F6396D-A782-BFB8-3079-DB18D1FEA7BD}"/>
              </a:ext>
            </a:extLst>
          </p:cNvPr>
          <p:cNvSpPr/>
          <p:nvPr/>
        </p:nvSpPr>
        <p:spPr>
          <a:xfrm>
            <a:off x="8159069" y="5468450"/>
            <a:ext cx="72419" cy="102060"/>
          </a:xfrm>
          <a:prstGeom prst="diamond">
            <a:avLst/>
          </a:prstGeom>
          <a:solidFill>
            <a:srgbClr val="2BF530"/>
          </a:solidFill>
          <a:ln w="12700" cap="flat">
            <a:solidFill>
              <a:srgbClr val="00B050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050" name="CuadroTexto 75">
            <a:extLst>
              <a:ext uri="{FF2B5EF4-FFF2-40B4-BE49-F238E27FC236}">
                <a16:creationId xmlns:a16="http://schemas.microsoft.com/office/drawing/2014/main" id="{B356E297-7F86-D5A2-0B3C-468C523F7ED2}"/>
              </a:ext>
            </a:extLst>
          </p:cNvPr>
          <p:cNvSpPr txBox="1"/>
          <p:nvPr/>
        </p:nvSpPr>
        <p:spPr>
          <a:xfrm>
            <a:off x="7910520" y="5416294"/>
            <a:ext cx="275718" cy="215444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DR2</a:t>
            </a:r>
          </a:p>
        </p:txBody>
      </p:sp>
      <p:sp>
        <p:nvSpPr>
          <p:cNvPr id="2060" name="CuadroTexto 73">
            <a:extLst>
              <a:ext uri="{FF2B5EF4-FFF2-40B4-BE49-F238E27FC236}">
                <a16:creationId xmlns:a16="http://schemas.microsoft.com/office/drawing/2014/main" id="{6700476E-83F2-65E2-0717-FCA07C0E44E4}"/>
              </a:ext>
            </a:extLst>
          </p:cNvPr>
          <p:cNvSpPr txBox="1"/>
          <p:nvPr/>
        </p:nvSpPr>
        <p:spPr>
          <a:xfrm>
            <a:off x="8001090" y="5618315"/>
            <a:ext cx="370785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Oct 6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th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 </a:t>
            </a:r>
            <a:endParaRPr kumimoji="0" lang="en-US" sz="8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  <a:sym typeface="Helvetica Light"/>
            </a:endParaRPr>
          </a:p>
        </p:txBody>
      </p:sp>
      <p:sp>
        <p:nvSpPr>
          <p:cNvPr id="2062" name="CuadroTexto 75">
            <a:extLst>
              <a:ext uri="{FF2B5EF4-FFF2-40B4-BE49-F238E27FC236}">
                <a16:creationId xmlns:a16="http://schemas.microsoft.com/office/drawing/2014/main" id="{E2240C25-A870-6180-66B2-ADFF4219EF80}"/>
              </a:ext>
            </a:extLst>
          </p:cNvPr>
          <p:cNvSpPr txBox="1"/>
          <p:nvPr/>
        </p:nvSpPr>
        <p:spPr>
          <a:xfrm>
            <a:off x="8225117" y="5414117"/>
            <a:ext cx="275717" cy="215444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DR3</a:t>
            </a:r>
          </a:p>
        </p:txBody>
      </p:sp>
      <p:sp>
        <p:nvSpPr>
          <p:cNvPr id="2095" name="Rectángulo: esquinas redondeadas 33">
            <a:extLst>
              <a:ext uri="{FF2B5EF4-FFF2-40B4-BE49-F238E27FC236}">
                <a16:creationId xmlns:a16="http://schemas.microsoft.com/office/drawing/2014/main" id="{8E89B506-C1B9-BF11-8D8C-3990099A6CBD}"/>
              </a:ext>
            </a:extLst>
          </p:cNvPr>
          <p:cNvSpPr/>
          <p:nvPr/>
        </p:nvSpPr>
        <p:spPr>
          <a:xfrm>
            <a:off x="5816306" y="6189549"/>
            <a:ext cx="1042788" cy="216000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1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1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highlight>
                <a:srgbClr val="FFFF00"/>
              </a:highlight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161" name="Rombo 74">
            <a:extLst>
              <a:ext uri="{FF2B5EF4-FFF2-40B4-BE49-F238E27FC236}">
                <a16:creationId xmlns:a16="http://schemas.microsoft.com/office/drawing/2014/main" id="{501E507E-8041-5A8B-069C-626C3CC9A86E}"/>
              </a:ext>
            </a:extLst>
          </p:cNvPr>
          <p:cNvSpPr/>
          <p:nvPr/>
        </p:nvSpPr>
        <p:spPr>
          <a:xfrm>
            <a:off x="6814115" y="6244529"/>
            <a:ext cx="72419" cy="102060"/>
          </a:xfrm>
          <a:prstGeom prst="diamond">
            <a:avLst/>
          </a:prstGeom>
          <a:solidFill>
            <a:schemeClr val="accent2"/>
          </a:solidFill>
          <a:ln w="12700" cap="flat">
            <a:solidFill>
              <a:schemeClr val="accent1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098" name="Rectángulo: esquinas redondeadas 33">
            <a:extLst>
              <a:ext uri="{FF2B5EF4-FFF2-40B4-BE49-F238E27FC236}">
                <a16:creationId xmlns:a16="http://schemas.microsoft.com/office/drawing/2014/main" id="{420A072A-6AD9-F763-507E-CE2D4E0BF8BF}"/>
              </a:ext>
            </a:extLst>
          </p:cNvPr>
          <p:cNvSpPr/>
          <p:nvPr/>
        </p:nvSpPr>
        <p:spPr>
          <a:xfrm>
            <a:off x="5807849" y="6190918"/>
            <a:ext cx="154802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2093" name="CuadroTexto 75">
            <a:extLst>
              <a:ext uri="{FF2B5EF4-FFF2-40B4-BE49-F238E27FC236}">
                <a16:creationId xmlns:a16="http://schemas.microsoft.com/office/drawing/2014/main" id="{BE7001BC-D939-6DBC-2A15-3C77A6196C62}"/>
              </a:ext>
            </a:extLst>
          </p:cNvPr>
          <p:cNvSpPr txBox="1"/>
          <p:nvPr/>
        </p:nvSpPr>
        <p:spPr>
          <a:xfrm>
            <a:off x="4534343" y="6185089"/>
            <a:ext cx="2280739" cy="230832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+mn-ea"/>
                <a:cs typeface="+mn-cs"/>
              </a:rPr>
              <a:t>Canonical Data Lake Implementation 22 %</a:t>
            </a:r>
          </a:p>
        </p:txBody>
      </p:sp>
      <p:sp>
        <p:nvSpPr>
          <p:cNvPr id="2099" name="Rectángulo: esquinas redondeadas 33">
            <a:extLst>
              <a:ext uri="{FF2B5EF4-FFF2-40B4-BE49-F238E27FC236}">
                <a16:creationId xmlns:a16="http://schemas.microsoft.com/office/drawing/2014/main" id="{6A23D6F3-862E-84EA-8179-17214A26DDF2}"/>
              </a:ext>
            </a:extLst>
          </p:cNvPr>
          <p:cNvSpPr/>
          <p:nvPr/>
        </p:nvSpPr>
        <p:spPr>
          <a:xfrm>
            <a:off x="5819310" y="6484372"/>
            <a:ext cx="1961018" cy="216000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1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1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2100" name="CuadroTexto 75">
            <a:extLst>
              <a:ext uri="{FF2B5EF4-FFF2-40B4-BE49-F238E27FC236}">
                <a16:creationId xmlns:a16="http://schemas.microsoft.com/office/drawing/2014/main" id="{F310BDF1-AD71-27F8-6F58-71C3CFAB861C}"/>
              </a:ext>
            </a:extLst>
          </p:cNvPr>
          <p:cNvSpPr txBox="1"/>
          <p:nvPr/>
        </p:nvSpPr>
        <p:spPr>
          <a:xfrm>
            <a:off x="6051919" y="6468897"/>
            <a:ext cx="1515694" cy="230832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+mn-ea"/>
                <a:cs typeface="+mn-cs"/>
              </a:rPr>
              <a:t>Reporting Development 5%</a:t>
            </a:r>
          </a:p>
        </p:txBody>
      </p:sp>
      <p:sp>
        <p:nvSpPr>
          <p:cNvPr id="2103" name="Rectángulo: esquinas redondeadas 33">
            <a:extLst>
              <a:ext uri="{FF2B5EF4-FFF2-40B4-BE49-F238E27FC236}">
                <a16:creationId xmlns:a16="http://schemas.microsoft.com/office/drawing/2014/main" id="{A399A824-B8ED-37B0-8B33-3D5502D5E7AA}"/>
              </a:ext>
            </a:extLst>
          </p:cNvPr>
          <p:cNvSpPr/>
          <p:nvPr/>
        </p:nvSpPr>
        <p:spPr>
          <a:xfrm>
            <a:off x="5823344" y="6481755"/>
            <a:ext cx="153385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2104" name="CuadroTexto 73">
            <a:extLst>
              <a:ext uri="{FF2B5EF4-FFF2-40B4-BE49-F238E27FC236}">
                <a16:creationId xmlns:a16="http://schemas.microsoft.com/office/drawing/2014/main" id="{D60BB728-9C6E-C739-652A-C0368F678866}"/>
              </a:ext>
            </a:extLst>
          </p:cNvPr>
          <p:cNvSpPr txBox="1"/>
          <p:nvPr/>
        </p:nvSpPr>
        <p:spPr>
          <a:xfrm>
            <a:off x="7573643" y="6278738"/>
            <a:ext cx="427448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Sep 30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th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  </a:t>
            </a:r>
            <a:endParaRPr kumimoji="0" lang="en-US" sz="8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  <a:sym typeface="Helvetica Light"/>
            </a:endParaRPr>
          </a:p>
        </p:txBody>
      </p:sp>
      <p:sp>
        <p:nvSpPr>
          <p:cNvPr id="2106" name="Rectángulo: esquinas redondeadas 33">
            <a:extLst>
              <a:ext uri="{FF2B5EF4-FFF2-40B4-BE49-F238E27FC236}">
                <a16:creationId xmlns:a16="http://schemas.microsoft.com/office/drawing/2014/main" id="{5A47FE67-E89D-5ABB-AA22-B9C1C263547D}"/>
              </a:ext>
            </a:extLst>
          </p:cNvPr>
          <p:cNvSpPr/>
          <p:nvPr/>
        </p:nvSpPr>
        <p:spPr>
          <a:xfrm>
            <a:off x="7803276" y="6489870"/>
            <a:ext cx="1065450" cy="216000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1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1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+mn-ea"/>
                <a:cs typeface="+mn-cs"/>
              </a:rPr>
              <a:t>Certification</a:t>
            </a:r>
          </a:p>
        </p:txBody>
      </p:sp>
      <p:sp>
        <p:nvSpPr>
          <p:cNvPr id="174" name="Rombo 74">
            <a:extLst>
              <a:ext uri="{FF2B5EF4-FFF2-40B4-BE49-F238E27FC236}">
                <a16:creationId xmlns:a16="http://schemas.microsoft.com/office/drawing/2014/main" id="{A1F5EEF7-0A20-7D52-90B3-766A507AE86A}"/>
              </a:ext>
            </a:extLst>
          </p:cNvPr>
          <p:cNvSpPr/>
          <p:nvPr/>
        </p:nvSpPr>
        <p:spPr>
          <a:xfrm>
            <a:off x="7740357" y="6541446"/>
            <a:ext cx="72419" cy="102060"/>
          </a:xfrm>
          <a:prstGeom prst="diamond">
            <a:avLst/>
          </a:prstGeom>
          <a:solidFill>
            <a:schemeClr val="accent2"/>
          </a:solidFill>
          <a:ln w="12700" cap="flat">
            <a:solidFill>
              <a:schemeClr val="accent1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54" name="Rombo 74">
            <a:extLst>
              <a:ext uri="{FF2B5EF4-FFF2-40B4-BE49-F238E27FC236}">
                <a16:creationId xmlns:a16="http://schemas.microsoft.com/office/drawing/2014/main" id="{524B1834-2BD7-488F-8F62-F819B2C16826}"/>
              </a:ext>
            </a:extLst>
          </p:cNvPr>
          <p:cNvSpPr/>
          <p:nvPr/>
        </p:nvSpPr>
        <p:spPr>
          <a:xfrm>
            <a:off x="8831186" y="6533283"/>
            <a:ext cx="72419" cy="102060"/>
          </a:xfrm>
          <a:prstGeom prst="diamond">
            <a:avLst/>
          </a:prstGeom>
          <a:solidFill>
            <a:schemeClr val="accent2"/>
          </a:solidFill>
          <a:ln w="12700" cap="flat">
            <a:solidFill>
              <a:schemeClr val="accent1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108" name="CuadroTexto 75">
            <a:extLst>
              <a:ext uri="{FF2B5EF4-FFF2-40B4-BE49-F238E27FC236}">
                <a16:creationId xmlns:a16="http://schemas.microsoft.com/office/drawing/2014/main" id="{6C9DF5FB-650E-858E-13B6-301555C39AB2}"/>
              </a:ext>
            </a:extLst>
          </p:cNvPr>
          <p:cNvSpPr txBox="1"/>
          <p:nvPr/>
        </p:nvSpPr>
        <p:spPr>
          <a:xfrm>
            <a:off x="8665526" y="6284146"/>
            <a:ext cx="478816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Light"/>
              </a:rPr>
              <a:t>Nov 13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Light"/>
              </a:rPr>
              <a:t>rd</a:t>
            </a:r>
          </a:p>
        </p:txBody>
      </p:sp>
      <p:cxnSp>
        <p:nvCxnSpPr>
          <p:cNvPr id="48" name="Conector recto 101">
            <a:extLst>
              <a:ext uri="{FF2B5EF4-FFF2-40B4-BE49-F238E27FC236}">
                <a16:creationId xmlns:a16="http://schemas.microsoft.com/office/drawing/2014/main" id="{6B300A3E-2E7D-40F4-1ECF-C448735FBAAD}"/>
              </a:ext>
            </a:extLst>
          </p:cNvPr>
          <p:cNvCxnSpPr>
            <a:cxnSpLocks/>
            <a:stCxn id="178" idx="2"/>
          </p:cNvCxnSpPr>
          <p:nvPr/>
        </p:nvCxnSpPr>
        <p:spPr>
          <a:xfrm flipH="1">
            <a:off x="8503925" y="2371476"/>
            <a:ext cx="1" cy="4421408"/>
          </a:xfrm>
          <a:prstGeom prst="line">
            <a:avLst/>
          </a:prstGeom>
          <a:noFill/>
          <a:ln w="12700" cap="flat">
            <a:solidFill>
              <a:schemeClr val="accent6"/>
            </a:solidFill>
            <a:prstDash val="dash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Conector recto 101">
            <a:extLst>
              <a:ext uri="{FF2B5EF4-FFF2-40B4-BE49-F238E27FC236}">
                <a16:creationId xmlns:a16="http://schemas.microsoft.com/office/drawing/2014/main" id="{9988933A-4968-40D9-F41C-589F07EAFED4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8849213" y="2371476"/>
            <a:ext cx="23582" cy="4421408"/>
          </a:xfrm>
          <a:prstGeom prst="line">
            <a:avLst/>
          </a:prstGeom>
          <a:noFill/>
          <a:ln w="12700" cap="flat">
            <a:solidFill>
              <a:schemeClr val="accent6"/>
            </a:solidFill>
            <a:prstDash val="dash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CuadroTexto 73">
            <a:extLst>
              <a:ext uri="{FF2B5EF4-FFF2-40B4-BE49-F238E27FC236}">
                <a16:creationId xmlns:a16="http://schemas.microsoft.com/office/drawing/2014/main" id="{E193049A-1EFB-1B10-D3D9-5A7009557F62}"/>
              </a:ext>
            </a:extLst>
          </p:cNvPr>
          <p:cNvSpPr txBox="1"/>
          <p:nvPr/>
        </p:nvSpPr>
        <p:spPr>
          <a:xfrm>
            <a:off x="6259115" y="2787200"/>
            <a:ext cx="345996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Jul 5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th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 </a:t>
            </a:r>
            <a:endParaRPr kumimoji="0" lang="en-US" sz="8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  <a:sym typeface="Helvetica Light"/>
            </a:endParaRPr>
          </a:p>
        </p:txBody>
      </p:sp>
      <p:sp>
        <p:nvSpPr>
          <p:cNvPr id="11" name="Rectángulo: esquinas redondeadas 33">
            <a:extLst>
              <a:ext uri="{FF2B5EF4-FFF2-40B4-BE49-F238E27FC236}">
                <a16:creationId xmlns:a16="http://schemas.microsoft.com/office/drawing/2014/main" id="{05910F3A-AD73-39F4-6F49-84A04151A578}"/>
              </a:ext>
            </a:extLst>
          </p:cNvPr>
          <p:cNvSpPr/>
          <p:nvPr/>
        </p:nvSpPr>
        <p:spPr>
          <a:xfrm>
            <a:off x="5810397" y="3875126"/>
            <a:ext cx="166331" cy="216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146" name="CuadroTexto 75">
            <a:extLst>
              <a:ext uri="{FF2B5EF4-FFF2-40B4-BE49-F238E27FC236}">
                <a16:creationId xmlns:a16="http://schemas.microsoft.com/office/drawing/2014/main" id="{87DDD0CE-12C6-BB8C-3613-8BB18B1A28D6}"/>
              </a:ext>
            </a:extLst>
          </p:cNvPr>
          <p:cNvSpPr txBox="1"/>
          <p:nvPr/>
        </p:nvSpPr>
        <p:spPr>
          <a:xfrm>
            <a:off x="5840246" y="3861995"/>
            <a:ext cx="499629" cy="230832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(0/43)</a:t>
            </a:r>
          </a:p>
        </p:txBody>
      </p:sp>
      <p:sp>
        <p:nvSpPr>
          <p:cNvPr id="46" name="CuadroTexto 73">
            <a:extLst>
              <a:ext uri="{FF2B5EF4-FFF2-40B4-BE49-F238E27FC236}">
                <a16:creationId xmlns:a16="http://schemas.microsoft.com/office/drawing/2014/main" id="{E9FAA689-EB51-9E23-29D0-6ECD22968B0C}"/>
              </a:ext>
            </a:extLst>
          </p:cNvPr>
          <p:cNvSpPr txBox="1"/>
          <p:nvPr/>
        </p:nvSpPr>
        <p:spPr>
          <a:xfrm>
            <a:off x="7980228" y="5142351"/>
            <a:ext cx="543117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Sep 30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th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 </a:t>
            </a:r>
            <a:endParaRPr kumimoji="0" lang="en-US" sz="8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  <a:sym typeface="Helvetica Light"/>
            </a:endParaRPr>
          </a:p>
        </p:txBody>
      </p:sp>
      <p:sp>
        <p:nvSpPr>
          <p:cNvPr id="49" name="Rombo 74">
            <a:extLst>
              <a:ext uri="{FF2B5EF4-FFF2-40B4-BE49-F238E27FC236}">
                <a16:creationId xmlns:a16="http://schemas.microsoft.com/office/drawing/2014/main" id="{4462D7FC-BFF8-2BD8-6A8F-0494115BF57D}"/>
              </a:ext>
            </a:extLst>
          </p:cNvPr>
          <p:cNvSpPr/>
          <p:nvPr/>
        </p:nvSpPr>
        <p:spPr>
          <a:xfrm>
            <a:off x="7956522" y="5186705"/>
            <a:ext cx="72419" cy="102060"/>
          </a:xfrm>
          <a:prstGeom prst="diamond">
            <a:avLst/>
          </a:prstGeom>
          <a:solidFill>
            <a:schemeClr val="accent2"/>
          </a:solidFill>
          <a:ln w="12700" cap="flat">
            <a:solidFill>
              <a:schemeClr val="accent1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3" name="Rectángulo: esquinas redondeadas 33">
            <a:extLst>
              <a:ext uri="{FF2B5EF4-FFF2-40B4-BE49-F238E27FC236}">
                <a16:creationId xmlns:a16="http://schemas.microsoft.com/office/drawing/2014/main" id="{7CD46E68-FAC3-276E-E246-938B510F4FB0}"/>
              </a:ext>
            </a:extLst>
          </p:cNvPr>
          <p:cNvSpPr/>
          <p:nvPr/>
        </p:nvSpPr>
        <p:spPr>
          <a:xfrm>
            <a:off x="5925886" y="2603367"/>
            <a:ext cx="353311" cy="216000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1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1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+mn-ea"/>
              <a:cs typeface="+mn-cs"/>
            </a:endParaRPr>
          </a:p>
        </p:txBody>
      </p:sp>
      <p:sp>
        <p:nvSpPr>
          <p:cNvPr id="58" name="Rectángulo: esquinas redondeadas 33">
            <a:extLst>
              <a:ext uri="{FF2B5EF4-FFF2-40B4-BE49-F238E27FC236}">
                <a16:creationId xmlns:a16="http://schemas.microsoft.com/office/drawing/2014/main" id="{9ACBFA97-5486-7A7B-7692-B31B6A86F829}"/>
              </a:ext>
            </a:extLst>
          </p:cNvPr>
          <p:cNvSpPr/>
          <p:nvPr/>
        </p:nvSpPr>
        <p:spPr>
          <a:xfrm>
            <a:off x="5141557" y="2603014"/>
            <a:ext cx="835172" cy="21408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ronos Pro"/>
              <a:ea typeface="Calibri" charset="0"/>
              <a:cs typeface="Calibri" charset="0"/>
              <a:sym typeface="Helvetica Light"/>
            </a:endParaRPr>
          </a:p>
        </p:txBody>
      </p:sp>
      <p:sp>
        <p:nvSpPr>
          <p:cNvPr id="40" name="Rombo 74">
            <a:extLst>
              <a:ext uri="{FF2B5EF4-FFF2-40B4-BE49-F238E27FC236}">
                <a16:creationId xmlns:a16="http://schemas.microsoft.com/office/drawing/2014/main" id="{8263F12D-6811-AD69-553F-4734524C01D4}"/>
              </a:ext>
            </a:extLst>
          </p:cNvPr>
          <p:cNvSpPr/>
          <p:nvPr/>
        </p:nvSpPr>
        <p:spPr>
          <a:xfrm>
            <a:off x="6234712" y="2657812"/>
            <a:ext cx="72419" cy="102060"/>
          </a:xfrm>
          <a:prstGeom prst="diamond">
            <a:avLst/>
          </a:prstGeom>
          <a:solidFill>
            <a:schemeClr val="accent2"/>
          </a:solidFill>
          <a:ln w="12700" cap="flat">
            <a:solidFill>
              <a:schemeClr val="accent1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ED6279CA-8E70-99D3-C3FC-FF5E00B5EC4C}"/>
              </a:ext>
            </a:extLst>
          </p:cNvPr>
          <p:cNvGrpSpPr/>
          <p:nvPr/>
        </p:nvGrpSpPr>
        <p:grpSpPr>
          <a:xfrm>
            <a:off x="5925985" y="1457466"/>
            <a:ext cx="109369" cy="5346696"/>
            <a:chOff x="5925985" y="1377954"/>
            <a:chExt cx="109369" cy="5346696"/>
          </a:xfrm>
        </p:grpSpPr>
        <p:sp>
          <p:nvSpPr>
            <p:cNvPr id="2054" name="Triángulo isósceles 2053">
              <a:extLst>
                <a:ext uri="{FF2B5EF4-FFF2-40B4-BE49-F238E27FC236}">
                  <a16:creationId xmlns:a16="http://schemas.microsoft.com/office/drawing/2014/main" id="{04870FC4-5A97-4FC5-33C9-4A411019A8B1}"/>
                </a:ext>
              </a:extLst>
            </p:cNvPr>
            <p:cNvSpPr/>
            <p:nvPr/>
          </p:nvSpPr>
          <p:spPr>
            <a:xfrm rot="10800000">
              <a:off x="5925985" y="1377954"/>
              <a:ext cx="109369" cy="80684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solidFill>
                    <a:srgbClr val="92D050"/>
                  </a:solidFill>
                </a:ln>
                <a:solidFill>
                  <a:srgbClr val="92D050"/>
                </a:solidFill>
                <a:effectLst/>
                <a:uLnTx/>
                <a:uFillTx/>
                <a:latin typeface="Cronos Pro"/>
                <a:ea typeface="+mn-ea"/>
                <a:cs typeface="+mn-cs"/>
              </a:endParaRPr>
            </a:p>
          </p:txBody>
        </p:sp>
        <p:cxnSp>
          <p:nvCxnSpPr>
            <p:cNvPr id="2049" name="Conector recto 101">
              <a:extLst>
                <a:ext uri="{FF2B5EF4-FFF2-40B4-BE49-F238E27FC236}">
                  <a16:creationId xmlns:a16="http://schemas.microsoft.com/office/drawing/2014/main" id="{C73FD368-AE38-BEA7-4B39-38300DE53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0119" y="1488172"/>
              <a:ext cx="10831" cy="5236478"/>
            </a:xfrm>
            <a:prstGeom prst="line">
              <a:avLst/>
            </a:prstGeom>
            <a:noFill/>
            <a:ln w="12700" cap="flat">
              <a:solidFill>
                <a:srgbClr val="FF0000"/>
              </a:solidFill>
              <a:prstDash val="dash"/>
              <a:round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28" name="CuadroTexto 75">
            <a:extLst>
              <a:ext uri="{FF2B5EF4-FFF2-40B4-BE49-F238E27FC236}">
                <a16:creationId xmlns:a16="http://schemas.microsoft.com/office/drawing/2014/main" id="{BF0AABC1-5586-9888-6D34-116F54012510}"/>
              </a:ext>
            </a:extLst>
          </p:cNvPr>
          <p:cNvSpPr txBox="1"/>
          <p:nvPr/>
        </p:nvSpPr>
        <p:spPr>
          <a:xfrm>
            <a:off x="5383706" y="2588333"/>
            <a:ext cx="673784" cy="238527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ronos Pro"/>
                <a:ea typeface="Calibri" charset="0"/>
                <a:cs typeface="Calibri" charset="0"/>
                <a:sym typeface="Helvetica Light"/>
              </a:rPr>
              <a:t>G3 (7/12)</a:t>
            </a:r>
          </a:p>
        </p:txBody>
      </p:sp>
      <p:sp>
        <p:nvSpPr>
          <p:cNvPr id="60" name="Rombo 74">
            <a:extLst>
              <a:ext uri="{FF2B5EF4-FFF2-40B4-BE49-F238E27FC236}">
                <a16:creationId xmlns:a16="http://schemas.microsoft.com/office/drawing/2014/main" id="{FA13811C-F1F6-D893-4DEF-4F0A7DE5EF0D}"/>
              </a:ext>
            </a:extLst>
          </p:cNvPr>
          <p:cNvSpPr/>
          <p:nvPr/>
        </p:nvSpPr>
        <p:spPr>
          <a:xfrm>
            <a:off x="6093664" y="4319201"/>
            <a:ext cx="72419" cy="102060"/>
          </a:xfrm>
          <a:prstGeom prst="diamond">
            <a:avLst/>
          </a:prstGeom>
          <a:solidFill>
            <a:schemeClr val="accent2"/>
          </a:solidFill>
          <a:ln w="12700" cap="flat">
            <a:solidFill>
              <a:schemeClr val="accent1"/>
            </a:solidFill>
            <a:prstDash val="solid"/>
            <a:round/>
          </a:ln>
          <a:effectLst>
            <a:outerShdw blurRad="254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29" name="CuadroTexto 73">
            <a:extLst>
              <a:ext uri="{FF2B5EF4-FFF2-40B4-BE49-F238E27FC236}">
                <a16:creationId xmlns:a16="http://schemas.microsoft.com/office/drawing/2014/main" id="{BC1A3058-EEBF-A4A6-8651-2D8198708C91}"/>
              </a:ext>
            </a:extLst>
          </p:cNvPr>
          <p:cNvSpPr txBox="1"/>
          <p:nvPr/>
        </p:nvSpPr>
        <p:spPr>
          <a:xfrm>
            <a:off x="5880585" y="4283476"/>
            <a:ext cx="1418105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>
            <a:defPPr>
              <a:defRPr lang="es-CO"/>
            </a:defPPr>
            <a:lvl1pPr marR="0" indent="0" algn="ctr" defTabSz="5842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ronos Pro"/>
                <a:cs typeface="Calibri" charset="0"/>
                <a:sym typeface="Helvetica Light"/>
              </a:rPr>
              <a:t>    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ronos Pro"/>
                <a:cs typeface="Calibri" charset="0"/>
                <a:sym typeface="Helvetica Light"/>
              </a:rPr>
              <a:t>OK migration Jun 15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ronos Pro"/>
                <a:cs typeface="Calibri" charset="0"/>
                <a:sym typeface="Helvetica Light"/>
              </a:rPr>
              <a:t>th</a:t>
            </a:r>
          </a:p>
        </p:txBody>
      </p:sp>
      <p:sp>
        <p:nvSpPr>
          <p:cNvPr id="8" name="CuadroTexto 73">
            <a:extLst>
              <a:ext uri="{FF2B5EF4-FFF2-40B4-BE49-F238E27FC236}">
                <a16:creationId xmlns:a16="http://schemas.microsoft.com/office/drawing/2014/main" id="{4F85C42C-066A-14D6-F216-7348D613AF78}"/>
              </a:ext>
            </a:extLst>
          </p:cNvPr>
          <p:cNvSpPr txBox="1"/>
          <p:nvPr/>
        </p:nvSpPr>
        <p:spPr>
          <a:xfrm>
            <a:off x="6337700" y="3881146"/>
            <a:ext cx="572596" cy="2000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Jun 30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  <a:sym typeface="Helvetica Light"/>
              </a:rPr>
              <a:t>th</a:t>
            </a:r>
          </a:p>
        </p:txBody>
      </p:sp>
    </p:spTree>
    <p:extLst>
      <p:ext uri="{BB962C8B-B14F-4D97-AF65-F5344CB8AC3E}">
        <p14:creationId xmlns:p14="http://schemas.microsoft.com/office/powerpoint/2010/main" val="840900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0033D"/>
          </a:solidFill>
          <a:ln w="12700">
            <a:solidFill>
              <a:srgbClr val="00033D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59C7EE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" name="Text 2"/>
          <p:cNvSpPr/>
          <p:nvPr/>
        </p:nvSpPr>
        <p:spPr>
          <a:xfrm>
            <a:off x="411480" y="32918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– Riesgos - Cierre</a:t>
            </a:r>
            <a:endParaRPr lang="es-ES_tradnl" sz="2600" dirty="0"/>
          </a:p>
        </p:txBody>
      </p:sp>
      <p:sp>
        <p:nvSpPr>
          <p:cNvPr id="6" name="Text 4"/>
          <p:cNvSpPr/>
          <p:nvPr/>
        </p:nvSpPr>
        <p:spPr>
          <a:xfrm>
            <a:off x="11814048" y="6528816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0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5768" y="124586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b="1" dirty="0">
                <a:solidFill>
                  <a:srgbClr val="68758A"/>
                </a:solidFill>
              </a:rPr>
              <a:t>Resumen:</a:t>
            </a:r>
            <a:endParaRPr lang="es-ES_tradnl" sz="1400" dirty="0"/>
          </a:p>
        </p:txBody>
      </p:sp>
      <p:sp>
        <p:nvSpPr>
          <p:cNvPr id="8" name="Shape 6"/>
          <p:cNvSpPr/>
          <p:nvPr/>
        </p:nvSpPr>
        <p:spPr>
          <a:xfrm>
            <a:off x="899170" y="1722711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1008898" y="1878159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33D"/>
                </a:solidFill>
              </a:rPr>
              <a:t>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45474" y="2253063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02B3C"/>
                </a:solidFill>
              </a:rPr>
              <a:t>Areas de Administracion y Finanzas involucradas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9490" y="1722711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Text 10"/>
          <p:cNvSpPr/>
          <p:nvPr/>
        </p:nvSpPr>
        <p:spPr>
          <a:xfrm>
            <a:off x="3569218" y="1878159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33D"/>
                </a:solidFill>
              </a:rPr>
              <a:t>17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05794" y="2253063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s-ES_tradnl" sz="1050" dirty="0">
                <a:solidFill>
                  <a:srgbClr val="202B3C"/>
                </a:solidFill>
              </a:rPr>
              <a:t>Sesiones de clarificación ejecutadas</a:t>
            </a:r>
            <a:endParaRPr lang="es-ES_tradnl" sz="1050" dirty="0"/>
          </a:p>
        </p:txBody>
      </p:sp>
      <p:sp>
        <p:nvSpPr>
          <p:cNvPr id="14" name="Shape 12"/>
          <p:cNvSpPr/>
          <p:nvPr/>
        </p:nvSpPr>
        <p:spPr>
          <a:xfrm>
            <a:off x="6019810" y="1722711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5" name="Text 13"/>
          <p:cNvSpPr/>
          <p:nvPr/>
        </p:nvSpPr>
        <p:spPr>
          <a:xfrm>
            <a:off x="6055396" y="1878159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33D"/>
                </a:solidFill>
              </a:rPr>
              <a:t>+ 100</a:t>
            </a:r>
          </a:p>
        </p:txBody>
      </p:sp>
      <p:sp>
        <p:nvSpPr>
          <p:cNvPr id="16" name="Text 14"/>
          <p:cNvSpPr/>
          <p:nvPr/>
        </p:nvSpPr>
        <p:spPr>
          <a:xfrm>
            <a:off x="6166114" y="2195397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ES_tradnl" sz="1000" dirty="0"/>
              <a:t>Procesos revisados</a:t>
            </a:r>
          </a:p>
        </p:txBody>
      </p:sp>
      <p:sp>
        <p:nvSpPr>
          <p:cNvPr id="17" name="Shape 15"/>
          <p:cNvSpPr/>
          <p:nvPr/>
        </p:nvSpPr>
        <p:spPr>
          <a:xfrm>
            <a:off x="8763010" y="1722711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Text 16"/>
          <p:cNvSpPr/>
          <p:nvPr/>
        </p:nvSpPr>
        <p:spPr>
          <a:xfrm>
            <a:off x="8872738" y="1878159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33D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909314" y="2253063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S_tradnl" sz="1050" dirty="0">
                <a:solidFill>
                  <a:srgbClr val="202B3C"/>
                </a:solidFill>
              </a:rPr>
              <a:t>Beneficios Financieros</a:t>
            </a:r>
            <a:endParaRPr lang="es-ES_tradnl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039080"/>
            <a:ext cx="5257800" cy="1085954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1" name="Shape 19"/>
          <p:cNvSpPr/>
          <p:nvPr/>
        </p:nvSpPr>
        <p:spPr>
          <a:xfrm>
            <a:off x="594360" y="3039080"/>
            <a:ext cx="73152" cy="1080000"/>
          </a:xfrm>
          <a:prstGeom prst="rect">
            <a:avLst/>
          </a:prstGeom>
          <a:solidFill>
            <a:srgbClr val="59C7EE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2" name="Text 20"/>
          <p:cNvSpPr/>
          <p:nvPr/>
        </p:nvSpPr>
        <p:spPr>
          <a:xfrm>
            <a:off x="813816" y="3101495"/>
            <a:ext cx="4910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500" b="1" dirty="0">
                <a:solidFill>
                  <a:srgbClr val="00033D"/>
                </a:solidFill>
              </a:rPr>
              <a:t>Mensaje clave</a:t>
            </a:r>
            <a:endParaRPr lang="es-ES_tradnl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3239657"/>
            <a:ext cx="4846320" cy="7536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150" dirty="0">
                <a:solidFill>
                  <a:srgbClr val="202B3C"/>
                </a:solidFill>
              </a:rPr>
              <a:t>El equipo de finanzas repaso los procesos E2E durante las sesiones y no se encontraron bloqueantes para el lanzamiento comercial del programa.</a:t>
            </a:r>
          </a:p>
        </p:txBody>
      </p:sp>
      <p:sp>
        <p:nvSpPr>
          <p:cNvPr id="24" name="Shape 22"/>
          <p:cNvSpPr/>
          <p:nvPr/>
        </p:nvSpPr>
        <p:spPr>
          <a:xfrm>
            <a:off x="6217920" y="3039080"/>
            <a:ext cx="5160264" cy="1085954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5" name="Shape 23"/>
          <p:cNvSpPr/>
          <p:nvPr/>
        </p:nvSpPr>
        <p:spPr>
          <a:xfrm>
            <a:off x="6217920" y="3039080"/>
            <a:ext cx="73152" cy="1080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6" name="Text 24"/>
          <p:cNvSpPr/>
          <p:nvPr/>
        </p:nvSpPr>
        <p:spPr>
          <a:xfrm>
            <a:off x="6437376" y="3088012"/>
            <a:ext cx="5001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500" b="1" dirty="0">
                <a:solidFill>
                  <a:srgbClr val="00033D"/>
                </a:solidFill>
              </a:rPr>
              <a:t>Pendientes de menor impacto</a:t>
            </a:r>
            <a:endParaRPr lang="es-ES_tradnl" sz="1500" dirty="0"/>
          </a:p>
        </p:txBody>
      </p:sp>
      <p:sp>
        <p:nvSpPr>
          <p:cNvPr id="27" name="Text 25"/>
          <p:cNvSpPr/>
          <p:nvPr/>
        </p:nvSpPr>
        <p:spPr>
          <a:xfrm>
            <a:off x="6492240" y="3319022"/>
            <a:ext cx="4937760" cy="94568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150" dirty="0">
                <a:solidFill>
                  <a:srgbClr val="202B3C"/>
                </a:solidFill>
              </a:rPr>
              <a:t>Continuar las sesiones con  el stream de reportes, controles y Conciliaciones. 30/09.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150" dirty="0">
                <a:solidFill>
                  <a:srgbClr val="202B3C"/>
                </a:solidFill>
              </a:rPr>
              <a:t>Finalizar el POC de inventario, test de Notas de crédito y materialidad.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150" dirty="0">
                <a:solidFill>
                  <a:srgbClr val="202B3C"/>
                </a:solidFill>
              </a:rPr>
              <a:t>Entrega y ejecución del plan de pruebas de cada área de finanzas.</a:t>
            </a:r>
          </a:p>
          <a:p>
            <a:endParaRPr lang="es-ES_tradnl" sz="120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7A00DC29-A490-BBC2-CE12-D35194046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192" y="145796"/>
            <a:ext cx="990600" cy="736600"/>
          </a:xfrm>
          <a:prstGeom prst="rect">
            <a:avLst/>
          </a:prstGeom>
        </p:spPr>
      </p:pic>
      <p:sp>
        <p:nvSpPr>
          <p:cNvPr id="5" name="Shape 5">
            <a:extLst>
              <a:ext uri="{FF2B5EF4-FFF2-40B4-BE49-F238E27FC236}">
                <a16:creationId xmlns:a16="http://schemas.microsoft.com/office/drawing/2014/main" id="{D60C6248-5393-AAC8-AD12-9C5E0E92591F}"/>
              </a:ext>
            </a:extLst>
          </p:cNvPr>
          <p:cNvSpPr/>
          <p:nvPr/>
        </p:nvSpPr>
        <p:spPr>
          <a:xfrm>
            <a:off x="3331208" y="4395872"/>
            <a:ext cx="4978680" cy="1340687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AC7EF6BB-4DD7-DE98-CCE8-F28432F1379E}"/>
              </a:ext>
            </a:extLst>
          </p:cNvPr>
          <p:cNvSpPr/>
          <p:nvPr/>
        </p:nvSpPr>
        <p:spPr>
          <a:xfrm>
            <a:off x="3316921" y="4395412"/>
            <a:ext cx="73152" cy="1332000"/>
          </a:xfrm>
          <a:prstGeom prst="rect">
            <a:avLst/>
          </a:prstGeom>
          <a:solidFill>
            <a:srgbClr val="59C7EE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02BFA476-B56A-23D6-EC1E-3168838B3E0A}"/>
              </a:ext>
            </a:extLst>
          </p:cNvPr>
          <p:cNvSpPr/>
          <p:nvPr/>
        </p:nvSpPr>
        <p:spPr>
          <a:xfrm>
            <a:off x="3536375" y="4489026"/>
            <a:ext cx="4033467" cy="136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500" b="1" dirty="0">
                <a:solidFill>
                  <a:srgbClr val="00033D"/>
                </a:solidFill>
              </a:rPr>
              <a:t>Beneficios de migrar en Noviembre ( $1.6 MM)</a:t>
            </a:r>
            <a:endParaRPr lang="es-ES_tradnl" sz="1500" dirty="0"/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0AE538F9-865D-BAAB-90CB-9C2B77551E31}"/>
              </a:ext>
            </a:extLst>
          </p:cNvPr>
          <p:cNvSpPr/>
          <p:nvPr/>
        </p:nvSpPr>
        <p:spPr>
          <a:xfrm>
            <a:off x="4264749" y="4856388"/>
            <a:ext cx="31546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s-ES_tradnl" sz="1150" dirty="0"/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67F3C3EA-76EA-EC98-3257-A0B5B11B290C}"/>
              </a:ext>
            </a:extLst>
          </p:cNvPr>
          <p:cNvSpPr/>
          <p:nvPr/>
        </p:nvSpPr>
        <p:spPr>
          <a:xfrm>
            <a:off x="3574097" y="4652923"/>
            <a:ext cx="5051832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ES" sz="1150" dirty="0">
              <a:solidFill>
                <a:srgbClr val="202B3C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50" dirty="0">
                <a:solidFill>
                  <a:srgbClr val="202B3C"/>
                </a:solidFill>
              </a:rPr>
              <a:t>Saving en Licencias S1GA. ($ 800K)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50" dirty="0">
                <a:solidFill>
                  <a:srgbClr val="202B3C"/>
                </a:solidFill>
              </a:rPr>
              <a:t>Saving de costos operativos del ecosistema actual. ($ 300K)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50" dirty="0">
                <a:solidFill>
                  <a:srgbClr val="202B3C"/>
                </a:solidFill>
              </a:rPr>
              <a:t>Saving en incidentes por obsolescencia y riesgo operativo. ($ 100K p/e)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50" dirty="0">
                <a:solidFill>
                  <a:srgbClr val="202B3C"/>
                </a:solidFill>
              </a:rPr>
              <a:t>Saving en el costo del programa.  ( $ 400K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202B3C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202B3C"/>
              </a:solidFill>
            </a:endParaRPr>
          </a:p>
          <a:p>
            <a:endParaRPr lang="en-US" sz="1200" dirty="0"/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0D0BC190-524E-AB32-3E5F-703C0181BC8E}"/>
              </a:ext>
            </a:extLst>
          </p:cNvPr>
          <p:cNvSpPr/>
          <p:nvPr/>
        </p:nvSpPr>
        <p:spPr>
          <a:xfrm>
            <a:off x="1841724" y="6016827"/>
            <a:ext cx="8447332" cy="428055"/>
          </a:xfrm>
          <a:prstGeom prst="roundRect">
            <a:avLst>
              <a:gd name="adj" fmla="val 7619"/>
            </a:avLst>
          </a:prstGeom>
          <a:solidFill>
            <a:srgbClr val="EEF9FD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6C8B426D-7A73-37C6-BF1C-20C885CA3106}"/>
              </a:ext>
            </a:extLst>
          </p:cNvPr>
          <p:cNvSpPr/>
          <p:nvPr/>
        </p:nvSpPr>
        <p:spPr>
          <a:xfrm>
            <a:off x="2073236" y="6122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500" b="1" dirty="0">
                <a:solidFill>
                  <a:srgbClr val="00033D"/>
                </a:solidFill>
              </a:rPr>
              <a:t>Cierre ejecutivo:</a:t>
            </a:r>
            <a:endParaRPr lang="es-ES_tradnl" sz="1500" dirty="0"/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31A481F7-7D27-9133-0C76-08F1BD72BDC1}"/>
              </a:ext>
            </a:extLst>
          </p:cNvPr>
          <p:cNvSpPr/>
          <p:nvPr/>
        </p:nvSpPr>
        <p:spPr>
          <a:xfrm>
            <a:off x="3580559" y="5763467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S_tradnl" sz="1300" dirty="0">
                <a:solidFill>
                  <a:srgbClr val="202B3C"/>
                </a:solidFill>
              </a:rPr>
              <a:t>Por el lado de finanzas no se identifican puntos bloqueantes para la migración de Noviembre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065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0033D"/>
          </a:solidFill>
          <a:ln w="12700">
            <a:solidFill>
              <a:srgbClr val="00033D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59C7EE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" name="Text 2"/>
          <p:cNvSpPr/>
          <p:nvPr/>
        </p:nvSpPr>
        <p:spPr>
          <a:xfrm>
            <a:off x="411480" y="32918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Áreas involucradas y lideres</a:t>
            </a:r>
            <a:endParaRPr lang="es-ES_tradnl" sz="2600" dirty="0"/>
          </a:p>
        </p:txBody>
      </p:sp>
      <p:sp>
        <p:nvSpPr>
          <p:cNvPr id="6" name="Text 4"/>
          <p:cNvSpPr/>
          <p:nvPr/>
        </p:nvSpPr>
        <p:spPr>
          <a:xfrm>
            <a:off x="11814048" y="6528816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0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 w="12700">
            <a:solidFill>
              <a:srgbClr val="D9E2ED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" name="Text 6"/>
          <p:cNvSpPr/>
          <p:nvPr/>
        </p:nvSpPr>
        <p:spPr>
          <a:xfrm>
            <a:off x="758952" y="1554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s-ES_tradnl" sz="1400" b="1" dirty="0">
                <a:solidFill>
                  <a:srgbClr val="00033D"/>
                </a:solidFill>
              </a:rPr>
              <a:t>Tesorería y Cobranza</a:t>
            </a:r>
            <a:endParaRPr lang="es-ES_tradnl" sz="1400" dirty="0"/>
          </a:p>
        </p:txBody>
      </p:sp>
      <p:sp>
        <p:nvSpPr>
          <p:cNvPr id="9" name="Text 7"/>
          <p:cNvSpPr/>
          <p:nvPr/>
        </p:nvSpPr>
        <p:spPr>
          <a:xfrm>
            <a:off x="758952" y="1801368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950" dirty="0">
                <a:solidFill>
                  <a:srgbClr val="68758A"/>
                </a:solidFill>
              </a:rPr>
              <a:t>Tania Landívar</a:t>
            </a:r>
            <a:endParaRPr lang="es-ES_tradnl" sz="950" dirty="0"/>
          </a:p>
        </p:txBody>
      </p:sp>
      <p:sp>
        <p:nvSpPr>
          <p:cNvPr id="10" name="Shape 8"/>
          <p:cNvSpPr/>
          <p:nvPr/>
        </p:nvSpPr>
        <p:spPr>
          <a:xfrm>
            <a:off x="3355848" y="1536192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59C7EE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1" name="Text 9"/>
          <p:cNvSpPr/>
          <p:nvPr/>
        </p:nvSpPr>
        <p:spPr>
          <a:xfrm>
            <a:off x="3364992" y="159562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900" b="1" dirty="0">
                <a:solidFill>
                  <a:srgbClr val="00033D"/>
                </a:solidFill>
              </a:rPr>
              <a:t>5 sesiones</a:t>
            </a:r>
            <a:endParaRPr lang="es-ES_tradnl" sz="900" dirty="0"/>
          </a:p>
        </p:txBody>
      </p:sp>
      <p:sp>
        <p:nvSpPr>
          <p:cNvPr id="12" name="Text 10"/>
          <p:cNvSpPr/>
          <p:nvPr/>
        </p:nvSpPr>
        <p:spPr>
          <a:xfrm>
            <a:off x="758952" y="2075688"/>
            <a:ext cx="32004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s-ES_tradnl" sz="1020" dirty="0">
                <a:solidFill>
                  <a:srgbClr val="202B3C"/>
                </a:solidFill>
              </a:rPr>
              <a:t>Deuda castigada; exoneraciones de corte; débitos automáticos; debt collection y refinanciamientos; reportes/cubos/conciliaciones.</a:t>
            </a:r>
            <a:endParaRPr lang="es-ES_tradnl" sz="1020" dirty="0"/>
          </a:p>
        </p:txBody>
      </p:sp>
      <p:sp>
        <p:nvSpPr>
          <p:cNvPr id="13" name="Shape 11"/>
          <p:cNvSpPr/>
          <p:nvPr/>
        </p:nvSpPr>
        <p:spPr>
          <a:xfrm>
            <a:off x="4343400" y="14173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 w="12700">
            <a:solidFill>
              <a:srgbClr val="D9E2ED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4" name="Text 12"/>
          <p:cNvSpPr/>
          <p:nvPr/>
        </p:nvSpPr>
        <p:spPr>
          <a:xfrm>
            <a:off x="4507992" y="1554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s-ES_tradnl" sz="1400" b="1" dirty="0">
                <a:solidFill>
                  <a:srgbClr val="00033D"/>
                </a:solidFill>
              </a:rPr>
              <a:t>Contabilidad</a:t>
            </a:r>
            <a:endParaRPr lang="es-ES_tradnl" sz="1400" dirty="0"/>
          </a:p>
        </p:txBody>
      </p:sp>
      <p:sp>
        <p:nvSpPr>
          <p:cNvPr id="15" name="Text 13"/>
          <p:cNvSpPr/>
          <p:nvPr/>
        </p:nvSpPr>
        <p:spPr>
          <a:xfrm>
            <a:off x="4507992" y="1801368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950" dirty="0">
                <a:solidFill>
                  <a:srgbClr val="68758A"/>
                </a:solidFill>
              </a:rPr>
              <a:t>Andrea Calvimontes</a:t>
            </a:r>
            <a:endParaRPr lang="es-ES_tradnl" sz="950" dirty="0"/>
          </a:p>
        </p:txBody>
      </p:sp>
      <p:sp>
        <p:nvSpPr>
          <p:cNvPr id="16" name="Shape 14"/>
          <p:cNvSpPr/>
          <p:nvPr/>
        </p:nvSpPr>
        <p:spPr>
          <a:xfrm>
            <a:off x="7104888" y="1536192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59C7EE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7" name="Text 15"/>
          <p:cNvSpPr/>
          <p:nvPr/>
        </p:nvSpPr>
        <p:spPr>
          <a:xfrm>
            <a:off x="7114032" y="159562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900" b="1" dirty="0">
                <a:solidFill>
                  <a:srgbClr val="00033D"/>
                </a:solidFill>
              </a:rPr>
              <a:t>2 sesiones</a:t>
            </a:r>
            <a:endParaRPr lang="es-ES_tradnl" sz="900" dirty="0"/>
          </a:p>
        </p:txBody>
      </p:sp>
      <p:sp>
        <p:nvSpPr>
          <p:cNvPr id="18" name="Text 16"/>
          <p:cNvSpPr/>
          <p:nvPr/>
        </p:nvSpPr>
        <p:spPr>
          <a:xfrm>
            <a:off x="4507992" y="2075688"/>
            <a:ext cx="32004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s-ES_tradnl" sz="1020" dirty="0">
                <a:solidFill>
                  <a:srgbClr val="202B3C"/>
                </a:solidFill>
              </a:rPr>
              <a:t>Inventario de SIM, scratch cards y equipos continua en BCCS/S1GA; foco en reportes, cubos y conciliaciones.</a:t>
            </a:r>
          </a:p>
          <a:p>
            <a:pPr marL="0" indent="0">
              <a:buNone/>
            </a:pPr>
            <a:r>
              <a:rPr lang="es-ES_tradnl" sz="1020" dirty="0"/>
              <a:t>Continuidad contable y trazabilidad de inventarios.</a:t>
            </a:r>
          </a:p>
        </p:txBody>
      </p:sp>
      <p:sp>
        <p:nvSpPr>
          <p:cNvPr id="19" name="Shape 17"/>
          <p:cNvSpPr/>
          <p:nvPr/>
        </p:nvSpPr>
        <p:spPr>
          <a:xfrm>
            <a:off x="8092440" y="14173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 w="12700">
            <a:solidFill>
              <a:srgbClr val="D9E2ED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0" name="Text 18"/>
          <p:cNvSpPr/>
          <p:nvPr/>
        </p:nvSpPr>
        <p:spPr>
          <a:xfrm>
            <a:off x="8257032" y="1554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s-ES_tradnl" sz="1400" b="1" dirty="0">
                <a:solidFill>
                  <a:srgbClr val="00033D"/>
                </a:solidFill>
              </a:rPr>
              <a:t>Taxes</a:t>
            </a:r>
            <a:endParaRPr lang="es-ES_tradnl" sz="1400" dirty="0"/>
          </a:p>
        </p:txBody>
      </p:sp>
      <p:sp>
        <p:nvSpPr>
          <p:cNvPr id="21" name="Text 19"/>
          <p:cNvSpPr/>
          <p:nvPr/>
        </p:nvSpPr>
        <p:spPr>
          <a:xfrm>
            <a:off x="8257032" y="1801368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950" dirty="0">
                <a:solidFill>
                  <a:srgbClr val="68758A"/>
                </a:solidFill>
              </a:rPr>
              <a:t>Paola Camacho</a:t>
            </a:r>
            <a:endParaRPr lang="es-ES_tradnl" sz="950" dirty="0"/>
          </a:p>
        </p:txBody>
      </p:sp>
      <p:sp>
        <p:nvSpPr>
          <p:cNvPr id="22" name="Shape 20"/>
          <p:cNvSpPr/>
          <p:nvPr/>
        </p:nvSpPr>
        <p:spPr>
          <a:xfrm>
            <a:off x="10853928" y="1536192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59C7EE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3" name="Text 21"/>
          <p:cNvSpPr/>
          <p:nvPr/>
        </p:nvSpPr>
        <p:spPr>
          <a:xfrm>
            <a:off x="10863072" y="159562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900" b="1" dirty="0">
                <a:solidFill>
                  <a:srgbClr val="00033D"/>
                </a:solidFill>
              </a:rPr>
              <a:t>3 sesiones</a:t>
            </a:r>
            <a:endParaRPr lang="es-ES_tradnl" sz="900" dirty="0"/>
          </a:p>
        </p:txBody>
      </p:sp>
      <p:sp>
        <p:nvSpPr>
          <p:cNvPr id="24" name="Text 22"/>
          <p:cNvSpPr/>
          <p:nvPr/>
        </p:nvSpPr>
        <p:spPr>
          <a:xfrm>
            <a:off x="8257032" y="2075688"/>
            <a:ext cx="32004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s-ES_tradnl" sz="1020" dirty="0">
                <a:solidFill>
                  <a:srgbClr val="202B3C"/>
                </a:solidFill>
              </a:rPr>
              <a:t>FRS de facturación; consistencia Billing, Kraken y SIN; reportes, cubos y conciliaciones.</a:t>
            </a:r>
            <a:endParaRPr lang="es-ES_tradnl" sz="1020" dirty="0"/>
          </a:p>
        </p:txBody>
      </p:sp>
      <p:sp>
        <p:nvSpPr>
          <p:cNvPr id="25" name="Shape 23"/>
          <p:cNvSpPr/>
          <p:nvPr/>
        </p:nvSpPr>
        <p:spPr>
          <a:xfrm>
            <a:off x="594360" y="329184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4F6F8"/>
          </a:solidFill>
          <a:ln w="12700">
            <a:solidFill>
              <a:srgbClr val="D9E2ED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6" name="Text 24"/>
          <p:cNvSpPr/>
          <p:nvPr/>
        </p:nvSpPr>
        <p:spPr>
          <a:xfrm>
            <a:off x="758952" y="34290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s-ES_tradnl" sz="1400" b="1" dirty="0">
                <a:solidFill>
                  <a:srgbClr val="00033D"/>
                </a:solidFill>
              </a:rPr>
              <a:t>Logística</a:t>
            </a:r>
            <a:endParaRPr lang="es-ES_tradnl" sz="1400" dirty="0"/>
          </a:p>
        </p:txBody>
      </p:sp>
      <p:sp>
        <p:nvSpPr>
          <p:cNvPr id="27" name="Text 25"/>
          <p:cNvSpPr/>
          <p:nvPr/>
        </p:nvSpPr>
        <p:spPr>
          <a:xfrm>
            <a:off x="758952" y="3675888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950" dirty="0">
                <a:solidFill>
                  <a:srgbClr val="68758A"/>
                </a:solidFill>
              </a:rPr>
              <a:t>Leslie Loayza</a:t>
            </a:r>
            <a:endParaRPr lang="es-ES_tradnl" sz="950" dirty="0"/>
          </a:p>
        </p:txBody>
      </p:sp>
      <p:sp>
        <p:nvSpPr>
          <p:cNvPr id="28" name="Shape 26"/>
          <p:cNvSpPr/>
          <p:nvPr/>
        </p:nvSpPr>
        <p:spPr>
          <a:xfrm>
            <a:off x="3355848" y="3410712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59C7EE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9" name="Text 27"/>
          <p:cNvSpPr/>
          <p:nvPr/>
        </p:nvSpPr>
        <p:spPr>
          <a:xfrm>
            <a:off x="3364992" y="347014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900" b="1" dirty="0">
                <a:solidFill>
                  <a:srgbClr val="00033D"/>
                </a:solidFill>
              </a:rPr>
              <a:t>3 sesiones</a:t>
            </a:r>
            <a:endParaRPr lang="es-ES_tradnl" sz="900" dirty="0"/>
          </a:p>
        </p:txBody>
      </p:sp>
      <p:sp>
        <p:nvSpPr>
          <p:cNvPr id="30" name="Text 28"/>
          <p:cNvSpPr/>
          <p:nvPr/>
        </p:nvSpPr>
        <p:spPr>
          <a:xfrm>
            <a:off x="758952" y="3950208"/>
            <a:ext cx="320040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s-ES_tradnl" sz="1020" dirty="0">
                <a:solidFill>
                  <a:srgbClr val="202B3C"/>
                </a:solidFill>
              </a:rPr>
              <a:t>SIM Card mantiene modelo actual; Equipos/IMEI requiere diseño; BCCS/EBS/S1GA como referencia; integración SnC/CBS. Pruebas de concepto BCCS y S1GA.</a:t>
            </a:r>
          </a:p>
        </p:txBody>
      </p:sp>
      <p:sp>
        <p:nvSpPr>
          <p:cNvPr id="31" name="Shape 29"/>
          <p:cNvSpPr/>
          <p:nvPr/>
        </p:nvSpPr>
        <p:spPr>
          <a:xfrm>
            <a:off x="4343400" y="329184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4F6F8"/>
          </a:solidFill>
          <a:ln w="12700">
            <a:solidFill>
              <a:srgbClr val="D9E2ED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32" name="Text 30"/>
          <p:cNvSpPr/>
          <p:nvPr/>
        </p:nvSpPr>
        <p:spPr>
          <a:xfrm>
            <a:off x="4507992" y="34290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s-ES_tradnl" sz="1400" b="1" dirty="0">
                <a:solidFill>
                  <a:srgbClr val="00033D"/>
                </a:solidFill>
              </a:rPr>
              <a:t>FPA</a:t>
            </a:r>
            <a:endParaRPr lang="es-ES_tradnl" sz="1400" dirty="0"/>
          </a:p>
        </p:txBody>
      </p:sp>
      <p:sp>
        <p:nvSpPr>
          <p:cNvPr id="33" name="Text 31"/>
          <p:cNvSpPr/>
          <p:nvPr/>
        </p:nvSpPr>
        <p:spPr>
          <a:xfrm>
            <a:off x="4507992" y="3675888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950" dirty="0">
                <a:solidFill>
                  <a:srgbClr val="68758A"/>
                </a:solidFill>
              </a:rPr>
              <a:t>Carola Balcázar</a:t>
            </a:r>
            <a:endParaRPr lang="es-ES_tradnl" sz="950" dirty="0"/>
          </a:p>
        </p:txBody>
      </p:sp>
      <p:sp>
        <p:nvSpPr>
          <p:cNvPr id="34" name="Shape 32"/>
          <p:cNvSpPr/>
          <p:nvPr/>
        </p:nvSpPr>
        <p:spPr>
          <a:xfrm>
            <a:off x="7104888" y="3410712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59C7EE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35" name="Text 33"/>
          <p:cNvSpPr/>
          <p:nvPr/>
        </p:nvSpPr>
        <p:spPr>
          <a:xfrm>
            <a:off x="7114032" y="347014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900" b="1" dirty="0">
                <a:solidFill>
                  <a:srgbClr val="00033D"/>
                </a:solidFill>
              </a:rPr>
              <a:t>2 sesiones</a:t>
            </a:r>
            <a:endParaRPr lang="es-ES_tradnl" sz="900" dirty="0"/>
          </a:p>
        </p:txBody>
      </p:sp>
      <p:sp>
        <p:nvSpPr>
          <p:cNvPr id="36" name="Text 34"/>
          <p:cNvSpPr/>
          <p:nvPr/>
        </p:nvSpPr>
        <p:spPr>
          <a:xfrm>
            <a:off x="4507992" y="3950208"/>
            <a:ext cx="320040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s-ES_tradnl" sz="1020" dirty="0">
                <a:solidFill>
                  <a:srgbClr val="202B3C"/>
                </a:solidFill>
              </a:rPr>
              <a:t>Cubos de CRMs y Billings actuales son insumo de gestion; se compartieron cubos utilizados para asegurar disponibilidad en SnC/CBS.</a:t>
            </a:r>
            <a:endParaRPr lang="es-ES_tradnl" sz="1020" dirty="0"/>
          </a:p>
        </p:txBody>
      </p:sp>
      <p:sp>
        <p:nvSpPr>
          <p:cNvPr id="37" name="Shape 35"/>
          <p:cNvSpPr/>
          <p:nvPr/>
        </p:nvSpPr>
        <p:spPr>
          <a:xfrm>
            <a:off x="8092440" y="329184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4F6F8"/>
          </a:solidFill>
          <a:ln w="12700">
            <a:solidFill>
              <a:srgbClr val="D9E2ED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38" name="Text 36"/>
          <p:cNvSpPr/>
          <p:nvPr/>
        </p:nvSpPr>
        <p:spPr>
          <a:xfrm>
            <a:off x="8257032" y="34290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s-ES_tradnl" sz="1400" b="1" dirty="0">
                <a:solidFill>
                  <a:srgbClr val="00033D"/>
                </a:solidFill>
              </a:rPr>
              <a:t>RA</a:t>
            </a:r>
            <a:endParaRPr lang="es-ES_tradnl" sz="1400" dirty="0"/>
          </a:p>
        </p:txBody>
      </p:sp>
      <p:sp>
        <p:nvSpPr>
          <p:cNvPr id="39" name="Text 37"/>
          <p:cNvSpPr/>
          <p:nvPr/>
        </p:nvSpPr>
        <p:spPr>
          <a:xfrm>
            <a:off x="8257032" y="3675888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950" dirty="0">
                <a:solidFill>
                  <a:srgbClr val="68758A"/>
                </a:solidFill>
              </a:rPr>
              <a:t>Vanessa Aponte</a:t>
            </a:r>
            <a:endParaRPr lang="es-ES_tradnl" sz="950" dirty="0"/>
          </a:p>
        </p:txBody>
      </p:sp>
      <p:sp>
        <p:nvSpPr>
          <p:cNvPr id="40" name="Shape 38"/>
          <p:cNvSpPr/>
          <p:nvPr/>
        </p:nvSpPr>
        <p:spPr>
          <a:xfrm>
            <a:off x="10853928" y="3410712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59C7EE"/>
          </a:solidFill>
          <a:ln w="12700">
            <a:solidFill>
              <a:srgbClr val="59C7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1" name="Text 39"/>
          <p:cNvSpPr/>
          <p:nvPr/>
        </p:nvSpPr>
        <p:spPr>
          <a:xfrm>
            <a:off x="10863072" y="347014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900" b="1" dirty="0">
                <a:solidFill>
                  <a:srgbClr val="00033D"/>
                </a:solidFill>
              </a:rPr>
              <a:t>2 sesiones</a:t>
            </a:r>
            <a:endParaRPr lang="es-ES_tradnl" sz="900" dirty="0"/>
          </a:p>
        </p:txBody>
      </p:sp>
      <p:sp>
        <p:nvSpPr>
          <p:cNvPr id="42" name="Text 40"/>
          <p:cNvSpPr/>
          <p:nvPr/>
        </p:nvSpPr>
        <p:spPr>
          <a:xfrm>
            <a:off x="8257032" y="3950208"/>
            <a:ext cx="320040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s-ES_tradnl" sz="1020" dirty="0">
                <a:solidFill>
                  <a:srgbClr val="202B3C"/>
                </a:solidFill>
              </a:rPr>
              <a:t>E2E de arquitectura,  Revenue E2E desde activación, oferta y conciliación. </a:t>
            </a:r>
          </a:p>
          <a:p>
            <a:r>
              <a:rPr lang="es-ES_tradnl" sz="1020" dirty="0">
                <a:solidFill>
                  <a:srgbClr val="202B3C"/>
                </a:solidFill>
              </a:rPr>
              <a:t>Se requiere definir Roles/accesos y plan de conciliación.</a:t>
            </a:r>
          </a:p>
        </p:txBody>
      </p:sp>
      <p:sp>
        <p:nvSpPr>
          <p:cNvPr id="43" name="Text 41"/>
          <p:cNvSpPr/>
          <p:nvPr/>
        </p:nvSpPr>
        <p:spPr>
          <a:xfrm>
            <a:off x="594360" y="5532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s-ES_tradnl" sz="1300" b="1" dirty="0">
              <a:solidFill>
                <a:srgbClr val="202B3C"/>
              </a:solidFill>
            </a:endParaRPr>
          </a:p>
          <a:p>
            <a:pPr marL="0" indent="0" algn="ctr">
              <a:buNone/>
            </a:pPr>
            <a:r>
              <a:rPr lang="es-ES_tradnl" sz="1300" b="1" dirty="0">
                <a:solidFill>
                  <a:srgbClr val="202B3C"/>
                </a:solidFill>
              </a:rPr>
              <a:t>Las dependencias de datos, reportes y pruebas son transversales.</a:t>
            </a:r>
            <a:endParaRPr lang="es-ES_tradnl" sz="1300" dirty="0"/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3D814AEC-A58E-9C04-7077-E6149FA43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192" y="166624"/>
            <a:ext cx="990600" cy="7366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Mariano v2">
      <a:dk1>
        <a:srgbClr val="002060"/>
      </a:dk1>
      <a:lt1>
        <a:srgbClr val="FFFFFF"/>
      </a:lt1>
      <a:dk2>
        <a:srgbClr val="44546A"/>
      </a:dk2>
      <a:lt2>
        <a:srgbClr val="E7E6E6"/>
      </a:lt2>
      <a:accent1>
        <a:srgbClr val="244990"/>
      </a:accent1>
      <a:accent2>
        <a:srgbClr val="00BDF2"/>
      </a:accent2>
      <a:accent3>
        <a:srgbClr val="7F7F7F"/>
      </a:accent3>
      <a:accent4>
        <a:srgbClr val="FFBE00"/>
      </a:accent4>
      <a:accent5>
        <a:srgbClr val="05005B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o 1">
      <a:majorFont>
        <a:latin typeface="Cronos Pro"/>
        <a:ea typeface=""/>
        <a:cs typeface=""/>
      </a:majorFont>
      <a:minorFont>
        <a:latin typeface="Crono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8917A859-0716-4AD7-B364-0C8EA9991AA8}" vid="{9B9F7217-DF01-41F5-9048-69BC3FD48665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898</Words>
  <Application>Microsoft Macintosh PowerPoint</Application>
  <PresentationFormat>Panorámica</PresentationFormat>
  <Paragraphs>204</Paragraphs>
  <Slides>6</Slides>
  <Notes>5</Notes>
  <HiddenSlides>1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Cronos Pro</vt:lpstr>
      <vt:lpstr>Cronos Pro Caption</vt:lpstr>
      <vt:lpstr>Helvetica Light</vt:lpstr>
      <vt:lpstr>Office Theme</vt:lpstr>
      <vt:lpstr>1_Tema de Office</vt:lpstr>
      <vt:lpstr>Diapositiva de think-cell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Tigo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Refresh Transformacion - Administracion y Finanzas</dc:title>
  <dc:subject>Sesiones de clarificacion con Administracion y Finanzas</dc:subject>
  <dc:creator>OpenAI</dc:creator>
  <cp:lastModifiedBy>Carlos Pizarro Jimenez</cp:lastModifiedBy>
  <cp:revision>21</cp:revision>
  <dcterms:created xsi:type="dcterms:W3CDTF">2026-05-22T14:09:16Z</dcterms:created>
  <dcterms:modified xsi:type="dcterms:W3CDTF">2026-06-11T19:05:09Z</dcterms:modified>
</cp:coreProperties>
</file>