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Tiempo: 12-15 min. Bienvenida cálida, pregunta inicial: ¿Alguna vez lograste algo grande completamente solo?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 la definición oficial. Enfatiza 'latiendo como un solo TIGO' — todos conectados, un solo corazón.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Cuenta la historia con pausa dramática. Haz la distinción: llegar RÁPIDO vs llegar LEJOS. ¿Cuál elige Tigo? Lejos.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Pregunta: ¿Cuándo fue la última vez que pediste ayuda a alguien de otra área?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Recorre cada columna lentamente. Para en 1-2 que resuenen y pregunta: ¿Cuál de estos reconocen en su equipo?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Tiempo: 2 min. Pregunta: ¿Les ha pasado algo así? ¿Qué hicieron?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Conecta con Somos Ágiles — ciclos cortos de decisión colaborativa.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Pregunta: ¿Qué silo existe en tu área o con otra área que necesitas romper?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Conecta cada regla con un comportamiento concreto de colaboración.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Estos son los antivalores más frecuentes. Menciona que todos los hemos vivido — el objetivo es reconocerlos para evitarlos.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Preguntas: ¿Tu equipo se siente seguro para pedir ayuda? ¿Para decir 'no sé'? ¿Para cometer errores?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dinámica es muy poderosa. Deja el espacio de silencio cuando escriben. No apures.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Deja 2 minutos de silencio real. Luego invita voluntarios.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Pide que lean su compromiso a la persona sentada al lado. Compromiso en voz alta = mayor probabilidad de cumplimiento.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Aplausos. Transición energizante al siguiente valor o cierre de sesión.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 estas notas como referencia rápida. El guion completo está en el documento Guion_Facilitador_Completo.docx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8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731520"/>
            <a:ext cx="2560320" cy="2560320"/>
          </a:xfrm>
          <a:prstGeom prst="ellipse">
            <a:avLst/>
          </a:prstGeom>
          <a:solidFill>
            <a:srgbClr val="00A0DC">
              <a:alpha val="15000"/>
            </a:srgbClr>
          </a:solidFill>
          <a:ln w="12700">
            <a:solidFill>
              <a:srgbClr val="00A0D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657600"/>
            <a:ext cx="2194560" cy="2194560"/>
          </a:xfrm>
          <a:prstGeom prst="ellipse">
            <a:avLst/>
          </a:prstGeom>
          <a:solidFill>
            <a:srgbClr val="FFC72C">
              <a:alpha val="12000"/>
            </a:srgbClr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Somos Colaborativos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8346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Avanzamos y construimos juntos nuestro futuro.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Latiendo como un solo TIGO.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4480560"/>
            <a:ext cx="164592" cy="164592"/>
          </a:xfrm>
          <a:prstGeom prst="ellipse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4480560"/>
            <a:ext cx="164592" cy="164592"/>
          </a:xfrm>
          <a:prstGeom prst="ellipse">
            <a:avLst/>
          </a:prstGeom>
          <a:solidFill>
            <a:srgbClr val="00A0DC"/>
          </a:solidFill>
          <a:ln w="12700">
            <a:solidFill>
              <a:srgbClr val="00A0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8720" y="4480560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0" y="4663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sangre tigô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28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914400"/>
            <a:ext cx="2743200" cy="2743200"/>
          </a:xfrm>
          <a:prstGeom prst="ellipse">
            <a:avLst/>
          </a:prstGeom>
          <a:solidFill>
            <a:srgbClr val="00A0DC">
              <a:alpha val="13000"/>
            </a:srgbClr>
          </a:solidFill>
          <a:ln w="12700">
            <a:solidFill>
              <a:srgbClr val="00A0D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SOMOS COLABORATIVOS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3474720" y="2148840"/>
            <a:ext cx="2194560" cy="64008"/>
          </a:xfrm>
          <a:prstGeom prst="roundRect">
            <a:avLst>
              <a:gd name="adj" fmla="val 42857"/>
            </a:avLst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377440"/>
            <a:ext cx="7680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A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Incluimos y valoramos cada voz, latiendo como un solo TIGO.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0" y="4663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sangre tigô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historia del barco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oundRect">
            <a:avLst>
              <a:gd name="adj" fmla="val 50000"/>
            </a:avLst>
          </a:prstGeom>
          <a:solidFill>
            <a:srgbClr val="00A0DC"/>
          </a:solidFill>
          <a:ln w="12700">
            <a:solidFill>
              <a:srgbClr val="00A0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2560320"/>
          </a:xfrm>
          <a:prstGeom prst="roundRect">
            <a:avLst>
              <a:gd name="adj" fmla="val 4286"/>
            </a:avLst>
          </a:prstGeom>
          <a:solidFill>
            <a:srgbClr val="DAEEFF"/>
          </a:solidFill>
          <a:ln w="12700">
            <a:solidFill>
              <a:srgbClr val="00A0DC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4300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 un proverbio africano que dice: 'Si quieres llegar rápido, ve solo. Si quieres llegar lejos, ve acompañado.'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Tigo, elegimos llegar lejos. Somos un solo barco en el que todos remamos en la misma dirección. Si el barco avanza, avanzamos todos. Si el barco se detiene, nos detenemos todos.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'No buscamos culpables. Buscamos soluciones. Somos un solo Tigo.'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74904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002855"/>
          </a:solidFill>
          <a:ln w="12700">
            <a:solidFill>
              <a:srgbClr val="0028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7947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La colaboración real existe cuando estamos juntos en las buenas Y en las malas.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0" y="4663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sangre tigô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significa colaborar de verdad?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oundRect">
            <a:avLst>
              <a:gd name="adj" fmla="val 50000"/>
            </a:avLst>
          </a:prstGeom>
          <a:solidFill>
            <a:srgbClr val="00A0DC"/>
          </a:solidFill>
          <a:ln w="12700">
            <a:solidFill>
              <a:srgbClr val="00A0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Compartir información, aunque no te la pidan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Pedir ayuda antes de que el problema crezca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Celebrar los logros del equipo, no solo los propios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Romper los silos: trabajar CON otras áreas, no solo junto a ellas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Incluir voces diversas — las mejores ideas no siempre vienen de quien más sabe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Reconocer errores como equipo y aprender juntos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0" y="4663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sangre tigô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Así se VE   ·   Así NO se ve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oundRect">
            <a:avLst>
              <a:gd name="adj" fmla="val 50000"/>
            </a:avLst>
          </a:prstGeom>
          <a:solidFill>
            <a:srgbClr val="00A0DC"/>
          </a:solidFill>
          <a:ln w="12700">
            <a:solidFill>
              <a:srgbClr val="00A0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4023360" cy="3749040"/>
          </a:xfrm>
          <a:prstGeom prst="roundRect">
            <a:avLst>
              <a:gd name="adj" fmla="val 2927"/>
            </a:avLst>
          </a:prstGeom>
          <a:solidFill>
            <a:srgbClr val="E8F8F0"/>
          </a:solidFill>
          <a:ln w="19050">
            <a:solidFill>
              <a:srgbClr val="00A878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05840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Cuando lo vivimos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554480"/>
            <a:ext cx="37490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Comparto información útil con otras áreas, aunque no me la pidan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algo sale mal, me pregunto: ¿qué puedo aportar YO para resolverlo?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Reconozco públicamente el trabajo de mi equipo y de otras áreas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Involucro otras perspectivas antes de cerrar una decisión importante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Celebramos los logros como equipo, no como individuos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4023360" cy="3749040"/>
          </a:xfrm>
          <a:prstGeom prst="roundRect">
            <a:avLst>
              <a:gd name="adj" fmla="val 2927"/>
            </a:avLst>
          </a:prstGeom>
          <a:solidFill>
            <a:srgbClr val="FEF2F2"/>
          </a:solidFill>
          <a:ln w="19050">
            <a:solidFill>
              <a:srgbClr val="E53E3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0" y="1005840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Cuando no lo vivimos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92040" y="1554480"/>
            <a:ext cx="37490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Guardo información pensando que 'eso no le importa a nadie'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algo falla, busco al culpable en vez de buscar la solución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atribuyo logros que fueron esfuerzos compartidos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 decisiones sin consultar a quienes se verán afectados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área trabaja en su silo como si el resto no existiera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0" y="4663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sangre tigô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1: Atención al Cliente + Tecnología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oundRect">
            <a:avLst>
              <a:gd name="adj" fmla="val 50000"/>
            </a:avLst>
          </a:prstGeom>
          <a:solidFill>
            <a:srgbClr val="00A0DC"/>
          </a:solidFill>
          <a:ln w="12700">
            <a:solidFill>
              <a:srgbClr val="00A0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Situación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34416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cliente de Cochabamba reporta que su internet no funciona. La agente de Call Center, Fernanda, detecta que el problema es técnico y no tiene acceso al sistema de redes.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Comportamiento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16712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Fernanda no cierra el ticket ni espera. Escala directamente al área de IT con todos los datos del cliente. Pablo de IT interviene en 2 horas. Fernanda llama al cliente para confirmar la solución.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697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Resultado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99008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reporta la mejor experiencia de servicio que ha tenido. El ticket se cierra con 5 estrellas.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520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Aprendizaje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81304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las áreas colaboran con agilidad, el cliente lo percibe directamente. La colaboración no es interna — el cliente la vive.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343400"/>
            <a:ext cx="8229600" cy="502920"/>
          </a:xfrm>
          <a:prstGeom prst="roundRect">
            <a:avLst>
              <a:gd name="adj" fmla="val 18182"/>
            </a:avLst>
          </a:prstGeom>
          <a:solidFill>
            <a:srgbClr val="002855"/>
          </a:solidFill>
          <a:ln w="12700">
            <a:solidFill>
              <a:srgbClr val="0028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370832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"El cliente no siente los silos. Nosotros no podemos permitirlos."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0" y="4663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sangre tigô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2: Ventas + Marketing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oundRect">
            <a:avLst>
              <a:gd name="adj" fmla="val 50000"/>
            </a:avLst>
          </a:prstGeom>
          <a:solidFill>
            <a:srgbClr val="00A0DC"/>
          </a:solidFill>
          <a:ln w="12700">
            <a:solidFill>
              <a:srgbClr val="00A0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Situación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34416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equipo comercial de Santa Cruz detecta que una oferta de la competencia está ganando clientes. Lo reportan internamente, pero solo lo mencionan en la reunión semanal.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Comportamiento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16712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vez de solo reportarlo, el supervisor convoca una sesión de 30 minutos con Ventas, Marketing y Producto. En esa reunión surge una propuesta diferenciada que se aprueba en 5 días.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697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Resultado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99008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nueva oferta gana 3 clientes recuperados en el primer mes.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520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Aprendizaje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81304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inteligencia comercial es valiosa solo si se comparte. Somos más fuertes cuando pensamos juntos.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343400"/>
            <a:ext cx="8229600" cy="502920"/>
          </a:xfrm>
          <a:prstGeom prst="roundRect">
            <a:avLst>
              <a:gd name="adj" fmla="val 18182"/>
            </a:avLst>
          </a:prstGeom>
          <a:solidFill>
            <a:srgbClr val="002855"/>
          </a:solidFill>
          <a:ln w="12700">
            <a:solidFill>
              <a:srgbClr val="0028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370832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"La información que guardas es poder que no usas."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0" y="4663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sangre tigô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enemigo invisible: los silos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oundRect">
            <a:avLst>
              <a:gd name="adj" fmla="val 50000"/>
            </a:avLst>
          </a:prstGeom>
          <a:solidFill>
            <a:srgbClr val="00A0DC"/>
          </a:solidFill>
          <a:ln w="12700">
            <a:solidFill>
              <a:srgbClr val="00A0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2560320"/>
          </a:xfrm>
          <a:prstGeom prst="roundRect">
            <a:avLst>
              <a:gd name="adj" fmla="val 4286"/>
            </a:avLst>
          </a:prstGeom>
          <a:solidFill>
            <a:srgbClr val="DAEEFF"/>
          </a:solidFill>
          <a:ln w="12700">
            <a:solidFill>
              <a:srgbClr val="00A0DC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4300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silos no son culpa de nadie en particular. Son la consecuencia natural de organizaciones que crecen.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área desarrolla su propio lenguaje, sus propias prioridades, sus propias métricas. Y de repente hay equipos que no se hablan, que duplican esfuerzos, que se echan culpas.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Romper un silo no requiere una gran reestructura. Requiere una llamada, una reunión de 30 minutos, un 'oye, ¿cómo te puedo ayudar?'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74904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002855"/>
          </a:solidFill>
          <a:ln w="12700">
            <a:solidFill>
              <a:srgbClr val="0028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7947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Un solo mensaje enviado a tiempo puede reemplazar tres reuniones de queja.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0" y="4663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sangre tigô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 Oro relacionadas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oundRect">
            <a:avLst>
              <a:gd name="adj" fmla="val 50000"/>
            </a:avLst>
          </a:prstGeom>
          <a:solidFill>
            <a:srgbClr val="00A0DC"/>
          </a:solidFill>
          <a:ln w="12700">
            <a:solidFill>
              <a:srgbClr val="00A0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DAEEFF"/>
          </a:solidFill>
          <a:ln w="12700">
            <a:solidFill>
              <a:srgbClr val="00A0DC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52728"/>
            <a:ext cx="457200" cy="457200"/>
          </a:xfrm>
          <a:prstGeom prst="ellipse">
            <a:avLst/>
          </a:prstGeom>
          <a:solidFill>
            <a:srgbClr val="002855"/>
          </a:solidFill>
          <a:ln w="12700">
            <a:solidFill>
              <a:srgbClr val="0028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527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43000" y="118872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Tratamos a los demás como nos gustaría ser tratados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148132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respeto y la confianza son la base de toda colaboración real.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DAEEFF"/>
          </a:solidFill>
          <a:ln w="12700">
            <a:solidFill>
              <a:srgbClr val="00A0DC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167128"/>
            <a:ext cx="457200" cy="457200"/>
          </a:xfrm>
          <a:prstGeom prst="ellipse">
            <a:avLst/>
          </a:prstGeom>
          <a:solidFill>
            <a:srgbClr val="002855"/>
          </a:solidFill>
          <a:ln w="12700">
            <a:solidFill>
              <a:srgbClr val="0028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167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43000" y="210312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Tratamos la empresa como propia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" y="239572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algo no funciona, lo identificamos y lo resolvemos — no esperamos que otro lo haga.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DAEEFF"/>
          </a:solidFill>
          <a:ln w="12700">
            <a:solidFill>
              <a:srgbClr val="00A0DC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081528"/>
            <a:ext cx="457200" cy="457200"/>
          </a:xfrm>
          <a:prstGeom prst="ellipse">
            <a:avLst/>
          </a:prstGeom>
          <a:solidFill>
            <a:srgbClr val="002855"/>
          </a:solidFill>
          <a:ln w="12700">
            <a:solidFill>
              <a:srgbClr val="0028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081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43000" y="301752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Ejecutamos las decisiones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3000" y="331012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el equipo decide algo, todos remamos en la misma dirección. Sin más debate.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0" y="4663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sangre tigô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debemos evitar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oundRect">
            <a:avLst>
              <a:gd name="adj" fmla="val 50000"/>
            </a:avLst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4023360" cy="868680"/>
          </a:xfrm>
          <a:prstGeom prst="roundRect">
            <a:avLst>
              <a:gd name="adj" fmla="val 10526"/>
            </a:avLst>
          </a:prstGeom>
          <a:solidFill>
            <a:srgbClr val="FEF2F2"/>
          </a:solidFill>
          <a:ln w="12700">
            <a:solidFill>
              <a:srgbClr val="E53E3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115568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Guardar información pensando 'eso no es mi problema'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4023360" cy="868680"/>
          </a:xfrm>
          <a:prstGeom prst="roundRect">
            <a:avLst>
              <a:gd name="adj" fmla="val 10526"/>
            </a:avLst>
          </a:prstGeom>
          <a:solidFill>
            <a:srgbClr val="FEF2F2"/>
          </a:solidFill>
          <a:ln w="12700">
            <a:solidFill>
              <a:srgbClr val="E53E3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92040" y="1115568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Buscar culpables en lugar de buscar soluciones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011680"/>
            <a:ext cx="4023360" cy="868680"/>
          </a:xfrm>
          <a:prstGeom prst="roundRect">
            <a:avLst>
              <a:gd name="adj" fmla="val 10526"/>
            </a:avLst>
          </a:prstGeom>
          <a:solidFill>
            <a:srgbClr val="FEF2F2"/>
          </a:solidFill>
          <a:ln w="12700">
            <a:solidFill>
              <a:srgbClr val="E53E3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121408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Trabajar en silos y no consultar a otras áreas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2011680"/>
            <a:ext cx="4023360" cy="868680"/>
          </a:xfrm>
          <a:prstGeom prst="roundRect">
            <a:avLst>
              <a:gd name="adj" fmla="val 10526"/>
            </a:avLst>
          </a:prstGeom>
          <a:solidFill>
            <a:srgbClr val="FEF2F2"/>
          </a:solidFill>
          <a:ln w="12700">
            <a:solidFill>
              <a:srgbClr val="E53E3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92040" y="2121408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Atribuirse logros de esfuerzos colectivos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017520"/>
            <a:ext cx="4023360" cy="868680"/>
          </a:xfrm>
          <a:prstGeom prst="roundRect">
            <a:avLst>
              <a:gd name="adj" fmla="val 10526"/>
            </a:avLst>
          </a:prstGeom>
          <a:solidFill>
            <a:srgbClr val="FEF2F2"/>
          </a:solidFill>
          <a:ln w="12700">
            <a:solidFill>
              <a:srgbClr val="E53E3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3127248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Ignorar o minimizar las ideas de otros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54880" y="3017520"/>
            <a:ext cx="4023360" cy="868680"/>
          </a:xfrm>
          <a:prstGeom prst="roundRect">
            <a:avLst>
              <a:gd name="adj" fmla="val 10526"/>
            </a:avLst>
          </a:prstGeom>
          <a:solidFill>
            <a:srgbClr val="FEF2F2"/>
          </a:solidFill>
          <a:ln w="12700">
            <a:solidFill>
              <a:srgbClr val="E53E3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92040" y="3127248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 dar seguimiento a compromisos con otras áreas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0" y="4663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sangre tigô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Video sugerido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oundRect">
            <a:avLst>
              <a:gd name="adj" fmla="val 50000"/>
            </a:avLst>
          </a:prstGeom>
          <a:solidFill>
            <a:srgbClr val="00A0DC"/>
          </a:solidFill>
          <a:ln w="12700">
            <a:solidFill>
              <a:srgbClr val="00A0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3200400"/>
          </a:xfrm>
          <a:prstGeom prst="roundRect">
            <a:avLst>
              <a:gd name="adj" fmla="val 4286"/>
            </a:avLst>
          </a:prstGeom>
          <a:solidFill>
            <a:srgbClr val="DAEEFF"/>
          </a:solidFill>
          <a:ln w="12700">
            <a:solidFill>
              <a:srgbClr val="00A0DC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143000"/>
            <a:ext cx="1097280" cy="1097280"/>
          </a:xfrm>
          <a:prstGeom prst="ellipse">
            <a:avLst/>
          </a:prstGeom>
          <a:solidFill>
            <a:srgbClr val="002855"/>
          </a:solidFill>
          <a:ln w="12700">
            <a:solidFill>
              <a:srgbClr val="0028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1430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920240" y="114300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los buenos líderes te hacen sentir seguro - Simon Sinek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920240" y="169164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Canal: TED Talks   |   Duración: ~12 min   |   Idioma: Inglés / subtítulos en español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920240" y="2057400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https://www.youtube.com/watch?v=lmyZMtPVodo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4231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usarlo: La seguridad psicológica es la base de toda colaboración real. Sinek muestra con ejemplos memorables cómo los líderes que crean confianza generan equipos más colaborativos y resilientes.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0632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Cuándo usarlo: Al inicio de Somos Colaborativos, para conectar emocionalmente con el concepto.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315968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002855"/>
          </a:solidFill>
          <a:ln w="12700">
            <a:solidFill>
              <a:srgbClr val="0028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343400"/>
            <a:ext cx="7863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A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Validar derechos de uso internamente antes de proyectar en sesiones corporativas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0" y="4663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sangre tigô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DAE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Dinámica: "El Barco Tigo"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oundRect">
            <a:avLst>
              <a:gd name="adj" fmla="val 50000"/>
            </a:avLst>
          </a:prstGeom>
          <a:solidFill>
            <a:srgbClr val="00A0DC"/>
          </a:solidFill>
          <a:ln w="12700">
            <a:solidFill>
              <a:srgbClr val="00A0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87552"/>
            <a:ext cx="4023360" cy="548640"/>
          </a:xfrm>
          <a:prstGeom prst="roundRect">
            <a:avLst>
              <a:gd name="adj" fmla="val 16667"/>
            </a:avLst>
          </a:prstGeom>
          <a:solidFill>
            <a:srgbClr val="002855"/>
          </a:solidFill>
          <a:ln w="12700">
            <a:solidFill>
              <a:srgbClr val="0028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0584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Objetivo: Que cada persona identifique su contribución al equipo y lo que necesita de otros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09160" y="987552"/>
            <a:ext cx="3977640" cy="548640"/>
          </a:xfrm>
          <a:prstGeom prst="roundRect">
            <a:avLst>
              <a:gd name="adj" fmla="val 16667"/>
            </a:avLst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0" y="10058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Duración: 15-20 minutos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664208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Cada participante toma una tarjeta (o en virtual, escribe en el chat).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Escribe: 'Yo aporto al equipo: ___' (una sola cosa concreta).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Escribe: 'Yo necesito del equipo: ___' (una sola cosa concreta).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En grupos de 4-5, comparten sus tarjetas sin interrupciones.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Identifican: ¿dónde hay una oferta y una necesidad que coinciden?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El facilitador recoge 2-3 ejemplos poderosos para compartir en plenaria.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4041648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00A0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087368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¿Qué ofreces tú al barco Tigo? ¿Qué necesitas que otros ofrezcan para que el barco avance?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0" y="4663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sangre tigô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28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731520"/>
            <a:ext cx="2560320" cy="2560320"/>
          </a:xfrm>
          <a:prstGeom prst="ellipse">
            <a:avLst/>
          </a:prstGeom>
          <a:solidFill>
            <a:srgbClr val="00A0DC">
              <a:alpha val="12000"/>
            </a:srgbClr>
          </a:solidFill>
          <a:ln w="12700">
            <a:solidFill>
              <a:srgbClr val="00A0D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48640" y="3474720"/>
            <a:ext cx="2011680" cy="2011680"/>
          </a:xfrm>
          <a:prstGeom prst="ellipse">
            <a:avLst/>
          </a:prstGeom>
          <a:solidFill>
            <a:srgbClr val="FFC72C">
              <a:alpha val="10000"/>
            </a:srgbClr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silo voy a romper esta semana?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¿A quién de otra área voy a llamar para colaborar?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474720" y="3840480"/>
            <a:ext cx="2194560" cy="64008"/>
          </a:xfrm>
          <a:prstGeom prst="roundRect">
            <a:avLst>
              <a:gd name="adj" fmla="val 42857"/>
            </a:avLst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Reflexiona · Comparte · Comprométete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0" y="4663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sangre tigô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compromiso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oundRect">
            <a:avLst>
              <a:gd name="adj" fmla="val 50000"/>
            </a:avLst>
          </a:prstGeom>
          <a:solidFill>
            <a:srgbClr val="00A0DC"/>
          </a:solidFill>
          <a:ln w="12700">
            <a:solidFill>
              <a:srgbClr val="00A0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Somos Colaborativos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1508760"/>
            <a:ext cx="7315200" cy="2560320"/>
          </a:xfrm>
          <a:prstGeom prst="roundRect">
            <a:avLst>
              <a:gd name="adj" fmla="val 5357"/>
            </a:avLst>
          </a:prstGeom>
          <a:solidFill>
            <a:srgbClr val="DAEEFF"/>
          </a:solidFill>
          <a:ln w="19050">
            <a:solidFill>
              <a:srgbClr val="00A0DC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88720" y="1691640"/>
            <a:ext cx="6766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semana voy a colaborar con [persona/área] para [objetivo concreto].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Voy a romper el silo de [nombre] haciendo [acción específica].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371600" y="2834640"/>
            <a:ext cx="6400800" cy="0"/>
          </a:xfrm>
          <a:prstGeom prst="line">
            <a:avLst/>
          </a:prstGeom>
          <a:noFill/>
          <a:ln w="12700">
            <a:solidFill>
              <a:srgbClr val="002855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1371600" y="29260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(Escribe tu compromiso aquí)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371600" y="3291840"/>
            <a:ext cx="6400800" cy="0"/>
          </a:xfrm>
          <a:prstGeom prst="line">
            <a:avLst/>
          </a:prstGeom>
          <a:noFill/>
          <a:ln w="12700">
            <a:solidFill>
              <a:srgbClr val="002855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914400" y="4160520"/>
            <a:ext cx="7315200" cy="548640"/>
          </a:xfrm>
          <a:prstGeom prst="roundRect">
            <a:avLst>
              <a:gd name="adj" fmla="val 16667"/>
            </a:avLst>
          </a:prstGeom>
          <a:solidFill>
            <a:srgbClr val="002855"/>
          </a:solidFill>
          <a:ln w="12700">
            <a:solidFill>
              <a:srgbClr val="0028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420624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Comparto este compromiso con mi equipo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0" y="4663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sangre tigô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28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822960"/>
            <a:ext cx="2926080" cy="2926080"/>
          </a:xfrm>
          <a:prstGeom prst="ellipse">
            <a:avLst/>
          </a:prstGeom>
          <a:solidFill>
            <a:srgbClr val="FFC72C">
              <a:alpha val="12000"/>
            </a:srgbClr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2560320" cy="2560320"/>
          </a:xfrm>
          <a:prstGeom prst="ellipse">
            <a:avLst/>
          </a:prstGeom>
          <a:solidFill>
            <a:srgbClr val="00A0DC">
              <a:alpha val="12000"/>
            </a:srgbClr>
          </a:solidFill>
          <a:ln w="12700">
            <a:solidFill>
              <a:srgbClr val="00A0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Somos Colaborativos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3200400" y="2377440"/>
            <a:ext cx="2743200" cy="73152"/>
          </a:xfrm>
          <a:prstGeom prst="roundRect">
            <a:avLst>
              <a:gd name="adj" fmla="val 50000"/>
            </a:avLst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56032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remamos juntos, ninguna ola nos detiene.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Somos un solo barco. Somos un solo Tigo.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¡Somos Sangre Tigo!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0" y="4663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sangre tigô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Notas para el facilitador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oundRect">
            <a:avLst>
              <a:gd name="adj" fmla="val 50000"/>
            </a:avLst>
          </a:prstGeom>
          <a:solidFill>
            <a:srgbClr val="00A0DC"/>
          </a:solidFill>
          <a:ln w="12700">
            <a:solidFill>
              <a:srgbClr val="00A0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total estimado: 12-15 minutos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Apertura (slide 1-2): 2 min. Conecta con algo personal — ¿cuándo lograste algo gracias a otro?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del barco (slide 3): 2 min. Usa el proverbio africano con emoción genuina.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Comportamientos (slide 5): 3 min. Pregunta cuál reconocen en su realidad.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Dinámica El Barco Tigo: 15 min si el tiempo lo permite, puede reducirse a 8 min.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grupo es resistente a la colaboración: normaliza los silos ('son naturales') antes de desafiarlos.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grupos virtuales: usa Mentimeter o el chat para la dinámica del barco.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de Simon Sinek: ideal como apertura si el público es de líderes.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 final más poderoso: 'No buscamos culpables. Buscamos soluciones. Somos un solo Tigo.'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0" y="4663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sangre tigô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Somos Colaborativos - Sangre Tigo</dc:title>
  <dc:subject>PptxGenJS Presentation</dc:subject>
  <dc:creator>PptxGenJS</dc:creator>
  <cp:lastModifiedBy>PptxGenJS</cp:lastModifiedBy>
  <cp:revision>1</cp:revision>
  <dcterms:created xsi:type="dcterms:W3CDTF">2026-06-22T18:40:23Z</dcterms:created>
  <dcterms:modified xsi:type="dcterms:W3CDTF">2026-06-22T18:40:23Z</dcterms:modified>
</cp:coreProperties>
</file>