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34"/>
    <p:restoredTop sz="94610"/>
  </p:normalViewPr>
  <p:slideViewPr>
    <p:cSldViewPr snapToGrid="0" snapToObjects="1">
      <p:cViewPr varScale="1">
        <p:scale>
          <a:sx n="127" d="100"/>
          <a:sy n="127" d="100"/>
        </p:scale>
        <p:origin x="184" y="8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1533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al programa de cultura Sangre Tigo. Esta sesión está diseñada específicamente para líderes, jefes y supervisores. El foco no es solo conocer los valores, sino modelarlos desde el liderazgo.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líderes son el principal vector de cultura. No lo que dicen, sino lo que hacen. El equipo mira cómo reacciona el líder cuando hay presión, cuando hay errores, cuando hay reconocimientos.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roles del líder cultural: Modelar (soy el primero en vivir los valores), Reconocer (visibilizo cuando alguien actúa bien), Corregir (retroalimento con respeto cuando hay desvíos).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Somos Enfocados en el liderazgo: el líder fija el nivel de ambición. Si el líder acepta metas cómodas, el equipo aprende que está bien conformarse. La granularidad: el líder que trabaja con promedios toma decisiones que no reflejan la realidad.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líder ágil da permiso para experimentar. Si el líder castiga el error, el equipo deja de intentar. Modelo: tomar decisiones con información incompleta y comunicar el razonamiento.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Somos Colaborativos: el líder rompe o construye silos. Si el líder comparte información, el equipo aprende a compartir. Si el líder compite con otras áreas, el equipo hace lo mismo.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Somos Íntegros: el líder íntegro no hace excepciones. La integridad no es para cuando alguien mira — es el comportamiento cuando nadie mira. La regla de los 4 ojos protege al líder y al equipo.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Somos Talento Tigo: el líder que desarrolla a su equipo construye los cimientos de Tigo. Un líder que acapara talento, que no deja brillar a otros, que no da retroalimentación — está debilitando la organización.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reconocimiento específico es más poderoso que el genérico. No 'buen trabajo' sino 'lo que hiciste con X cliente refleja exactamente el valor Y'. La especificidad refuerza el comportamiento.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Modelo de feedback: Situación → Impacto → Expectativa → Acuerdo. Este modelo evita el ataque personal y conecta la corrección con los valores.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Reglas de Oro son comportamientos concretos, no principios abstractos. Para líderes, las más críticas son las que tienen efecto multiplicador: lo que el líder hace, el equipo repite.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Regla #11: La actitud no es opcional para un líder. El equipo mira cómo reacciona el líder ante la presión, ante los errores, ante las malas noticias. La actitud del líder se contagia.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valores no son decorativos. Cada uno impacta directamente en métricas de negocio. Enfocados → eficiencia. Ágiles → velocidad. Colaborativos → integración. Íntegros → confianza. Talento → capital humano.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Tigo es #1 en EBITDA en LatAm. Hay razones operativas y comerciales, pero la base es la cultura. Cuando el equipo está alineado en valores, la ejecución es más rápida, más íntegra y más sostenible.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líderes a veces se desconectan de cómo se comporta su equipo. Pero ese comportamiento es tu marca. Si tu equipo no vive los valores, tú como líder eres responsable.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preguntas están diseñadas para generar incomodidad productiva. No tienen respuestas incorrectas. El objetivo es que el líder se detenga a reflexionar sobre su impacto real.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Facilita con seguridad psicológica. El objetivo no es exponer debilidades sino comprometerse públicamente. Los compromisos públicos tienen mayor tasa de cumplimiento.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compromiso escrito y fechado tiene 65% más probabilidad de cumplirse. Pide que guarden esta foto en el celular como recordatorio.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dejes el taller en el taller. Las tres acciones están diseñadas para crear momentum inmediato. El 'HOY' es no negociable.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inspiracional. Dejar que el silencio hable. Recordar que ellos, como líderes, son los principales embajadores de Sangre Tigo. Terminar con aplausos o ritual del equipo.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855"/>
        </a:solidFill>
        <a:effectLst/>
      </p:bgPr>
    </p:bg>
    <p:spTree>
      <p:nvGrpSpPr>
        <p:cNvPr id="1" name=""/>
        <p:cNvGrpSpPr/>
        <p:nvPr/>
      </p:nvGrpSpPr>
      <p:grpSpPr>
        <a:xfrm>
          <a:off x="0" y="0"/>
          <a:ext cx="0" cy="0"/>
          <a:chOff x="0" y="0"/>
          <a:chExt cx="0" cy="0"/>
        </a:xfrm>
      </p:grpSpPr>
      <p:sp>
        <p:nvSpPr>
          <p:cNvPr id="3" name="Text 1"/>
          <p:cNvSpPr/>
          <p:nvPr/>
        </p:nvSpPr>
        <p:spPr>
          <a:xfrm>
            <a:off x="457200" y="1645920"/>
            <a:ext cx="8229600" cy="82296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Liderando con Sangre Tigo</a:t>
            </a:r>
            <a:endParaRPr lang="en-US" sz="4400" dirty="0"/>
          </a:p>
        </p:txBody>
      </p:sp>
      <p:sp>
        <p:nvSpPr>
          <p:cNvPr id="4" name="Text 2"/>
          <p:cNvSpPr/>
          <p:nvPr/>
        </p:nvSpPr>
        <p:spPr>
          <a:xfrm>
            <a:off x="457200" y="2743200"/>
            <a:ext cx="8229600" cy="548640"/>
          </a:xfrm>
          <a:prstGeom prst="rect">
            <a:avLst/>
          </a:prstGeom>
          <a:noFill/>
          <a:ln/>
        </p:spPr>
        <p:txBody>
          <a:bodyPr wrap="square" rtlCol="0" anchor="ctr"/>
          <a:lstStyle/>
          <a:p>
            <a:pPr marL="0" indent="0" algn="ctr">
              <a:buNone/>
            </a:pPr>
            <a:r>
              <a:rPr lang="en-US" sz="2000" dirty="0">
                <a:solidFill>
                  <a:srgbClr val="00A0DC"/>
                </a:solidFill>
                <a:latin typeface="Calibri" pitchFamily="34" charset="0"/>
                <a:ea typeface="Calibri" pitchFamily="34" charset="-122"/>
                <a:cs typeface="Calibri" pitchFamily="34" charset="-120"/>
              </a:rPr>
              <a:t>Programa de Cultura Organizacional para Líderes</a:t>
            </a:r>
            <a:endParaRPr lang="en-US" sz="2000" dirty="0"/>
          </a:p>
        </p:txBody>
      </p:sp>
      <p:sp>
        <p:nvSpPr>
          <p:cNvPr id="5" name="Text 3"/>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02855"/>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73152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Los líderes modelan la cultura</a:t>
            </a:r>
            <a:endParaRPr lang="en-US" sz="3600" dirty="0"/>
          </a:p>
        </p:txBody>
      </p:sp>
      <p:sp>
        <p:nvSpPr>
          <p:cNvPr id="3" name="Text 1"/>
          <p:cNvSpPr/>
          <p:nvPr/>
        </p:nvSpPr>
        <p:spPr>
          <a:xfrm>
            <a:off x="457200" y="1645920"/>
            <a:ext cx="8229600" cy="822960"/>
          </a:xfrm>
          <a:prstGeom prst="rect">
            <a:avLst/>
          </a:prstGeom>
          <a:noFill/>
          <a:ln/>
        </p:spPr>
        <p:txBody>
          <a:bodyPr wrap="square" rtlCol="0" anchor="ctr"/>
          <a:lstStyle/>
          <a:p>
            <a:pPr marL="0" indent="0" algn="ctr">
              <a:buNone/>
            </a:pPr>
            <a:r>
              <a:rPr lang="en-US" sz="2800" i="1" dirty="0">
                <a:solidFill>
                  <a:srgbClr val="FFFFFF"/>
                </a:solidFill>
                <a:latin typeface="Calibri" pitchFamily="34" charset="0"/>
                <a:ea typeface="Calibri" pitchFamily="34" charset="-122"/>
                <a:cs typeface="Calibri" pitchFamily="34" charset="-120"/>
              </a:rPr>
              <a:t>"Los hijos actúan por imitación"</a:t>
            </a:r>
            <a:endParaRPr lang="en-US" sz="2800" dirty="0"/>
          </a:p>
        </p:txBody>
      </p:sp>
      <p:sp>
        <p:nvSpPr>
          <p:cNvPr id="4" name="Text 2"/>
          <p:cNvSpPr/>
          <p:nvPr/>
        </p:nvSpPr>
        <p:spPr>
          <a:xfrm>
            <a:off x="457200" y="2926080"/>
            <a:ext cx="8229600" cy="822960"/>
          </a:xfrm>
          <a:prstGeom prst="rect">
            <a:avLst/>
          </a:prstGeom>
          <a:noFill/>
          <a:ln/>
        </p:spPr>
        <p:txBody>
          <a:bodyPr wrap="square" rtlCol="0" anchor="ctr"/>
          <a:lstStyle/>
          <a:p>
            <a:pPr marL="0" indent="0" algn="ctr">
              <a:buNone/>
            </a:pPr>
            <a:r>
              <a:rPr lang="en-US" sz="1600" dirty="0">
                <a:solidFill>
                  <a:srgbClr val="00A0DC"/>
                </a:solidFill>
                <a:latin typeface="Calibri" pitchFamily="34" charset="0"/>
                <a:ea typeface="Calibri" pitchFamily="34" charset="-122"/>
                <a:cs typeface="Calibri" pitchFamily="34" charset="-120"/>
              </a:rPr>
              <a:t>Tu equipo te observa. Cada decisión, cada reacción, cada comportamiento envía un mensaje sobre qué es lo que realmente se valora aquí.</a:t>
            </a:r>
            <a:endParaRPr lang="en-US" sz="1600" dirty="0"/>
          </a:p>
        </p:txBody>
      </p:sp>
      <p:sp>
        <p:nvSpPr>
          <p:cNvPr id="5" name="Text 3"/>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600" b="1" dirty="0">
                <a:solidFill>
                  <a:srgbClr val="002855"/>
                </a:solidFill>
                <a:latin typeface="Calibri" pitchFamily="34" charset="0"/>
                <a:ea typeface="Calibri" pitchFamily="34" charset="-122"/>
                <a:cs typeface="Calibri" pitchFamily="34" charset="-120"/>
              </a:rPr>
              <a:t>Tu rol como modelador</a:t>
            </a:r>
            <a:endParaRPr lang="en-US" sz="3600" dirty="0"/>
          </a:p>
        </p:txBody>
      </p:sp>
      <p:sp>
        <p:nvSpPr>
          <p:cNvPr id="3" name="Shape 1"/>
          <p:cNvSpPr/>
          <p:nvPr/>
        </p:nvSpPr>
        <p:spPr>
          <a:xfrm>
            <a:off x="365760" y="1188720"/>
            <a:ext cx="2651760" cy="2560320"/>
          </a:xfrm>
          <a:prstGeom prst="roundRect">
            <a:avLst>
              <a:gd name="adj" fmla="val 3571"/>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4" name="Text 2"/>
          <p:cNvSpPr/>
          <p:nvPr/>
        </p:nvSpPr>
        <p:spPr>
          <a:xfrm>
            <a:off x="365760" y="1280160"/>
            <a:ext cx="2651760" cy="640080"/>
          </a:xfrm>
          <a:prstGeom prst="rect">
            <a:avLst/>
          </a:prstGeom>
          <a:noFill/>
          <a:ln/>
        </p:spPr>
        <p:txBody>
          <a:bodyPr wrap="square" rtlCol="0" anchor="ctr"/>
          <a:lstStyle/>
          <a:p>
            <a:pPr marL="0" indent="0" algn="ctr">
              <a:buNone/>
            </a:pPr>
            <a:r>
              <a:rPr lang="en-US" sz="3600" b="1" dirty="0">
                <a:solidFill>
                  <a:srgbClr val="00A0DC"/>
                </a:solidFill>
                <a:latin typeface="Calibri" pitchFamily="34" charset="0"/>
                <a:ea typeface="Calibri" pitchFamily="34" charset="-122"/>
                <a:cs typeface="Calibri" pitchFamily="34" charset="-120"/>
              </a:rPr>
              <a:t>1</a:t>
            </a:r>
            <a:endParaRPr lang="en-US" sz="3600" dirty="0"/>
          </a:p>
        </p:txBody>
      </p:sp>
      <p:sp>
        <p:nvSpPr>
          <p:cNvPr id="5" name="Text 3"/>
          <p:cNvSpPr/>
          <p:nvPr/>
        </p:nvSpPr>
        <p:spPr>
          <a:xfrm>
            <a:off x="365760" y="1965960"/>
            <a:ext cx="2651760" cy="411480"/>
          </a:xfrm>
          <a:prstGeom prst="rect">
            <a:avLst/>
          </a:prstGeom>
          <a:noFill/>
          <a:ln/>
        </p:spPr>
        <p:txBody>
          <a:bodyPr wrap="square" rtlCol="0" anchor="ctr"/>
          <a:lstStyle/>
          <a:p>
            <a:pPr marL="0" indent="0" algn="ctr">
              <a:buNone/>
            </a:pPr>
            <a:r>
              <a:rPr lang="en-US" sz="1800" b="1" dirty="0">
                <a:solidFill>
                  <a:srgbClr val="002855"/>
                </a:solidFill>
                <a:latin typeface="Calibri" pitchFamily="34" charset="0"/>
                <a:ea typeface="Calibri" pitchFamily="34" charset="-122"/>
                <a:cs typeface="Calibri" pitchFamily="34" charset="-120"/>
              </a:rPr>
              <a:t>MODELAR</a:t>
            </a:r>
            <a:endParaRPr lang="en-US" sz="1800" dirty="0"/>
          </a:p>
        </p:txBody>
      </p:sp>
      <p:sp>
        <p:nvSpPr>
          <p:cNvPr id="6" name="Text 4"/>
          <p:cNvSpPr/>
          <p:nvPr/>
        </p:nvSpPr>
        <p:spPr>
          <a:xfrm>
            <a:off x="457200" y="2423160"/>
            <a:ext cx="2468880" cy="1005840"/>
          </a:xfrm>
          <a:prstGeom prst="rect">
            <a:avLst/>
          </a:prstGeom>
          <a:noFill/>
          <a:ln/>
        </p:spPr>
        <p:txBody>
          <a:bodyPr wrap="square" rtlCol="0" anchor="ctr"/>
          <a:lstStyle/>
          <a:p>
            <a:pPr marL="0" indent="0" algn="ctr">
              <a:buNone/>
            </a:pPr>
            <a:r>
              <a:rPr lang="en-US" sz="1300" dirty="0">
                <a:solidFill>
                  <a:srgbClr val="002855"/>
                </a:solidFill>
                <a:latin typeface="Calibri" pitchFamily="34" charset="0"/>
                <a:ea typeface="Calibri" pitchFamily="34" charset="-122"/>
                <a:cs typeface="Calibri" pitchFamily="34" charset="-120"/>
              </a:rPr>
              <a:t>Vive los valores con tu comportamiento diario</a:t>
            </a:r>
            <a:endParaRPr lang="en-US" sz="1300" dirty="0"/>
          </a:p>
        </p:txBody>
      </p:sp>
      <p:sp>
        <p:nvSpPr>
          <p:cNvPr id="7" name="Shape 5"/>
          <p:cNvSpPr/>
          <p:nvPr/>
        </p:nvSpPr>
        <p:spPr>
          <a:xfrm>
            <a:off x="3246120" y="1188720"/>
            <a:ext cx="2651760" cy="2560320"/>
          </a:xfrm>
          <a:prstGeom prst="roundRect">
            <a:avLst>
              <a:gd name="adj" fmla="val 3571"/>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8" name="Text 6"/>
          <p:cNvSpPr/>
          <p:nvPr/>
        </p:nvSpPr>
        <p:spPr>
          <a:xfrm>
            <a:off x="3246120" y="1280160"/>
            <a:ext cx="2651760" cy="640080"/>
          </a:xfrm>
          <a:prstGeom prst="rect">
            <a:avLst/>
          </a:prstGeom>
          <a:noFill/>
          <a:ln/>
        </p:spPr>
        <p:txBody>
          <a:bodyPr wrap="square" rtlCol="0" anchor="ctr"/>
          <a:lstStyle/>
          <a:p>
            <a:pPr marL="0" indent="0" algn="ctr">
              <a:buNone/>
            </a:pPr>
            <a:r>
              <a:rPr lang="en-US" sz="3600" b="1" dirty="0">
                <a:solidFill>
                  <a:srgbClr val="00A0DC"/>
                </a:solidFill>
                <a:latin typeface="Calibri" pitchFamily="34" charset="0"/>
                <a:ea typeface="Calibri" pitchFamily="34" charset="-122"/>
                <a:cs typeface="Calibri" pitchFamily="34" charset="-120"/>
              </a:rPr>
              <a:t>2</a:t>
            </a:r>
            <a:endParaRPr lang="en-US" sz="3600" dirty="0"/>
          </a:p>
        </p:txBody>
      </p:sp>
      <p:sp>
        <p:nvSpPr>
          <p:cNvPr id="9" name="Text 7"/>
          <p:cNvSpPr/>
          <p:nvPr/>
        </p:nvSpPr>
        <p:spPr>
          <a:xfrm>
            <a:off x="3246120" y="1965960"/>
            <a:ext cx="2651760" cy="411480"/>
          </a:xfrm>
          <a:prstGeom prst="rect">
            <a:avLst/>
          </a:prstGeom>
          <a:noFill/>
          <a:ln/>
        </p:spPr>
        <p:txBody>
          <a:bodyPr wrap="square" rtlCol="0" anchor="ctr"/>
          <a:lstStyle/>
          <a:p>
            <a:pPr marL="0" indent="0" algn="ctr">
              <a:buNone/>
            </a:pPr>
            <a:r>
              <a:rPr lang="en-US" sz="1800" b="1" dirty="0">
                <a:solidFill>
                  <a:srgbClr val="002855"/>
                </a:solidFill>
                <a:latin typeface="Calibri" pitchFamily="34" charset="0"/>
                <a:ea typeface="Calibri" pitchFamily="34" charset="-122"/>
                <a:cs typeface="Calibri" pitchFamily="34" charset="-120"/>
              </a:rPr>
              <a:t>RECONOCER</a:t>
            </a:r>
            <a:endParaRPr lang="en-US" sz="1800" dirty="0"/>
          </a:p>
        </p:txBody>
      </p:sp>
      <p:sp>
        <p:nvSpPr>
          <p:cNvPr id="10" name="Text 8"/>
          <p:cNvSpPr/>
          <p:nvPr/>
        </p:nvSpPr>
        <p:spPr>
          <a:xfrm>
            <a:off x="3337560" y="2423160"/>
            <a:ext cx="2468880" cy="1005840"/>
          </a:xfrm>
          <a:prstGeom prst="rect">
            <a:avLst/>
          </a:prstGeom>
          <a:noFill/>
          <a:ln/>
        </p:spPr>
        <p:txBody>
          <a:bodyPr wrap="square" rtlCol="0" anchor="ctr"/>
          <a:lstStyle/>
          <a:p>
            <a:pPr marL="0" indent="0" algn="ctr">
              <a:buNone/>
            </a:pPr>
            <a:r>
              <a:rPr lang="en-US" sz="1300" dirty="0">
                <a:solidFill>
                  <a:srgbClr val="002855"/>
                </a:solidFill>
                <a:latin typeface="Calibri" pitchFamily="34" charset="0"/>
                <a:ea typeface="Calibri" pitchFamily="34" charset="-122"/>
                <a:cs typeface="Calibri" pitchFamily="34" charset="-120"/>
              </a:rPr>
              <a:t>Celebra cuando tu equipo actúa alineado</a:t>
            </a:r>
            <a:endParaRPr lang="en-US" sz="1300" dirty="0"/>
          </a:p>
        </p:txBody>
      </p:sp>
      <p:sp>
        <p:nvSpPr>
          <p:cNvPr id="11" name="Shape 9"/>
          <p:cNvSpPr/>
          <p:nvPr/>
        </p:nvSpPr>
        <p:spPr>
          <a:xfrm>
            <a:off x="6126480" y="1188720"/>
            <a:ext cx="2651760" cy="2560320"/>
          </a:xfrm>
          <a:prstGeom prst="roundRect">
            <a:avLst>
              <a:gd name="adj" fmla="val 3571"/>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12" name="Text 10"/>
          <p:cNvSpPr/>
          <p:nvPr/>
        </p:nvSpPr>
        <p:spPr>
          <a:xfrm>
            <a:off x="6126480" y="1280160"/>
            <a:ext cx="2651760" cy="640080"/>
          </a:xfrm>
          <a:prstGeom prst="rect">
            <a:avLst/>
          </a:prstGeom>
          <a:noFill/>
          <a:ln/>
        </p:spPr>
        <p:txBody>
          <a:bodyPr wrap="square" rtlCol="0" anchor="ctr"/>
          <a:lstStyle/>
          <a:p>
            <a:pPr marL="0" indent="0" algn="ctr">
              <a:buNone/>
            </a:pPr>
            <a:r>
              <a:rPr lang="en-US" sz="3600" b="1" dirty="0">
                <a:solidFill>
                  <a:srgbClr val="00A0DC"/>
                </a:solidFill>
                <a:latin typeface="Calibri" pitchFamily="34" charset="0"/>
                <a:ea typeface="Calibri" pitchFamily="34" charset="-122"/>
                <a:cs typeface="Calibri" pitchFamily="34" charset="-120"/>
              </a:rPr>
              <a:t>3</a:t>
            </a:r>
            <a:endParaRPr lang="en-US" sz="3600" dirty="0"/>
          </a:p>
        </p:txBody>
      </p:sp>
      <p:sp>
        <p:nvSpPr>
          <p:cNvPr id="13" name="Text 11"/>
          <p:cNvSpPr/>
          <p:nvPr/>
        </p:nvSpPr>
        <p:spPr>
          <a:xfrm>
            <a:off x="6126480" y="1965960"/>
            <a:ext cx="2651760" cy="411480"/>
          </a:xfrm>
          <a:prstGeom prst="rect">
            <a:avLst/>
          </a:prstGeom>
          <a:noFill/>
          <a:ln/>
        </p:spPr>
        <p:txBody>
          <a:bodyPr wrap="square" rtlCol="0" anchor="ctr"/>
          <a:lstStyle/>
          <a:p>
            <a:pPr marL="0" indent="0" algn="ctr">
              <a:buNone/>
            </a:pPr>
            <a:r>
              <a:rPr lang="en-US" sz="1800" b="1" dirty="0">
                <a:solidFill>
                  <a:srgbClr val="002855"/>
                </a:solidFill>
                <a:latin typeface="Calibri" pitchFamily="34" charset="0"/>
                <a:ea typeface="Calibri" pitchFamily="34" charset="-122"/>
                <a:cs typeface="Calibri" pitchFamily="34" charset="-120"/>
              </a:rPr>
              <a:t>CORREGIR</a:t>
            </a:r>
            <a:endParaRPr lang="en-US" sz="1800" dirty="0"/>
          </a:p>
        </p:txBody>
      </p:sp>
      <p:sp>
        <p:nvSpPr>
          <p:cNvPr id="14" name="Text 12"/>
          <p:cNvSpPr/>
          <p:nvPr/>
        </p:nvSpPr>
        <p:spPr>
          <a:xfrm>
            <a:off x="6217920" y="2423160"/>
            <a:ext cx="2468880" cy="1005840"/>
          </a:xfrm>
          <a:prstGeom prst="rect">
            <a:avLst/>
          </a:prstGeom>
          <a:noFill/>
          <a:ln/>
        </p:spPr>
        <p:txBody>
          <a:bodyPr wrap="square" rtlCol="0" anchor="ctr"/>
          <a:lstStyle/>
          <a:p>
            <a:pPr marL="0" indent="0" algn="ctr">
              <a:buNone/>
            </a:pPr>
            <a:r>
              <a:rPr lang="en-US" sz="1300" dirty="0">
                <a:solidFill>
                  <a:srgbClr val="002855"/>
                </a:solidFill>
                <a:latin typeface="Calibri" pitchFamily="34" charset="0"/>
                <a:ea typeface="Calibri" pitchFamily="34" charset="-122"/>
                <a:cs typeface="Calibri" pitchFamily="34" charset="-120"/>
              </a:rPr>
              <a:t>Retroalimenta cuando hay desvíos</a:t>
            </a:r>
            <a:endParaRPr lang="en-US" sz="1300" dirty="0"/>
          </a:p>
        </p:txBody>
      </p:sp>
      <p:sp>
        <p:nvSpPr>
          <p:cNvPr id="16" name="Text 14"/>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002855"/>
                </a:solidFill>
                <a:latin typeface="Calibri" pitchFamily="34" charset="0"/>
                <a:ea typeface="Calibri" pitchFamily="34" charset="-122"/>
                <a:cs typeface="Calibri" pitchFamily="34" charset="-120"/>
              </a:rPr>
              <a:t>Cómo modelar: Somos Enfocados</a:t>
            </a:r>
            <a:endParaRPr lang="en-US" sz="3200" dirty="0"/>
          </a:p>
        </p:txBody>
      </p:sp>
      <p:sp>
        <p:nvSpPr>
          <p:cNvPr id="3" name="Shape 1"/>
          <p:cNvSpPr/>
          <p:nvPr/>
        </p:nvSpPr>
        <p:spPr>
          <a:xfrm>
            <a:off x="365760" y="1005840"/>
            <a:ext cx="4114800" cy="914400"/>
          </a:xfrm>
          <a:prstGeom prst="roundRect">
            <a:avLst>
              <a:gd name="adj" fmla="val 10000"/>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4" name="Text 2"/>
          <p:cNvSpPr/>
          <p:nvPr/>
        </p:nvSpPr>
        <p:spPr>
          <a:xfrm>
            <a:off x="502920" y="1005840"/>
            <a:ext cx="3840480" cy="914400"/>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Fija metas retadoras con tu equipo — no metas cómodas</a:t>
            </a:r>
            <a:endParaRPr lang="en-US" sz="1300" dirty="0"/>
          </a:p>
        </p:txBody>
      </p:sp>
      <p:sp>
        <p:nvSpPr>
          <p:cNvPr id="5" name="Shape 3"/>
          <p:cNvSpPr/>
          <p:nvPr/>
        </p:nvSpPr>
        <p:spPr>
          <a:xfrm>
            <a:off x="365760" y="2057400"/>
            <a:ext cx="4114800" cy="914400"/>
          </a:xfrm>
          <a:prstGeom prst="roundRect">
            <a:avLst>
              <a:gd name="adj" fmla="val 10000"/>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6" name="Text 4"/>
          <p:cNvSpPr/>
          <p:nvPr/>
        </p:nvSpPr>
        <p:spPr>
          <a:xfrm>
            <a:off x="502920" y="2057400"/>
            <a:ext cx="3840480" cy="914400"/>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Revisa KPIs semanalmente, con granularidad — no solo el promedio</a:t>
            </a:r>
            <a:endParaRPr lang="en-US" sz="1300" dirty="0"/>
          </a:p>
        </p:txBody>
      </p:sp>
      <p:sp>
        <p:nvSpPr>
          <p:cNvPr id="7" name="Shape 5"/>
          <p:cNvSpPr/>
          <p:nvPr/>
        </p:nvSpPr>
        <p:spPr>
          <a:xfrm>
            <a:off x="365760" y="3108960"/>
            <a:ext cx="4114800" cy="914400"/>
          </a:xfrm>
          <a:prstGeom prst="roundRect">
            <a:avLst>
              <a:gd name="adj" fmla="val 10000"/>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8" name="Text 6"/>
          <p:cNvSpPr/>
          <p:nvPr/>
        </p:nvSpPr>
        <p:spPr>
          <a:xfrm>
            <a:off x="502920" y="3108960"/>
            <a:ext cx="3840480" cy="914400"/>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Cuida los recursos como si fueran tuyos</a:t>
            </a:r>
            <a:endParaRPr lang="en-US" sz="1300" dirty="0"/>
          </a:p>
        </p:txBody>
      </p:sp>
      <p:sp>
        <p:nvSpPr>
          <p:cNvPr id="9" name="Shape 7"/>
          <p:cNvSpPr/>
          <p:nvPr/>
        </p:nvSpPr>
        <p:spPr>
          <a:xfrm>
            <a:off x="4846320" y="1005840"/>
            <a:ext cx="3931920" cy="2926080"/>
          </a:xfrm>
          <a:prstGeom prst="roundRect">
            <a:avLst>
              <a:gd name="adj" fmla="val 3125"/>
            </a:avLst>
          </a:prstGeom>
          <a:solidFill>
            <a:srgbClr val="002855"/>
          </a:solidFill>
          <a:ln w="12700">
            <a:solidFill>
              <a:srgbClr val="002855"/>
            </a:solidFill>
            <a:prstDash val="solid"/>
          </a:ln>
        </p:spPr>
        <p:txBody>
          <a:bodyPr/>
          <a:lstStyle/>
          <a:p>
            <a:endParaRPr lang="en-BO"/>
          </a:p>
        </p:txBody>
      </p:sp>
      <p:sp>
        <p:nvSpPr>
          <p:cNvPr id="10" name="Text 8"/>
          <p:cNvSpPr/>
          <p:nvPr/>
        </p:nvSpPr>
        <p:spPr>
          <a:xfrm>
            <a:off x="4937760" y="1097280"/>
            <a:ext cx="374904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La pregunta del líder enfocado:</a:t>
            </a:r>
            <a:endParaRPr lang="en-US" sz="1600" dirty="0"/>
          </a:p>
        </p:txBody>
      </p:sp>
      <p:sp>
        <p:nvSpPr>
          <p:cNvPr id="11" name="Text 9"/>
          <p:cNvSpPr/>
          <p:nvPr/>
        </p:nvSpPr>
        <p:spPr>
          <a:xfrm>
            <a:off x="4937760" y="1645920"/>
            <a:ext cx="3749040" cy="2011680"/>
          </a:xfrm>
          <a:prstGeom prst="rect">
            <a:avLst/>
          </a:prstGeom>
          <a:noFill/>
          <a:ln/>
        </p:spPr>
        <p:txBody>
          <a:bodyPr wrap="square" rtlCol="0" anchor="ctr"/>
          <a:lstStyle/>
          <a:p>
            <a:pPr marL="0" indent="0" algn="ctr">
              <a:buNone/>
            </a:pPr>
            <a:r>
              <a:rPr lang="en-US" sz="1400" i="1" dirty="0">
                <a:solidFill>
                  <a:srgbClr val="FFFFFF"/>
                </a:solidFill>
                <a:latin typeface="Calibri" pitchFamily="34" charset="0"/>
                <a:ea typeface="Calibri" pitchFamily="34" charset="-122"/>
                <a:cs typeface="Calibri" pitchFamily="34" charset="-120"/>
              </a:rPr>
              <a:t>"¿Estamos apuntando tan alto como podemos? ¿Tenemos los datos reales para decidir?"</a:t>
            </a:r>
            <a:endParaRPr lang="en-US" sz="1400" dirty="0"/>
          </a:p>
        </p:txBody>
      </p:sp>
      <p:sp>
        <p:nvSpPr>
          <p:cNvPr id="13" name="Text 11"/>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002855"/>
                </a:solidFill>
                <a:latin typeface="Calibri" pitchFamily="34" charset="0"/>
                <a:ea typeface="Calibri" pitchFamily="34" charset="-122"/>
                <a:cs typeface="Calibri" pitchFamily="34" charset="-120"/>
              </a:rPr>
              <a:t>Cómo modelar: Somos Ágiles</a:t>
            </a:r>
            <a:endParaRPr lang="en-US" sz="3200" dirty="0"/>
          </a:p>
        </p:txBody>
      </p:sp>
      <p:sp>
        <p:nvSpPr>
          <p:cNvPr id="3" name="Shape 1"/>
          <p:cNvSpPr/>
          <p:nvPr/>
        </p:nvSpPr>
        <p:spPr>
          <a:xfrm>
            <a:off x="457200" y="1097280"/>
            <a:ext cx="8229600" cy="822960"/>
          </a:xfrm>
          <a:prstGeom prst="roundRect">
            <a:avLst>
              <a:gd name="adj" fmla="val 11111"/>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4" name="Text 2"/>
          <p:cNvSpPr/>
          <p:nvPr/>
        </p:nvSpPr>
        <p:spPr>
          <a:xfrm>
            <a:off x="640080" y="1097280"/>
            <a:ext cx="7863840" cy="822960"/>
          </a:xfrm>
          <a:prstGeom prst="rect">
            <a:avLst/>
          </a:prstGeom>
          <a:noFill/>
          <a:ln/>
        </p:spPr>
        <p:txBody>
          <a:bodyPr wrap="square" rtlCol="0" anchor="ctr"/>
          <a:lstStyle/>
          <a:p>
            <a:pPr marL="0" indent="0">
              <a:buNone/>
            </a:pPr>
            <a:r>
              <a:rPr lang="en-US" sz="1400" dirty="0">
                <a:solidFill>
                  <a:srgbClr val="002855"/>
                </a:solidFill>
                <a:latin typeface="Calibri" pitchFamily="34" charset="0"/>
                <a:ea typeface="Calibri" pitchFamily="34" charset="-122"/>
                <a:cs typeface="Calibri" pitchFamily="34" charset="-120"/>
              </a:rPr>
              <a:t>Decide con el 70-80% de la información. No esperes la perfección.</a:t>
            </a:r>
            <a:endParaRPr lang="en-US" sz="1400" dirty="0"/>
          </a:p>
        </p:txBody>
      </p:sp>
      <p:sp>
        <p:nvSpPr>
          <p:cNvPr id="5" name="Shape 3"/>
          <p:cNvSpPr/>
          <p:nvPr/>
        </p:nvSpPr>
        <p:spPr>
          <a:xfrm>
            <a:off x="457200" y="2103120"/>
            <a:ext cx="8229600" cy="822960"/>
          </a:xfrm>
          <a:prstGeom prst="roundRect">
            <a:avLst>
              <a:gd name="adj" fmla="val 11111"/>
            </a:avLst>
          </a:prstGeom>
          <a:solidFill>
            <a:srgbClr val="E8F8F0"/>
          </a:solidFill>
          <a:ln w="12700">
            <a:solidFill>
              <a:srgbClr val="E8F8F0"/>
            </a:solidFill>
            <a:prstDash val="solid"/>
          </a:ln>
          <a:effectLst>
            <a:outerShdw blurRad="76200" dist="25400" dir="2700000" algn="bl" rotWithShape="0">
              <a:srgbClr val="000000">
                <a:alpha val="12000"/>
              </a:srgbClr>
            </a:outerShdw>
          </a:effectLst>
        </p:spPr>
        <p:txBody>
          <a:bodyPr/>
          <a:lstStyle/>
          <a:p>
            <a:endParaRPr lang="en-BO"/>
          </a:p>
        </p:txBody>
      </p:sp>
      <p:sp>
        <p:nvSpPr>
          <p:cNvPr id="6" name="Text 4"/>
          <p:cNvSpPr/>
          <p:nvPr/>
        </p:nvSpPr>
        <p:spPr>
          <a:xfrm>
            <a:off x="640080" y="2103120"/>
            <a:ext cx="7863840" cy="822960"/>
          </a:xfrm>
          <a:prstGeom prst="rect">
            <a:avLst/>
          </a:prstGeom>
          <a:noFill/>
          <a:ln/>
        </p:spPr>
        <p:txBody>
          <a:bodyPr wrap="square" rtlCol="0" anchor="ctr"/>
          <a:lstStyle/>
          <a:p>
            <a:pPr marL="0" indent="0">
              <a:buNone/>
            </a:pPr>
            <a:r>
              <a:rPr lang="en-US" sz="1400" dirty="0">
                <a:solidFill>
                  <a:srgbClr val="002855"/>
                </a:solidFill>
                <a:latin typeface="Calibri" pitchFamily="34" charset="0"/>
                <a:ea typeface="Calibri" pitchFamily="34" charset="-122"/>
                <a:cs typeface="Calibri" pitchFamily="34" charset="-120"/>
              </a:rPr>
              <a:t>Lanza ciclos cortos. Prueba, mide, ajusta — antes que el plan perfecto.</a:t>
            </a:r>
            <a:endParaRPr lang="en-US" sz="1400" dirty="0"/>
          </a:p>
        </p:txBody>
      </p:sp>
      <p:sp>
        <p:nvSpPr>
          <p:cNvPr id="7" name="Shape 5"/>
          <p:cNvSpPr/>
          <p:nvPr/>
        </p:nvSpPr>
        <p:spPr>
          <a:xfrm>
            <a:off x="457200" y="3108960"/>
            <a:ext cx="8229600" cy="822960"/>
          </a:xfrm>
          <a:prstGeom prst="roundRect">
            <a:avLst>
              <a:gd name="adj" fmla="val 11111"/>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8" name="Text 6"/>
          <p:cNvSpPr/>
          <p:nvPr/>
        </p:nvSpPr>
        <p:spPr>
          <a:xfrm>
            <a:off x="640080" y="3108960"/>
            <a:ext cx="7863840" cy="822960"/>
          </a:xfrm>
          <a:prstGeom prst="rect">
            <a:avLst/>
          </a:prstGeom>
          <a:noFill/>
          <a:ln/>
        </p:spPr>
        <p:txBody>
          <a:bodyPr wrap="square" rtlCol="0" anchor="ctr"/>
          <a:lstStyle/>
          <a:p>
            <a:pPr marL="0" indent="0">
              <a:buNone/>
            </a:pPr>
            <a:r>
              <a:rPr lang="en-US" sz="1400" dirty="0">
                <a:solidFill>
                  <a:srgbClr val="002855"/>
                </a:solidFill>
                <a:latin typeface="Calibri" pitchFamily="34" charset="0"/>
                <a:ea typeface="Calibri" pitchFamily="34" charset="-122"/>
                <a:cs typeface="Calibri" pitchFamily="34" charset="-120"/>
              </a:rPr>
              <a:t>Celebra el aprendizaje rápido, no solo el éxito. El error es dato.</a:t>
            </a:r>
            <a:endParaRPr lang="en-US" sz="1400" dirty="0"/>
          </a:p>
        </p:txBody>
      </p:sp>
      <p:sp>
        <p:nvSpPr>
          <p:cNvPr id="9" name="Shape 7"/>
          <p:cNvSpPr/>
          <p:nvPr/>
        </p:nvSpPr>
        <p:spPr>
          <a:xfrm>
            <a:off x="457200" y="3657600"/>
            <a:ext cx="8229600" cy="822960"/>
          </a:xfrm>
          <a:prstGeom prst="roundRect">
            <a:avLst>
              <a:gd name="adj" fmla="val 11111"/>
            </a:avLst>
          </a:prstGeom>
          <a:solidFill>
            <a:srgbClr val="002855"/>
          </a:solidFill>
          <a:ln w="12700">
            <a:solidFill>
              <a:srgbClr val="002855"/>
            </a:solidFill>
            <a:prstDash val="solid"/>
          </a:ln>
        </p:spPr>
        <p:txBody>
          <a:bodyPr/>
          <a:lstStyle/>
          <a:p>
            <a:endParaRPr lang="en-BO"/>
          </a:p>
        </p:txBody>
      </p:sp>
      <p:sp>
        <p:nvSpPr>
          <p:cNvPr id="10" name="Text 8"/>
          <p:cNvSpPr/>
          <p:nvPr/>
        </p:nvSpPr>
        <p:spPr>
          <a:xfrm>
            <a:off x="548640" y="3657600"/>
            <a:ext cx="8046720" cy="822960"/>
          </a:xfrm>
          <a:prstGeom prst="rect">
            <a:avLst/>
          </a:prstGeom>
          <a:noFill/>
          <a:ln/>
        </p:spPr>
        <p:txBody>
          <a:bodyPr wrap="square" rtlCol="0" anchor="ctr"/>
          <a:lstStyle/>
          <a:p>
            <a:pPr marL="0" indent="0" algn="ctr">
              <a:buNone/>
            </a:pPr>
            <a:r>
              <a:rPr lang="en-US" sz="1600" i="1" dirty="0">
                <a:solidFill>
                  <a:srgbClr val="FFFFFF"/>
                </a:solidFill>
                <a:latin typeface="Calibri" pitchFamily="34" charset="0"/>
                <a:ea typeface="Calibri" pitchFamily="34" charset="-122"/>
                <a:cs typeface="Calibri" pitchFamily="34" charset="-120"/>
              </a:rPr>
              <a:t>"La agilidad no es hacerlo más rápido. Es aprender más rápido que el cambio."</a:t>
            </a:r>
            <a:endParaRPr lang="en-US" sz="1600" dirty="0"/>
          </a:p>
        </p:txBody>
      </p:sp>
      <p:sp>
        <p:nvSpPr>
          <p:cNvPr id="12" name="Text 10"/>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002855"/>
                </a:solidFill>
                <a:latin typeface="Calibri" pitchFamily="34" charset="0"/>
                <a:ea typeface="Calibri" pitchFamily="34" charset="-122"/>
                <a:cs typeface="Calibri" pitchFamily="34" charset="-120"/>
              </a:rPr>
              <a:t>Cómo modelar: Somos Colaborativos</a:t>
            </a:r>
            <a:endParaRPr lang="en-US" sz="3200" dirty="0"/>
          </a:p>
        </p:txBody>
      </p:sp>
      <p:sp>
        <p:nvSpPr>
          <p:cNvPr id="3" name="Shape 1"/>
          <p:cNvSpPr/>
          <p:nvPr/>
        </p:nvSpPr>
        <p:spPr>
          <a:xfrm>
            <a:off x="365760" y="1097280"/>
            <a:ext cx="2651760" cy="1097280"/>
          </a:xfrm>
          <a:prstGeom prst="roundRect">
            <a:avLst>
              <a:gd name="adj" fmla="val 8333"/>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4" name="Text 2"/>
          <p:cNvSpPr/>
          <p:nvPr/>
        </p:nvSpPr>
        <p:spPr>
          <a:xfrm>
            <a:off x="457200" y="1097280"/>
            <a:ext cx="2468880" cy="1097280"/>
          </a:xfrm>
          <a:prstGeom prst="rect">
            <a:avLst/>
          </a:prstGeom>
          <a:noFill/>
          <a:ln/>
        </p:spPr>
        <p:txBody>
          <a:bodyPr wrap="square" rtlCol="0" anchor="ctr"/>
          <a:lstStyle/>
          <a:p>
            <a:pPr marL="0" indent="0" algn="ctr">
              <a:buNone/>
            </a:pPr>
            <a:r>
              <a:rPr lang="en-US" sz="1300" dirty="0">
                <a:solidFill>
                  <a:srgbClr val="002855"/>
                </a:solidFill>
                <a:latin typeface="Calibri" pitchFamily="34" charset="0"/>
                <a:ea typeface="Calibri" pitchFamily="34" charset="-122"/>
                <a:cs typeface="Calibri" pitchFamily="34" charset="-120"/>
              </a:rPr>
              <a:t>Rompe silos activamente — conecta a tu equipo con otras áreas</a:t>
            </a:r>
            <a:endParaRPr lang="en-US" sz="1300" dirty="0"/>
          </a:p>
        </p:txBody>
      </p:sp>
      <p:sp>
        <p:nvSpPr>
          <p:cNvPr id="5" name="Shape 3"/>
          <p:cNvSpPr/>
          <p:nvPr/>
        </p:nvSpPr>
        <p:spPr>
          <a:xfrm>
            <a:off x="3246120" y="1097280"/>
            <a:ext cx="2651760" cy="1097280"/>
          </a:xfrm>
          <a:prstGeom prst="roundRect">
            <a:avLst>
              <a:gd name="adj" fmla="val 8333"/>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6" name="Text 4"/>
          <p:cNvSpPr/>
          <p:nvPr/>
        </p:nvSpPr>
        <p:spPr>
          <a:xfrm>
            <a:off x="3337560" y="1097280"/>
            <a:ext cx="2468880" cy="1097280"/>
          </a:xfrm>
          <a:prstGeom prst="rect">
            <a:avLst/>
          </a:prstGeom>
          <a:noFill/>
          <a:ln/>
        </p:spPr>
        <p:txBody>
          <a:bodyPr wrap="square" rtlCol="0" anchor="ctr"/>
          <a:lstStyle/>
          <a:p>
            <a:pPr marL="0" indent="0" algn="ctr">
              <a:buNone/>
            </a:pPr>
            <a:r>
              <a:rPr lang="en-US" sz="1300" dirty="0">
                <a:solidFill>
                  <a:srgbClr val="002855"/>
                </a:solidFill>
                <a:latin typeface="Calibri" pitchFamily="34" charset="0"/>
                <a:ea typeface="Calibri" pitchFamily="34" charset="-122"/>
                <a:cs typeface="Calibri" pitchFamily="34" charset="-120"/>
              </a:rPr>
              <a:t>Da crédito a otros — no te lleves los logros de tu equipo</a:t>
            </a:r>
            <a:endParaRPr lang="en-US" sz="1300" dirty="0"/>
          </a:p>
        </p:txBody>
      </p:sp>
      <p:sp>
        <p:nvSpPr>
          <p:cNvPr id="7" name="Shape 5"/>
          <p:cNvSpPr/>
          <p:nvPr/>
        </p:nvSpPr>
        <p:spPr>
          <a:xfrm>
            <a:off x="6126480" y="1097280"/>
            <a:ext cx="2651760" cy="1097280"/>
          </a:xfrm>
          <a:prstGeom prst="roundRect">
            <a:avLst>
              <a:gd name="adj" fmla="val 8333"/>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8" name="Text 6"/>
          <p:cNvSpPr/>
          <p:nvPr/>
        </p:nvSpPr>
        <p:spPr>
          <a:xfrm>
            <a:off x="6217920" y="1097280"/>
            <a:ext cx="2468880" cy="1097280"/>
          </a:xfrm>
          <a:prstGeom prst="rect">
            <a:avLst/>
          </a:prstGeom>
          <a:noFill/>
          <a:ln/>
        </p:spPr>
        <p:txBody>
          <a:bodyPr wrap="square" rtlCol="0" anchor="ctr"/>
          <a:lstStyle/>
          <a:p>
            <a:pPr marL="0" indent="0" algn="ctr">
              <a:buNone/>
            </a:pPr>
            <a:r>
              <a:rPr lang="en-US" sz="1300" dirty="0">
                <a:solidFill>
                  <a:srgbClr val="002855"/>
                </a:solidFill>
                <a:latin typeface="Calibri" pitchFamily="34" charset="0"/>
                <a:ea typeface="Calibri" pitchFamily="34" charset="-122"/>
                <a:cs typeface="Calibri" pitchFamily="34" charset="-120"/>
              </a:rPr>
              <a:t>Celebra el 'nosotros', no el 'yo'</a:t>
            </a:r>
            <a:endParaRPr lang="en-US" sz="1300" dirty="0"/>
          </a:p>
        </p:txBody>
      </p:sp>
      <p:sp>
        <p:nvSpPr>
          <p:cNvPr id="9" name="Shape 7"/>
          <p:cNvSpPr/>
          <p:nvPr/>
        </p:nvSpPr>
        <p:spPr>
          <a:xfrm>
            <a:off x="365760" y="2560320"/>
            <a:ext cx="4114800" cy="1645920"/>
          </a:xfrm>
          <a:prstGeom prst="roundRect">
            <a:avLst>
              <a:gd name="adj" fmla="val 5556"/>
            </a:avLst>
          </a:prstGeom>
          <a:solidFill>
            <a:srgbClr val="E8F8F0"/>
          </a:solidFill>
          <a:ln w="12700">
            <a:solidFill>
              <a:srgbClr val="00A878"/>
            </a:solidFill>
            <a:prstDash val="solid"/>
          </a:ln>
        </p:spPr>
        <p:txBody>
          <a:bodyPr/>
          <a:lstStyle/>
          <a:p>
            <a:endParaRPr lang="en-BO"/>
          </a:p>
        </p:txBody>
      </p:sp>
      <p:sp>
        <p:nvSpPr>
          <p:cNvPr id="10" name="Text 8"/>
          <p:cNvSpPr/>
          <p:nvPr/>
        </p:nvSpPr>
        <p:spPr>
          <a:xfrm>
            <a:off x="457200" y="2651760"/>
            <a:ext cx="3931920" cy="1463040"/>
          </a:xfrm>
          <a:prstGeom prst="rect">
            <a:avLst/>
          </a:prstGeom>
          <a:noFill/>
          <a:ln/>
        </p:spPr>
        <p:txBody>
          <a:bodyPr wrap="square" rtlCol="0" anchor="ctr"/>
          <a:lstStyle/>
          <a:p>
            <a:pPr marL="0" indent="0">
              <a:buNone/>
            </a:pPr>
            <a:r>
              <a:rPr lang="en-US" sz="1400" b="1" dirty="0">
                <a:solidFill>
                  <a:srgbClr val="002855"/>
                </a:solidFill>
                <a:latin typeface="Calibri" pitchFamily="34" charset="0"/>
                <a:ea typeface="Calibri" pitchFamily="34" charset="-122"/>
                <a:cs typeface="Calibri" pitchFamily="34" charset="-120"/>
              </a:rPr>
              <a:t>EL LÍDER QUE COLABORA
</a:t>
            </a:r>
            <a:r>
              <a:rPr lang="en-US" sz="1300" dirty="0">
                <a:solidFill>
                  <a:srgbClr val="002855"/>
                </a:solidFill>
                <a:latin typeface="Calibri" pitchFamily="34" charset="0"/>
                <a:ea typeface="Calibri" pitchFamily="34" charset="-122"/>
                <a:cs typeface="Calibri" pitchFamily="34" charset="-120"/>
              </a:rPr>
              <a:t>Comparte información</a:t>
            </a:r>
            <a:endParaRPr lang="en-US" sz="1400" dirty="0"/>
          </a:p>
          <a:p>
            <a:pPr marL="0" indent="0">
              <a:buNone/>
            </a:pPr>
            <a:r>
              <a:rPr lang="en-US" sz="1300" dirty="0">
                <a:solidFill>
                  <a:srgbClr val="002855"/>
                </a:solidFill>
                <a:latin typeface="Calibri" pitchFamily="34" charset="0"/>
                <a:ea typeface="Calibri" pitchFamily="34" charset="-122"/>
                <a:cs typeface="Calibri" pitchFamily="34" charset="-120"/>
              </a:rPr>
              <a:t>Conecta áreas</a:t>
            </a:r>
            <a:endParaRPr lang="en-US" sz="1400" dirty="0"/>
          </a:p>
          <a:p>
            <a:pPr marL="0" indent="0">
              <a:buNone/>
            </a:pPr>
            <a:r>
              <a:rPr lang="en-US" sz="1300" dirty="0">
                <a:solidFill>
                  <a:srgbClr val="002855"/>
                </a:solidFill>
                <a:latin typeface="Calibri" pitchFamily="34" charset="0"/>
                <a:ea typeface="Calibri" pitchFamily="34" charset="-122"/>
                <a:cs typeface="Calibri" pitchFamily="34" charset="-120"/>
              </a:rPr>
              <a:t>Reconoce al equipo</a:t>
            </a:r>
            <a:endParaRPr lang="en-US" sz="1400" dirty="0"/>
          </a:p>
        </p:txBody>
      </p:sp>
      <p:sp>
        <p:nvSpPr>
          <p:cNvPr id="11" name="Shape 9"/>
          <p:cNvSpPr/>
          <p:nvPr/>
        </p:nvSpPr>
        <p:spPr>
          <a:xfrm>
            <a:off x="4663440" y="2560320"/>
            <a:ext cx="4114800" cy="1645920"/>
          </a:xfrm>
          <a:prstGeom prst="roundRect">
            <a:avLst>
              <a:gd name="adj" fmla="val 5556"/>
            </a:avLst>
          </a:prstGeom>
          <a:solidFill>
            <a:srgbClr val="FEF2F2"/>
          </a:solidFill>
          <a:ln w="12700">
            <a:solidFill>
              <a:srgbClr val="E53E3E"/>
            </a:solidFill>
            <a:prstDash val="solid"/>
          </a:ln>
        </p:spPr>
        <p:txBody>
          <a:bodyPr/>
          <a:lstStyle/>
          <a:p>
            <a:endParaRPr lang="en-BO"/>
          </a:p>
        </p:txBody>
      </p:sp>
      <p:sp>
        <p:nvSpPr>
          <p:cNvPr id="12" name="Text 10"/>
          <p:cNvSpPr/>
          <p:nvPr/>
        </p:nvSpPr>
        <p:spPr>
          <a:xfrm>
            <a:off x="4754880" y="2651760"/>
            <a:ext cx="3931920" cy="1463040"/>
          </a:xfrm>
          <a:prstGeom prst="rect">
            <a:avLst/>
          </a:prstGeom>
          <a:noFill/>
          <a:ln/>
        </p:spPr>
        <p:txBody>
          <a:bodyPr wrap="square" rtlCol="0" anchor="ctr"/>
          <a:lstStyle/>
          <a:p>
            <a:pPr marL="0" indent="0">
              <a:buNone/>
            </a:pPr>
            <a:r>
              <a:rPr lang="en-US" sz="1400" b="1" dirty="0">
                <a:solidFill>
                  <a:srgbClr val="002855"/>
                </a:solidFill>
                <a:latin typeface="Calibri" pitchFamily="34" charset="0"/>
                <a:ea typeface="Calibri" pitchFamily="34" charset="-122"/>
                <a:cs typeface="Calibri" pitchFamily="34" charset="-120"/>
              </a:rPr>
              <a:t>EL LÍDER QUE NO COLABORA
</a:t>
            </a:r>
            <a:r>
              <a:rPr lang="en-US" sz="1300" dirty="0">
                <a:solidFill>
                  <a:srgbClr val="002855"/>
                </a:solidFill>
                <a:latin typeface="Calibri" pitchFamily="34" charset="0"/>
                <a:ea typeface="Calibri" pitchFamily="34" charset="-122"/>
                <a:cs typeface="Calibri" pitchFamily="34" charset="-120"/>
              </a:rPr>
              <a:t>Guarda información</a:t>
            </a:r>
            <a:endParaRPr lang="en-US" sz="1400" dirty="0"/>
          </a:p>
          <a:p>
            <a:pPr marL="0" indent="0">
              <a:buNone/>
            </a:pPr>
            <a:r>
              <a:rPr lang="en-US" sz="1300" dirty="0">
                <a:solidFill>
                  <a:srgbClr val="002855"/>
                </a:solidFill>
                <a:latin typeface="Calibri" pitchFamily="34" charset="0"/>
                <a:ea typeface="Calibri" pitchFamily="34" charset="-122"/>
                <a:cs typeface="Calibri" pitchFamily="34" charset="-120"/>
              </a:rPr>
              <a:t>Crea silos</a:t>
            </a:r>
            <a:endParaRPr lang="en-US" sz="1400" dirty="0"/>
          </a:p>
          <a:p>
            <a:pPr marL="0" indent="0">
              <a:buNone/>
            </a:pPr>
            <a:r>
              <a:rPr lang="en-US" sz="1300" dirty="0">
                <a:solidFill>
                  <a:srgbClr val="002855"/>
                </a:solidFill>
                <a:latin typeface="Calibri" pitchFamily="34" charset="0"/>
                <a:ea typeface="Calibri" pitchFamily="34" charset="-122"/>
                <a:cs typeface="Calibri" pitchFamily="34" charset="-120"/>
              </a:rPr>
              <a:t>Se lleva el crédito</a:t>
            </a:r>
            <a:endParaRPr lang="en-US" sz="1400" dirty="0"/>
          </a:p>
        </p:txBody>
      </p:sp>
      <p:sp>
        <p:nvSpPr>
          <p:cNvPr id="14" name="Text 12"/>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002855"/>
                </a:solidFill>
                <a:latin typeface="Calibri" pitchFamily="34" charset="0"/>
                <a:ea typeface="Calibri" pitchFamily="34" charset="-122"/>
                <a:cs typeface="Calibri" pitchFamily="34" charset="-120"/>
              </a:rPr>
              <a:t>Cómo modelar: Somos Íntegros</a:t>
            </a:r>
            <a:endParaRPr lang="en-US" sz="3200" dirty="0"/>
          </a:p>
        </p:txBody>
      </p:sp>
      <p:sp>
        <p:nvSpPr>
          <p:cNvPr id="3" name="Text 1"/>
          <p:cNvSpPr/>
          <p:nvPr/>
        </p:nvSpPr>
        <p:spPr>
          <a:xfrm>
            <a:off x="457200" y="1188720"/>
            <a:ext cx="8229600" cy="1097280"/>
          </a:xfrm>
          <a:prstGeom prst="rect">
            <a:avLst/>
          </a:prstGeom>
          <a:noFill/>
          <a:ln/>
        </p:spPr>
        <p:txBody>
          <a:bodyPr wrap="square" rtlCol="0" anchor="ctr"/>
          <a:lstStyle/>
          <a:p>
            <a:pPr marL="0" indent="0" algn="ctr">
              <a:buNone/>
            </a:pPr>
            <a:r>
              <a:rPr lang="en-US" sz="2200" i="1" dirty="0">
                <a:solidFill>
                  <a:srgbClr val="002855"/>
                </a:solidFill>
                <a:latin typeface="Calibri" pitchFamily="34" charset="0"/>
                <a:ea typeface="Calibri" pitchFamily="34" charset="-122"/>
                <a:cs typeface="Calibri" pitchFamily="34" charset="-120"/>
              </a:rPr>
              <a:t>"¿Estarías orgulloso si tus hijos vieran esta decisión?"</a:t>
            </a:r>
            <a:endParaRPr lang="en-US" sz="2200" dirty="0"/>
          </a:p>
        </p:txBody>
      </p:sp>
      <p:sp>
        <p:nvSpPr>
          <p:cNvPr id="4" name="Shape 2"/>
          <p:cNvSpPr/>
          <p:nvPr/>
        </p:nvSpPr>
        <p:spPr>
          <a:xfrm>
            <a:off x="365760" y="2560320"/>
            <a:ext cx="2651760" cy="1645920"/>
          </a:xfrm>
          <a:prstGeom prst="roundRect">
            <a:avLst>
              <a:gd name="adj" fmla="val 5556"/>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5" name="Text 3"/>
          <p:cNvSpPr/>
          <p:nvPr/>
        </p:nvSpPr>
        <p:spPr>
          <a:xfrm>
            <a:off x="457200" y="2560320"/>
            <a:ext cx="2468880" cy="1645920"/>
          </a:xfrm>
          <a:prstGeom prst="rect">
            <a:avLst/>
          </a:prstGeom>
          <a:noFill/>
          <a:ln/>
        </p:spPr>
        <p:txBody>
          <a:bodyPr wrap="square" rtlCol="0" anchor="ctr"/>
          <a:lstStyle/>
          <a:p>
            <a:pPr marL="0" indent="0" algn="ctr">
              <a:buNone/>
            </a:pPr>
            <a:r>
              <a:rPr lang="en-US" sz="1300" dirty="0">
                <a:solidFill>
                  <a:srgbClr val="002855"/>
                </a:solidFill>
                <a:latin typeface="Calibri" pitchFamily="34" charset="0"/>
                <a:ea typeface="Calibri" pitchFamily="34" charset="-122"/>
                <a:cs typeface="Calibri" pitchFamily="34" charset="-120"/>
              </a:rPr>
              <a:t>Siempre visible. Actúa como si te miraran — porque siempre te miran.</a:t>
            </a:r>
            <a:endParaRPr lang="en-US" sz="1300" dirty="0"/>
          </a:p>
        </p:txBody>
      </p:sp>
      <p:sp>
        <p:nvSpPr>
          <p:cNvPr id="6" name="Shape 4"/>
          <p:cNvSpPr/>
          <p:nvPr/>
        </p:nvSpPr>
        <p:spPr>
          <a:xfrm>
            <a:off x="3246120" y="2560320"/>
            <a:ext cx="2651760" cy="1645920"/>
          </a:xfrm>
          <a:prstGeom prst="roundRect">
            <a:avLst>
              <a:gd name="adj" fmla="val 5556"/>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7" name="Text 5"/>
          <p:cNvSpPr/>
          <p:nvPr/>
        </p:nvSpPr>
        <p:spPr>
          <a:xfrm>
            <a:off x="3337560" y="2560320"/>
            <a:ext cx="2468880" cy="1645920"/>
          </a:xfrm>
          <a:prstGeom prst="rect">
            <a:avLst/>
          </a:prstGeom>
          <a:noFill/>
          <a:ln/>
        </p:spPr>
        <p:txBody>
          <a:bodyPr wrap="square" rtlCol="0" anchor="ctr"/>
          <a:lstStyle/>
          <a:p>
            <a:pPr marL="0" indent="0" algn="ctr">
              <a:buNone/>
            </a:pPr>
            <a:r>
              <a:rPr lang="en-US" sz="1300" dirty="0">
                <a:solidFill>
                  <a:srgbClr val="002855"/>
                </a:solidFill>
                <a:latin typeface="Calibri" pitchFamily="34" charset="0"/>
                <a:ea typeface="Calibri" pitchFamily="34" charset="-122"/>
                <a:cs typeface="Calibri" pitchFamily="34" charset="-120"/>
              </a:rPr>
              <a:t>La Regla de los 4 Ojos. Decisiones importantes con validación.</a:t>
            </a:r>
            <a:endParaRPr lang="en-US" sz="1300" dirty="0"/>
          </a:p>
        </p:txBody>
      </p:sp>
      <p:sp>
        <p:nvSpPr>
          <p:cNvPr id="8" name="Shape 6"/>
          <p:cNvSpPr/>
          <p:nvPr/>
        </p:nvSpPr>
        <p:spPr>
          <a:xfrm>
            <a:off x="6126480" y="2560320"/>
            <a:ext cx="2651760" cy="1645920"/>
          </a:xfrm>
          <a:prstGeom prst="roundRect">
            <a:avLst>
              <a:gd name="adj" fmla="val 5556"/>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9" name="Text 7"/>
          <p:cNvSpPr/>
          <p:nvPr/>
        </p:nvSpPr>
        <p:spPr>
          <a:xfrm>
            <a:off x="6217920" y="2560320"/>
            <a:ext cx="2468880" cy="1645920"/>
          </a:xfrm>
          <a:prstGeom prst="rect">
            <a:avLst/>
          </a:prstGeom>
          <a:noFill/>
          <a:ln/>
        </p:spPr>
        <p:txBody>
          <a:bodyPr wrap="square" rtlCol="0" anchor="ctr"/>
          <a:lstStyle/>
          <a:p>
            <a:pPr marL="0" indent="0" algn="ctr">
              <a:buNone/>
            </a:pPr>
            <a:r>
              <a:rPr lang="en-US" sz="1300" dirty="0">
                <a:solidFill>
                  <a:srgbClr val="002855"/>
                </a:solidFill>
                <a:latin typeface="Calibri" pitchFamily="34" charset="0"/>
                <a:ea typeface="Calibri" pitchFamily="34" charset="-122"/>
                <a:cs typeface="Calibri" pitchFamily="34" charset="-120"/>
              </a:rPr>
              <a:t>Reconoce errores antes de que los descubran. La confianza se construye así.</a:t>
            </a:r>
            <a:endParaRPr lang="en-US" sz="1300" dirty="0"/>
          </a:p>
        </p:txBody>
      </p:sp>
      <p:sp>
        <p:nvSpPr>
          <p:cNvPr id="11" name="Text 9"/>
          <p:cNvSpPr/>
          <p:nvPr/>
        </p:nvSpPr>
        <p:spPr>
          <a:xfrm>
            <a:off x="6858000" y="4663440"/>
            <a:ext cx="1828800" cy="365760"/>
          </a:xfrm>
          <a:prstGeom prst="rect">
            <a:avLst/>
          </a:prstGeom>
          <a:noFill/>
          <a:ln/>
        </p:spPr>
        <p:txBody>
          <a:bodyPr wrap="square" rtlCol="0" anchor="ctr"/>
          <a:lstStyle/>
          <a:p>
            <a:pPr marL="0" indent="0" algn="r">
              <a:buNone/>
            </a:pPr>
            <a:r>
              <a:rPr lang="en-US" sz="1100" i="1" dirty="0" err="1">
                <a:solidFill>
                  <a:srgbClr val="00A0DC"/>
                </a:solidFill>
                <a:latin typeface="Calibri" pitchFamily="34" charset="0"/>
                <a:ea typeface="Calibri" pitchFamily="34" charset="-122"/>
                <a:cs typeface="Calibri" pitchFamily="34" charset="-120"/>
              </a:rPr>
              <a:t>sangre</a:t>
            </a:r>
            <a:r>
              <a:rPr lang="en-US" sz="1100" i="1" dirty="0">
                <a:solidFill>
                  <a:srgbClr val="00A0DC"/>
                </a:solidFill>
                <a:latin typeface="Calibri" pitchFamily="34" charset="0"/>
                <a:ea typeface="Calibri" pitchFamily="34" charset="-122"/>
                <a:cs typeface="Calibri" pitchFamily="34" charset="-120"/>
              </a:rPr>
              <a:t> Tigo</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002855"/>
                </a:solidFill>
                <a:latin typeface="Calibri" pitchFamily="34" charset="0"/>
                <a:ea typeface="Calibri" pitchFamily="34" charset="-122"/>
                <a:cs typeface="Calibri" pitchFamily="34" charset="-120"/>
              </a:rPr>
              <a:t>Cómo modelar: Somos Talento Tigo</a:t>
            </a:r>
            <a:endParaRPr lang="en-US" sz="3200" dirty="0"/>
          </a:p>
        </p:txBody>
      </p:sp>
      <p:sp>
        <p:nvSpPr>
          <p:cNvPr id="3" name="Text 1"/>
          <p:cNvSpPr/>
          <p:nvPr/>
        </p:nvSpPr>
        <p:spPr>
          <a:xfrm>
            <a:off x="457200" y="1005840"/>
            <a:ext cx="8229600" cy="457200"/>
          </a:xfrm>
          <a:prstGeom prst="rect">
            <a:avLst/>
          </a:prstGeom>
          <a:noFill/>
          <a:ln/>
        </p:spPr>
        <p:txBody>
          <a:bodyPr wrap="square" rtlCol="0" anchor="ctr"/>
          <a:lstStyle/>
          <a:p>
            <a:pPr marL="0" indent="0" algn="ctr">
              <a:buNone/>
            </a:pPr>
            <a:r>
              <a:rPr lang="en-US" sz="2000" i="1" dirty="0">
                <a:solidFill>
                  <a:srgbClr val="002855"/>
                </a:solidFill>
                <a:latin typeface="Calibri" pitchFamily="34" charset="0"/>
                <a:ea typeface="Calibri" pitchFamily="34" charset="-122"/>
                <a:cs typeface="Calibri" pitchFamily="34" charset="-120"/>
              </a:rPr>
              <a:t>Tu equipo es tu cantera. Como tus hijos.</a:t>
            </a:r>
            <a:endParaRPr lang="en-US" sz="2000" dirty="0"/>
          </a:p>
        </p:txBody>
      </p:sp>
      <p:sp>
        <p:nvSpPr>
          <p:cNvPr id="4" name="Shape 2"/>
          <p:cNvSpPr/>
          <p:nvPr/>
        </p:nvSpPr>
        <p:spPr>
          <a:xfrm>
            <a:off x="228600" y="1645920"/>
            <a:ext cx="4114800" cy="1005840"/>
          </a:xfrm>
          <a:prstGeom prst="roundRect">
            <a:avLst>
              <a:gd name="adj" fmla="val 9091"/>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5" name="Text 3"/>
          <p:cNvSpPr/>
          <p:nvPr/>
        </p:nvSpPr>
        <p:spPr>
          <a:xfrm>
            <a:off x="365760" y="1645920"/>
            <a:ext cx="3840480" cy="1005840"/>
          </a:xfrm>
          <a:prstGeom prst="rect">
            <a:avLst/>
          </a:prstGeom>
          <a:noFill/>
          <a:ln/>
        </p:spPr>
        <p:txBody>
          <a:bodyPr wrap="square" rtlCol="0" anchor="ctr"/>
          <a:lstStyle/>
          <a:p>
            <a:pPr marL="0" indent="0" algn="ctr">
              <a:buNone/>
            </a:pPr>
            <a:r>
              <a:rPr lang="en-US" sz="1400" dirty="0">
                <a:solidFill>
                  <a:srgbClr val="002855"/>
                </a:solidFill>
                <a:latin typeface="Calibri" pitchFamily="34" charset="0"/>
                <a:ea typeface="Calibri" pitchFamily="34" charset="-122"/>
                <a:cs typeface="Calibri" pitchFamily="34" charset="-120"/>
              </a:rPr>
              <a:t>Da retos que estiren sus capacidades</a:t>
            </a:r>
            <a:endParaRPr lang="en-US" sz="1400" dirty="0"/>
          </a:p>
        </p:txBody>
      </p:sp>
      <p:sp>
        <p:nvSpPr>
          <p:cNvPr id="6" name="Shape 4"/>
          <p:cNvSpPr/>
          <p:nvPr/>
        </p:nvSpPr>
        <p:spPr>
          <a:xfrm>
            <a:off x="4800600" y="1645920"/>
            <a:ext cx="4114800" cy="1005840"/>
          </a:xfrm>
          <a:prstGeom prst="roundRect">
            <a:avLst>
              <a:gd name="adj" fmla="val 9091"/>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7" name="Text 5"/>
          <p:cNvSpPr/>
          <p:nvPr/>
        </p:nvSpPr>
        <p:spPr>
          <a:xfrm>
            <a:off x="4937760" y="1645920"/>
            <a:ext cx="3840480" cy="1005840"/>
          </a:xfrm>
          <a:prstGeom prst="rect">
            <a:avLst/>
          </a:prstGeom>
          <a:noFill/>
          <a:ln/>
        </p:spPr>
        <p:txBody>
          <a:bodyPr wrap="square" rtlCol="0" anchor="ctr"/>
          <a:lstStyle/>
          <a:p>
            <a:pPr marL="0" indent="0" algn="ctr">
              <a:buNone/>
            </a:pPr>
            <a:r>
              <a:rPr lang="en-US" sz="1400" dirty="0">
                <a:solidFill>
                  <a:srgbClr val="002855"/>
                </a:solidFill>
                <a:latin typeface="Calibri" pitchFamily="34" charset="0"/>
                <a:ea typeface="Calibri" pitchFamily="34" charset="-122"/>
                <a:cs typeface="Calibri" pitchFamily="34" charset="-120"/>
              </a:rPr>
              <a:t>Da derecho a equivocarse y aprender</a:t>
            </a:r>
            <a:endParaRPr lang="en-US" sz="1400" dirty="0"/>
          </a:p>
        </p:txBody>
      </p:sp>
      <p:sp>
        <p:nvSpPr>
          <p:cNvPr id="8" name="Shape 6"/>
          <p:cNvSpPr/>
          <p:nvPr/>
        </p:nvSpPr>
        <p:spPr>
          <a:xfrm>
            <a:off x="228600" y="2788920"/>
            <a:ext cx="4114800" cy="1005840"/>
          </a:xfrm>
          <a:prstGeom prst="roundRect">
            <a:avLst>
              <a:gd name="adj" fmla="val 9091"/>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9" name="Text 7"/>
          <p:cNvSpPr/>
          <p:nvPr/>
        </p:nvSpPr>
        <p:spPr>
          <a:xfrm>
            <a:off x="365760" y="2788920"/>
            <a:ext cx="3840480" cy="1005840"/>
          </a:xfrm>
          <a:prstGeom prst="rect">
            <a:avLst/>
          </a:prstGeom>
          <a:noFill/>
          <a:ln/>
        </p:spPr>
        <p:txBody>
          <a:bodyPr wrap="square" rtlCol="0" anchor="ctr"/>
          <a:lstStyle/>
          <a:p>
            <a:pPr marL="0" indent="0" algn="ctr">
              <a:buNone/>
            </a:pPr>
            <a:r>
              <a:rPr lang="en-US" sz="1400" dirty="0">
                <a:solidFill>
                  <a:srgbClr val="002855"/>
                </a:solidFill>
                <a:latin typeface="Calibri" pitchFamily="34" charset="0"/>
                <a:ea typeface="Calibri" pitchFamily="34" charset="-122"/>
                <a:cs typeface="Calibri" pitchFamily="34" charset="-120"/>
              </a:rPr>
              <a:t>Deja que tu equipo brille — no apagues su luz</a:t>
            </a:r>
            <a:endParaRPr lang="en-US" sz="1400" dirty="0"/>
          </a:p>
        </p:txBody>
      </p:sp>
      <p:sp>
        <p:nvSpPr>
          <p:cNvPr id="10" name="Shape 8"/>
          <p:cNvSpPr/>
          <p:nvPr/>
        </p:nvSpPr>
        <p:spPr>
          <a:xfrm>
            <a:off x="4800600" y="2788920"/>
            <a:ext cx="4114800" cy="1005840"/>
          </a:xfrm>
          <a:prstGeom prst="roundRect">
            <a:avLst>
              <a:gd name="adj" fmla="val 9091"/>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11" name="Text 9"/>
          <p:cNvSpPr/>
          <p:nvPr/>
        </p:nvSpPr>
        <p:spPr>
          <a:xfrm>
            <a:off x="4937760" y="2788920"/>
            <a:ext cx="3840480" cy="1005840"/>
          </a:xfrm>
          <a:prstGeom prst="rect">
            <a:avLst/>
          </a:prstGeom>
          <a:noFill/>
          <a:ln/>
        </p:spPr>
        <p:txBody>
          <a:bodyPr wrap="square" rtlCol="0" anchor="ctr"/>
          <a:lstStyle/>
          <a:p>
            <a:pPr marL="0" indent="0" algn="ctr">
              <a:buNone/>
            </a:pPr>
            <a:r>
              <a:rPr lang="en-US" sz="1400" dirty="0">
                <a:solidFill>
                  <a:srgbClr val="002855"/>
                </a:solidFill>
                <a:latin typeface="Calibri" pitchFamily="34" charset="0"/>
                <a:ea typeface="Calibri" pitchFamily="34" charset="-122"/>
                <a:cs typeface="Calibri" pitchFamily="34" charset="-120"/>
              </a:rPr>
              <a:t>Retroalimentación constante y honesta</a:t>
            </a:r>
            <a:endParaRPr lang="en-US" sz="1400" dirty="0"/>
          </a:p>
        </p:txBody>
      </p:sp>
      <p:sp>
        <p:nvSpPr>
          <p:cNvPr id="13" name="Text 11"/>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002855"/>
                </a:solidFill>
                <a:latin typeface="Calibri" pitchFamily="34" charset="0"/>
                <a:ea typeface="Calibri" pitchFamily="34" charset="-122"/>
                <a:cs typeface="Calibri" pitchFamily="34" charset="-120"/>
              </a:rPr>
              <a:t>Cómo reconocer comportamientos alineados</a:t>
            </a:r>
            <a:endParaRPr lang="en-US" sz="3200" dirty="0"/>
          </a:p>
        </p:txBody>
      </p:sp>
      <p:sp>
        <p:nvSpPr>
          <p:cNvPr id="3" name="Text 1"/>
          <p:cNvSpPr/>
          <p:nvPr/>
        </p:nvSpPr>
        <p:spPr>
          <a:xfrm>
            <a:off x="457200" y="1005840"/>
            <a:ext cx="8229600" cy="320040"/>
          </a:xfrm>
          <a:prstGeom prst="rect">
            <a:avLst/>
          </a:prstGeom>
          <a:noFill/>
          <a:ln/>
        </p:spPr>
        <p:txBody>
          <a:bodyPr wrap="square" rtlCol="0" anchor="ctr"/>
          <a:lstStyle/>
          <a:p>
            <a:pPr marL="0" indent="0">
              <a:buNone/>
            </a:pPr>
            <a:r>
              <a:rPr lang="en-US" sz="1600" dirty="0">
                <a:solidFill>
                  <a:srgbClr val="00A0DC"/>
                </a:solidFill>
                <a:latin typeface="Calibri" pitchFamily="34" charset="0"/>
                <a:ea typeface="Calibri" pitchFamily="34" charset="-122"/>
                <a:cs typeface="Calibri" pitchFamily="34" charset="-120"/>
              </a:rPr>
              <a:t>5 frases que puedes usar hoy</a:t>
            </a:r>
            <a:endParaRPr lang="en-US" sz="1600" dirty="0"/>
          </a:p>
        </p:txBody>
      </p:sp>
      <p:sp>
        <p:nvSpPr>
          <p:cNvPr id="4" name="Shape 2"/>
          <p:cNvSpPr/>
          <p:nvPr/>
        </p:nvSpPr>
        <p:spPr>
          <a:xfrm>
            <a:off x="457200" y="1371600"/>
            <a:ext cx="8229600" cy="621792"/>
          </a:xfrm>
          <a:prstGeom prst="roundRect">
            <a:avLst>
              <a:gd name="adj" fmla="val 14706"/>
            </a:avLst>
          </a:prstGeom>
          <a:solidFill>
            <a:srgbClr val="E8F8F0"/>
          </a:solidFill>
          <a:ln w="12700">
            <a:solidFill>
              <a:srgbClr val="E8F8F0"/>
            </a:solidFill>
            <a:prstDash val="solid"/>
          </a:ln>
          <a:effectLst>
            <a:outerShdw blurRad="76200" dist="25400" dir="2700000" algn="bl" rotWithShape="0">
              <a:srgbClr val="000000">
                <a:alpha val="12000"/>
              </a:srgbClr>
            </a:outerShdw>
          </a:effectLst>
        </p:spPr>
        <p:txBody>
          <a:bodyPr/>
          <a:lstStyle/>
          <a:p>
            <a:endParaRPr lang="en-BO"/>
          </a:p>
        </p:txBody>
      </p:sp>
      <p:sp>
        <p:nvSpPr>
          <p:cNvPr id="5" name="Text 3"/>
          <p:cNvSpPr/>
          <p:nvPr/>
        </p:nvSpPr>
        <p:spPr>
          <a:xfrm>
            <a:off x="594360" y="1371600"/>
            <a:ext cx="7955280" cy="621792"/>
          </a:xfrm>
          <a:prstGeom prst="rect">
            <a:avLst/>
          </a:prstGeom>
          <a:noFill/>
          <a:ln/>
        </p:spPr>
        <p:txBody>
          <a:bodyPr wrap="square" rtlCol="0" anchor="ctr"/>
          <a:lstStyle/>
          <a:p>
            <a:pPr marL="0" indent="0">
              <a:buNone/>
            </a:pPr>
            <a:r>
              <a:rPr lang="en-US" sz="1300" i="1" dirty="0">
                <a:solidFill>
                  <a:srgbClr val="002855"/>
                </a:solidFill>
                <a:latin typeface="Calibri" pitchFamily="34" charset="0"/>
                <a:ea typeface="Calibri" pitchFamily="34" charset="-122"/>
                <a:cs typeface="Calibri" pitchFamily="34" charset="-120"/>
              </a:rPr>
              <a:t>"Lo que hiciste con ese cliente refleja exactamente cómo somos en Tigo."</a:t>
            </a:r>
            <a:endParaRPr lang="en-US" sz="1300" dirty="0"/>
          </a:p>
        </p:txBody>
      </p:sp>
      <p:sp>
        <p:nvSpPr>
          <p:cNvPr id="6" name="Shape 4"/>
          <p:cNvSpPr/>
          <p:nvPr/>
        </p:nvSpPr>
        <p:spPr>
          <a:xfrm>
            <a:off x="457200" y="2103120"/>
            <a:ext cx="8229600" cy="621792"/>
          </a:xfrm>
          <a:prstGeom prst="roundRect">
            <a:avLst>
              <a:gd name="adj" fmla="val 14706"/>
            </a:avLst>
          </a:prstGeom>
          <a:solidFill>
            <a:srgbClr val="E8F8F0"/>
          </a:solidFill>
          <a:ln w="12700">
            <a:solidFill>
              <a:srgbClr val="E8F8F0"/>
            </a:solidFill>
            <a:prstDash val="solid"/>
          </a:ln>
          <a:effectLst>
            <a:outerShdw blurRad="76200" dist="25400" dir="2700000" algn="bl" rotWithShape="0">
              <a:srgbClr val="000000">
                <a:alpha val="12000"/>
              </a:srgbClr>
            </a:outerShdw>
          </a:effectLst>
        </p:spPr>
        <p:txBody>
          <a:bodyPr/>
          <a:lstStyle/>
          <a:p>
            <a:endParaRPr lang="en-BO"/>
          </a:p>
        </p:txBody>
      </p:sp>
      <p:sp>
        <p:nvSpPr>
          <p:cNvPr id="7" name="Text 5"/>
          <p:cNvSpPr/>
          <p:nvPr/>
        </p:nvSpPr>
        <p:spPr>
          <a:xfrm>
            <a:off x="594360" y="2103120"/>
            <a:ext cx="7955280" cy="621792"/>
          </a:xfrm>
          <a:prstGeom prst="rect">
            <a:avLst/>
          </a:prstGeom>
          <a:noFill/>
          <a:ln/>
        </p:spPr>
        <p:txBody>
          <a:bodyPr wrap="square" rtlCol="0" anchor="ctr"/>
          <a:lstStyle/>
          <a:p>
            <a:pPr marL="0" indent="0">
              <a:buNone/>
            </a:pPr>
            <a:r>
              <a:rPr lang="en-US" sz="1300" i="1" dirty="0">
                <a:solidFill>
                  <a:srgbClr val="002855"/>
                </a:solidFill>
                <a:latin typeface="Calibri" pitchFamily="34" charset="0"/>
                <a:ea typeface="Calibri" pitchFamily="34" charset="-122"/>
                <a:cs typeface="Calibri" pitchFamily="34" charset="-120"/>
              </a:rPr>
              <a:t>"Quiero que el equipo sepa que esto fue gracias a ti."</a:t>
            </a:r>
            <a:endParaRPr lang="en-US" sz="1300" dirty="0"/>
          </a:p>
        </p:txBody>
      </p:sp>
      <p:sp>
        <p:nvSpPr>
          <p:cNvPr id="8" name="Shape 6"/>
          <p:cNvSpPr/>
          <p:nvPr/>
        </p:nvSpPr>
        <p:spPr>
          <a:xfrm>
            <a:off x="457200" y="2834640"/>
            <a:ext cx="8229600" cy="621792"/>
          </a:xfrm>
          <a:prstGeom prst="roundRect">
            <a:avLst>
              <a:gd name="adj" fmla="val 14706"/>
            </a:avLst>
          </a:prstGeom>
          <a:solidFill>
            <a:srgbClr val="E8F8F0"/>
          </a:solidFill>
          <a:ln w="12700">
            <a:solidFill>
              <a:srgbClr val="E8F8F0"/>
            </a:solidFill>
            <a:prstDash val="solid"/>
          </a:ln>
          <a:effectLst>
            <a:outerShdw blurRad="76200" dist="25400" dir="2700000" algn="bl" rotWithShape="0">
              <a:srgbClr val="000000">
                <a:alpha val="12000"/>
              </a:srgbClr>
            </a:outerShdw>
          </a:effectLst>
        </p:spPr>
        <p:txBody>
          <a:bodyPr/>
          <a:lstStyle/>
          <a:p>
            <a:endParaRPr lang="en-BO"/>
          </a:p>
        </p:txBody>
      </p:sp>
      <p:sp>
        <p:nvSpPr>
          <p:cNvPr id="9" name="Text 7"/>
          <p:cNvSpPr/>
          <p:nvPr/>
        </p:nvSpPr>
        <p:spPr>
          <a:xfrm>
            <a:off x="594360" y="2834640"/>
            <a:ext cx="7955280" cy="621792"/>
          </a:xfrm>
          <a:prstGeom prst="rect">
            <a:avLst/>
          </a:prstGeom>
          <a:noFill/>
          <a:ln/>
        </p:spPr>
        <p:txBody>
          <a:bodyPr wrap="square" rtlCol="0" anchor="ctr"/>
          <a:lstStyle/>
          <a:p>
            <a:pPr marL="0" indent="0">
              <a:buNone/>
            </a:pPr>
            <a:r>
              <a:rPr lang="en-US" sz="1300" i="1" dirty="0">
                <a:solidFill>
                  <a:srgbClr val="002855"/>
                </a:solidFill>
                <a:latin typeface="Calibri" pitchFamily="34" charset="0"/>
                <a:ea typeface="Calibri" pitchFamily="34" charset="-122"/>
                <a:cs typeface="Calibri" pitchFamily="34" charset="-120"/>
              </a:rPr>
              <a:t>"Eso es exactamente lo que significa ser Ágiles — bien hecho."</a:t>
            </a:r>
            <a:endParaRPr lang="en-US" sz="1300" dirty="0"/>
          </a:p>
        </p:txBody>
      </p:sp>
      <p:sp>
        <p:nvSpPr>
          <p:cNvPr id="10" name="Shape 8"/>
          <p:cNvSpPr/>
          <p:nvPr/>
        </p:nvSpPr>
        <p:spPr>
          <a:xfrm>
            <a:off x="457200" y="3566160"/>
            <a:ext cx="8229600" cy="621792"/>
          </a:xfrm>
          <a:prstGeom prst="roundRect">
            <a:avLst>
              <a:gd name="adj" fmla="val 14706"/>
            </a:avLst>
          </a:prstGeom>
          <a:solidFill>
            <a:srgbClr val="E8F8F0"/>
          </a:solidFill>
          <a:ln w="12700">
            <a:solidFill>
              <a:srgbClr val="E8F8F0"/>
            </a:solidFill>
            <a:prstDash val="solid"/>
          </a:ln>
          <a:effectLst>
            <a:outerShdw blurRad="76200" dist="25400" dir="2700000" algn="bl" rotWithShape="0">
              <a:srgbClr val="000000">
                <a:alpha val="12000"/>
              </a:srgbClr>
            </a:outerShdw>
          </a:effectLst>
        </p:spPr>
        <p:txBody>
          <a:bodyPr/>
          <a:lstStyle/>
          <a:p>
            <a:endParaRPr lang="en-BO"/>
          </a:p>
        </p:txBody>
      </p:sp>
      <p:sp>
        <p:nvSpPr>
          <p:cNvPr id="11" name="Text 9"/>
          <p:cNvSpPr/>
          <p:nvPr/>
        </p:nvSpPr>
        <p:spPr>
          <a:xfrm>
            <a:off x="594360" y="3566160"/>
            <a:ext cx="7955280" cy="621792"/>
          </a:xfrm>
          <a:prstGeom prst="rect">
            <a:avLst/>
          </a:prstGeom>
          <a:noFill/>
          <a:ln/>
        </p:spPr>
        <p:txBody>
          <a:bodyPr wrap="square" rtlCol="0" anchor="ctr"/>
          <a:lstStyle/>
          <a:p>
            <a:pPr marL="0" indent="0">
              <a:buNone/>
            </a:pPr>
            <a:r>
              <a:rPr lang="en-US" sz="1300" i="1" dirty="0">
                <a:solidFill>
                  <a:srgbClr val="002855"/>
                </a:solidFill>
                <a:latin typeface="Calibri" pitchFamily="34" charset="0"/>
                <a:ea typeface="Calibri" pitchFamily="34" charset="-122"/>
                <a:cs typeface="Calibri" pitchFamily="34" charset="-120"/>
              </a:rPr>
              <a:t>"La forma en que manejaste esa situación fue íntegra. Me enorgullece."</a:t>
            </a:r>
            <a:endParaRPr lang="en-US" sz="1300" dirty="0"/>
          </a:p>
        </p:txBody>
      </p:sp>
      <p:sp>
        <p:nvSpPr>
          <p:cNvPr id="12" name="Shape 10"/>
          <p:cNvSpPr/>
          <p:nvPr/>
        </p:nvSpPr>
        <p:spPr>
          <a:xfrm>
            <a:off x="457200" y="4297680"/>
            <a:ext cx="8229600" cy="621792"/>
          </a:xfrm>
          <a:prstGeom prst="roundRect">
            <a:avLst>
              <a:gd name="adj" fmla="val 14706"/>
            </a:avLst>
          </a:prstGeom>
          <a:solidFill>
            <a:srgbClr val="E8F8F0"/>
          </a:solidFill>
          <a:ln w="12700">
            <a:solidFill>
              <a:srgbClr val="E8F8F0"/>
            </a:solidFill>
            <a:prstDash val="solid"/>
          </a:ln>
          <a:effectLst>
            <a:outerShdw blurRad="76200" dist="25400" dir="2700000" algn="bl" rotWithShape="0">
              <a:srgbClr val="000000">
                <a:alpha val="12000"/>
              </a:srgbClr>
            </a:outerShdw>
          </a:effectLst>
        </p:spPr>
        <p:txBody>
          <a:bodyPr/>
          <a:lstStyle/>
          <a:p>
            <a:endParaRPr lang="en-BO"/>
          </a:p>
        </p:txBody>
      </p:sp>
      <p:sp>
        <p:nvSpPr>
          <p:cNvPr id="13" name="Text 11"/>
          <p:cNvSpPr/>
          <p:nvPr/>
        </p:nvSpPr>
        <p:spPr>
          <a:xfrm>
            <a:off x="594360" y="4297680"/>
            <a:ext cx="7955280" cy="621792"/>
          </a:xfrm>
          <a:prstGeom prst="rect">
            <a:avLst/>
          </a:prstGeom>
          <a:noFill/>
          <a:ln/>
        </p:spPr>
        <p:txBody>
          <a:bodyPr wrap="square" rtlCol="0" anchor="ctr"/>
          <a:lstStyle/>
          <a:p>
            <a:pPr marL="0" indent="0">
              <a:buNone/>
            </a:pPr>
            <a:r>
              <a:rPr lang="en-US" sz="1300" i="1" dirty="0">
                <a:solidFill>
                  <a:srgbClr val="002855"/>
                </a:solidFill>
                <a:latin typeface="Calibri" pitchFamily="34" charset="0"/>
                <a:ea typeface="Calibri" pitchFamily="34" charset="-122"/>
                <a:cs typeface="Calibri" pitchFamily="34" charset="-120"/>
              </a:rPr>
              <a:t>"Gracias por compartir eso con las otras áreas. Así rompemos silos."</a:t>
            </a:r>
            <a:endParaRPr lang="en-US" sz="1300" dirty="0"/>
          </a:p>
        </p:txBody>
      </p:sp>
      <p:sp>
        <p:nvSpPr>
          <p:cNvPr id="15" name="Text 13"/>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002855"/>
                </a:solidFill>
                <a:latin typeface="Calibri" pitchFamily="34" charset="0"/>
                <a:ea typeface="Calibri" pitchFamily="34" charset="-122"/>
                <a:cs typeface="Calibri" pitchFamily="34" charset="-120"/>
              </a:rPr>
              <a:t>Cómo corregir comportamientos no alineados</a:t>
            </a:r>
            <a:endParaRPr lang="en-US" sz="3200" dirty="0"/>
          </a:p>
        </p:txBody>
      </p:sp>
      <p:sp>
        <p:nvSpPr>
          <p:cNvPr id="3" name="Shape 1"/>
          <p:cNvSpPr/>
          <p:nvPr/>
        </p:nvSpPr>
        <p:spPr>
          <a:xfrm>
            <a:off x="228600" y="1097280"/>
            <a:ext cx="4114800" cy="1051560"/>
          </a:xfrm>
          <a:prstGeom prst="roundRect">
            <a:avLst>
              <a:gd name="adj" fmla="val 8696"/>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4" name="Text 2"/>
          <p:cNvSpPr/>
          <p:nvPr/>
        </p:nvSpPr>
        <p:spPr>
          <a:xfrm>
            <a:off x="365760" y="1097280"/>
            <a:ext cx="3840480" cy="1051560"/>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1. SITUACIÓN</a:t>
            </a:r>
            <a:endParaRPr lang="en-US" sz="1300" dirty="0"/>
          </a:p>
          <a:p>
            <a:pPr marL="0" indent="0">
              <a:buNone/>
            </a:pPr>
            <a:r>
              <a:rPr lang="en-US" sz="1300" dirty="0">
                <a:solidFill>
                  <a:srgbClr val="002855"/>
                </a:solidFill>
                <a:latin typeface="Calibri" pitchFamily="34" charset="0"/>
                <a:ea typeface="Calibri" pitchFamily="34" charset="-122"/>
                <a:cs typeface="Calibri" pitchFamily="34" charset="-120"/>
              </a:rPr>
              <a:t>Describe el comportamiento específico sin juzgar</a:t>
            </a:r>
            <a:endParaRPr lang="en-US" sz="1300" dirty="0"/>
          </a:p>
        </p:txBody>
      </p:sp>
      <p:sp>
        <p:nvSpPr>
          <p:cNvPr id="5" name="Shape 3"/>
          <p:cNvSpPr/>
          <p:nvPr/>
        </p:nvSpPr>
        <p:spPr>
          <a:xfrm>
            <a:off x="4800600" y="1097280"/>
            <a:ext cx="4114800" cy="1051560"/>
          </a:xfrm>
          <a:prstGeom prst="roundRect">
            <a:avLst>
              <a:gd name="adj" fmla="val 8696"/>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6" name="Text 4"/>
          <p:cNvSpPr/>
          <p:nvPr/>
        </p:nvSpPr>
        <p:spPr>
          <a:xfrm>
            <a:off x="4937760" y="1097280"/>
            <a:ext cx="3840480" cy="1051560"/>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2. IMPACTO</a:t>
            </a:r>
            <a:endParaRPr lang="en-US" sz="1300" dirty="0"/>
          </a:p>
          <a:p>
            <a:pPr marL="0" indent="0">
              <a:buNone/>
            </a:pPr>
            <a:r>
              <a:rPr lang="en-US" sz="1300" dirty="0">
                <a:solidFill>
                  <a:srgbClr val="002855"/>
                </a:solidFill>
                <a:latin typeface="Calibri" pitchFamily="34" charset="0"/>
                <a:ea typeface="Calibri" pitchFamily="34" charset="-122"/>
                <a:cs typeface="Calibri" pitchFamily="34" charset="-120"/>
              </a:rPr>
              <a:t>Explica el efecto en el equipo o cliente</a:t>
            </a:r>
            <a:endParaRPr lang="en-US" sz="1300" dirty="0"/>
          </a:p>
        </p:txBody>
      </p:sp>
      <p:sp>
        <p:nvSpPr>
          <p:cNvPr id="7" name="Shape 5"/>
          <p:cNvSpPr/>
          <p:nvPr/>
        </p:nvSpPr>
        <p:spPr>
          <a:xfrm>
            <a:off x="228600" y="2286000"/>
            <a:ext cx="4114800" cy="1051560"/>
          </a:xfrm>
          <a:prstGeom prst="roundRect">
            <a:avLst>
              <a:gd name="adj" fmla="val 8696"/>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8" name="Text 6"/>
          <p:cNvSpPr/>
          <p:nvPr/>
        </p:nvSpPr>
        <p:spPr>
          <a:xfrm>
            <a:off x="365760" y="2286000"/>
            <a:ext cx="3840480" cy="1051560"/>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3. EXPECTATIVA</a:t>
            </a:r>
            <a:endParaRPr lang="en-US" sz="1300" dirty="0"/>
          </a:p>
          <a:p>
            <a:pPr marL="0" indent="0">
              <a:buNone/>
            </a:pPr>
            <a:r>
              <a:rPr lang="en-US" sz="1300" dirty="0">
                <a:solidFill>
                  <a:srgbClr val="002855"/>
                </a:solidFill>
                <a:latin typeface="Calibri" pitchFamily="34" charset="0"/>
                <a:ea typeface="Calibri" pitchFamily="34" charset="-122"/>
                <a:cs typeface="Calibri" pitchFamily="34" charset="-120"/>
              </a:rPr>
              <a:t>Conecta con el valor de Sangre Tigo</a:t>
            </a:r>
            <a:endParaRPr lang="en-US" sz="1300" dirty="0"/>
          </a:p>
        </p:txBody>
      </p:sp>
      <p:sp>
        <p:nvSpPr>
          <p:cNvPr id="9" name="Shape 7"/>
          <p:cNvSpPr/>
          <p:nvPr/>
        </p:nvSpPr>
        <p:spPr>
          <a:xfrm>
            <a:off x="4800600" y="2286000"/>
            <a:ext cx="4114800" cy="1051560"/>
          </a:xfrm>
          <a:prstGeom prst="roundRect">
            <a:avLst>
              <a:gd name="adj" fmla="val 8696"/>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10" name="Text 8"/>
          <p:cNvSpPr/>
          <p:nvPr/>
        </p:nvSpPr>
        <p:spPr>
          <a:xfrm>
            <a:off x="4937760" y="2286000"/>
            <a:ext cx="3840480" cy="1051560"/>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4. ACUERDO</a:t>
            </a:r>
            <a:endParaRPr lang="en-US" sz="1300" dirty="0"/>
          </a:p>
          <a:p>
            <a:pPr marL="0" indent="0">
              <a:buNone/>
            </a:pPr>
            <a:r>
              <a:rPr lang="en-US" sz="1300" dirty="0">
                <a:solidFill>
                  <a:srgbClr val="002855"/>
                </a:solidFill>
                <a:latin typeface="Calibri" pitchFamily="34" charset="0"/>
                <a:ea typeface="Calibri" pitchFamily="34" charset="-122"/>
                <a:cs typeface="Calibri" pitchFamily="34" charset="-120"/>
              </a:rPr>
              <a:t>Cierra con un compromiso concreto</a:t>
            </a:r>
            <a:endParaRPr lang="en-US" sz="1300" dirty="0"/>
          </a:p>
        </p:txBody>
      </p:sp>
      <p:sp>
        <p:nvSpPr>
          <p:cNvPr id="11" name="Shape 9"/>
          <p:cNvSpPr/>
          <p:nvPr/>
        </p:nvSpPr>
        <p:spPr>
          <a:xfrm>
            <a:off x="228600" y="3657600"/>
            <a:ext cx="8686800" cy="731520"/>
          </a:xfrm>
          <a:prstGeom prst="roundRect">
            <a:avLst>
              <a:gd name="adj" fmla="val 12500"/>
            </a:avLst>
          </a:prstGeom>
          <a:solidFill>
            <a:srgbClr val="002855"/>
          </a:solidFill>
          <a:ln w="12700">
            <a:solidFill>
              <a:srgbClr val="002855"/>
            </a:solidFill>
            <a:prstDash val="solid"/>
          </a:ln>
        </p:spPr>
        <p:txBody>
          <a:bodyPr/>
          <a:lstStyle/>
          <a:p>
            <a:endParaRPr lang="en-BO"/>
          </a:p>
        </p:txBody>
      </p:sp>
      <p:sp>
        <p:nvSpPr>
          <p:cNvPr id="12" name="Text 10"/>
          <p:cNvSpPr/>
          <p:nvPr/>
        </p:nvSpPr>
        <p:spPr>
          <a:xfrm>
            <a:off x="365760" y="3657600"/>
            <a:ext cx="8412480" cy="73152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La corrección no es castigo — es desarrollo. El líder que no corrige permite que el antivalor se instale.</a:t>
            </a:r>
            <a:endParaRPr lang="en-US" sz="1300" dirty="0"/>
          </a:p>
        </p:txBody>
      </p:sp>
      <p:sp>
        <p:nvSpPr>
          <p:cNvPr id="14" name="Text 12"/>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02920"/>
          </a:xfrm>
          <a:prstGeom prst="rect">
            <a:avLst/>
          </a:prstGeom>
          <a:noFill/>
          <a:ln/>
        </p:spPr>
        <p:txBody>
          <a:bodyPr wrap="square" rtlCol="0" anchor="ctr"/>
          <a:lstStyle/>
          <a:p>
            <a:pPr marL="0" indent="0">
              <a:buNone/>
            </a:pPr>
            <a:r>
              <a:rPr lang="en-US" sz="3200" b="1" dirty="0">
                <a:solidFill>
                  <a:srgbClr val="002855"/>
                </a:solidFill>
                <a:latin typeface="Calibri" pitchFamily="34" charset="0"/>
                <a:ea typeface="Calibri" pitchFamily="34" charset="-122"/>
                <a:cs typeface="Calibri" pitchFamily="34" charset="-120"/>
              </a:rPr>
              <a:t>Reglas de Oro para líderes</a:t>
            </a:r>
            <a:endParaRPr lang="en-US" sz="3200" dirty="0"/>
          </a:p>
        </p:txBody>
      </p:sp>
      <p:sp>
        <p:nvSpPr>
          <p:cNvPr id="3" name="Text 1"/>
          <p:cNvSpPr/>
          <p:nvPr/>
        </p:nvSpPr>
        <p:spPr>
          <a:xfrm>
            <a:off x="457200" y="914400"/>
            <a:ext cx="8229600" cy="320040"/>
          </a:xfrm>
          <a:prstGeom prst="rect">
            <a:avLst/>
          </a:prstGeom>
          <a:noFill/>
          <a:ln/>
        </p:spPr>
        <p:txBody>
          <a:bodyPr wrap="square" rtlCol="0" anchor="ctr"/>
          <a:lstStyle/>
          <a:p>
            <a:pPr marL="0" indent="0">
              <a:buNone/>
            </a:pPr>
            <a:r>
              <a:rPr lang="en-US" sz="1400" dirty="0">
                <a:solidFill>
                  <a:srgbClr val="00A0DC"/>
                </a:solidFill>
                <a:latin typeface="Calibri" pitchFamily="34" charset="0"/>
                <a:ea typeface="Calibri" pitchFamily="34" charset="-122"/>
                <a:cs typeface="Calibri" pitchFamily="34" charset="-120"/>
              </a:rPr>
              <a:t>Las más relevantes para tu rol</a:t>
            </a:r>
            <a:endParaRPr lang="en-US" sz="1400" dirty="0"/>
          </a:p>
        </p:txBody>
      </p:sp>
      <p:sp>
        <p:nvSpPr>
          <p:cNvPr id="4" name="Shape 2"/>
          <p:cNvSpPr/>
          <p:nvPr/>
        </p:nvSpPr>
        <p:spPr>
          <a:xfrm>
            <a:off x="457200" y="1234440"/>
            <a:ext cx="8229600" cy="594360"/>
          </a:xfrm>
          <a:prstGeom prst="roundRect">
            <a:avLst>
              <a:gd name="adj" fmla="val 15385"/>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5" name="Text 3"/>
          <p:cNvSpPr/>
          <p:nvPr/>
        </p:nvSpPr>
        <p:spPr>
          <a:xfrm>
            <a:off x="594360" y="1234440"/>
            <a:ext cx="7955280" cy="594360"/>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Actúa siempre como si te estuvieran mirando — porque siempre lo están</a:t>
            </a:r>
            <a:endParaRPr lang="en-US" sz="1300" dirty="0"/>
          </a:p>
        </p:txBody>
      </p:sp>
      <p:sp>
        <p:nvSpPr>
          <p:cNvPr id="6" name="Shape 4"/>
          <p:cNvSpPr/>
          <p:nvPr/>
        </p:nvSpPr>
        <p:spPr>
          <a:xfrm>
            <a:off x="457200" y="1920240"/>
            <a:ext cx="8229600" cy="594360"/>
          </a:xfrm>
          <a:prstGeom prst="roundRect">
            <a:avLst>
              <a:gd name="adj" fmla="val 15385"/>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7" name="Text 5"/>
          <p:cNvSpPr/>
          <p:nvPr/>
        </p:nvSpPr>
        <p:spPr>
          <a:xfrm>
            <a:off x="594360" y="1920240"/>
            <a:ext cx="7955280" cy="594360"/>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Tu equipo es tu principal activo. Inviértele tiempo, confianza y retos</a:t>
            </a:r>
            <a:endParaRPr lang="en-US" sz="1300" dirty="0"/>
          </a:p>
        </p:txBody>
      </p:sp>
      <p:sp>
        <p:nvSpPr>
          <p:cNvPr id="8" name="Shape 6"/>
          <p:cNvSpPr/>
          <p:nvPr/>
        </p:nvSpPr>
        <p:spPr>
          <a:xfrm>
            <a:off x="457200" y="2606040"/>
            <a:ext cx="8229600" cy="594360"/>
          </a:xfrm>
          <a:prstGeom prst="roundRect">
            <a:avLst>
              <a:gd name="adj" fmla="val 15385"/>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9" name="Text 7"/>
          <p:cNvSpPr/>
          <p:nvPr/>
        </p:nvSpPr>
        <p:spPr>
          <a:xfrm>
            <a:off x="594360" y="2606040"/>
            <a:ext cx="7955280" cy="594360"/>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Da el crédito donde corresponde. Nunca te apropies del trabajo de otros</a:t>
            </a:r>
            <a:endParaRPr lang="en-US" sz="1300" dirty="0"/>
          </a:p>
        </p:txBody>
      </p:sp>
      <p:sp>
        <p:nvSpPr>
          <p:cNvPr id="10" name="Shape 8"/>
          <p:cNvSpPr/>
          <p:nvPr/>
        </p:nvSpPr>
        <p:spPr>
          <a:xfrm>
            <a:off x="457200" y="3291840"/>
            <a:ext cx="8229600" cy="594360"/>
          </a:xfrm>
          <a:prstGeom prst="roundRect">
            <a:avLst>
              <a:gd name="adj" fmla="val 15385"/>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11" name="Text 9"/>
          <p:cNvSpPr/>
          <p:nvPr/>
        </p:nvSpPr>
        <p:spPr>
          <a:xfrm>
            <a:off x="594360" y="3291840"/>
            <a:ext cx="7955280" cy="594360"/>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Decide con información real, no con promedios ni con lo que quieres ver</a:t>
            </a:r>
            <a:endParaRPr lang="en-US" sz="1300" dirty="0"/>
          </a:p>
        </p:txBody>
      </p:sp>
      <p:sp>
        <p:nvSpPr>
          <p:cNvPr id="12" name="Shape 10"/>
          <p:cNvSpPr/>
          <p:nvPr/>
        </p:nvSpPr>
        <p:spPr>
          <a:xfrm>
            <a:off x="457200" y="3977640"/>
            <a:ext cx="8229600" cy="594360"/>
          </a:xfrm>
          <a:prstGeom prst="roundRect">
            <a:avLst>
              <a:gd name="adj" fmla="val 15385"/>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13" name="Text 11"/>
          <p:cNvSpPr/>
          <p:nvPr/>
        </p:nvSpPr>
        <p:spPr>
          <a:xfrm>
            <a:off x="594360" y="3977640"/>
            <a:ext cx="7955280" cy="594360"/>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Un solo Tigo: colabora con otras áreas como si fueran parte de tu equipo</a:t>
            </a:r>
            <a:endParaRPr lang="en-US" sz="1300" dirty="0"/>
          </a:p>
        </p:txBody>
      </p:sp>
      <p:sp>
        <p:nvSpPr>
          <p:cNvPr id="15" name="Text 13"/>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2855"/>
        </a:solidFill>
        <a:effectLst/>
      </p:bgPr>
    </p:bg>
    <p:spTree>
      <p:nvGrpSpPr>
        <p:cNvPr id="1" name=""/>
        <p:cNvGrpSpPr/>
        <p:nvPr/>
      </p:nvGrpSpPr>
      <p:grpSpPr>
        <a:xfrm>
          <a:off x="0" y="0"/>
          <a:ext cx="0" cy="0"/>
          <a:chOff x="0" y="0"/>
          <a:chExt cx="0" cy="0"/>
        </a:xfrm>
      </p:grpSpPr>
      <p:sp>
        <p:nvSpPr>
          <p:cNvPr id="2" name="Text 0"/>
          <p:cNvSpPr/>
          <p:nvPr/>
        </p:nvSpPr>
        <p:spPr>
          <a:xfrm>
            <a:off x="457200" y="731520"/>
            <a:ext cx="8229600" cy="64008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La actitud es lo primero</a:t>
            </a:r>
            <a:endParaRPr lang="en-US" sz="3600" dirty="0"/>
          </a:p>
        </p:txBody>
      </p:sp>
      <p:sp>
        <p:nvSpPr>
          <p:cNvPr id="3" name="Text 1"/>
          <p:cNvSpPr/>
          <p:nvPr/>
        </p:nvSpPr>
        <p:spPr>
          <a:xfrm>
            <a:off x="457200" y="1645920"/>
            <a:ext cx="8229600" cy="411480"/>
          </a:xfrm>
          <a:prstGeom prst="rect">
            <a:avLst/>
          </a:prstGeom>
          <a:noFill/>
          <a:ln/>
        </p:spPr>
        <p:txBody>
          <a:bodyPr wrap="square" rtlCol="0" anchor="ctr"/>
          <a:lstStyle/>
          <a:p>
            <a:pPr marL="0" indent="0" algn="ctr">
              <a:buNone/>
            </a:pPr>
            <a:r>
              <a:rPr lang="en-US" sz="1800" dirty="0">
                <a:solidFill>
                  <a:srgbClr val="00A0DC"/>
                </a:solidFill>
                <a:latin typeface="Calibri" pitchFamily="34" charset="0"/>
                <a:ea typeface="Calibri" pitchFamily="34" charset="-122"/>
                <a:cs typeface="Calibri" pitchFamily="34" charset="-120"/>
              </a:rPr>
              <a:t>Regla de Oro #11 aplicada al liderazgo:</a:t>
            </a:r>
            <a:endParaRPr lang="en-US" sz="1800" dirty="0"/>
          </a:p>
        </p:txBody>
      </p:sp>
      <p:sp>
        <p:nvSpPr>
          <p:cNvPr id="4" name="Text 2"/>
          <p:cNvSpPr/>
          <p:nvPr/>
        </p:nvSpPr>
        <p:spPr>
          <a:xfrm>
            <a:off x="457200" y="2194560"/>
            <a:ext cx="8229600" cy="1280160"/>
          </a:xfrm>
          <a:prstGeom prst="rect">
            <a:avLst/>
          </a:prstGeom>
          <a:noFill/>
          <a:ln/>
        </p:spPr>
        <p:txBody>
          <a:bodyPr wrap="square" rtlCol="0" anchor="ctr"/>
          <a:lstStyle/>
          <a:p>
            <a:pPr marL="0" indent="0" algn="ctr">
              <a:buNone/>
            </a:pPr>
            <a:r>
              <a:rPr lang="en-US" sz="2200" i="1" dirty="0">
                <a:solidFill>
                  <a:srgbClr val="FFFFFF"/>
                </a:solidFill>
                <a:latin typeface="Calibri" pitchFamily="34" charset="0"/>
                <a:ea typeface="Calibri" pitchFamily="34" charset="-122"/>
                <a:cs typeface="Calibri" pitchFamily="34" charset="-120"/>
              </a:rPr>
              <a:t>"No te pido que seas perfecto. Te pido que tengas la actitud correcta ante cada situación."</a:t>
            </a:r>
            <a:endParaRPr lang="en-US" sz="2200" dirty="0"/>
          </a:p>
        </p:txBody>
      </p:sp>
      <p:sp>
        <p:nvSpPr>
          <p:cNvPr id="5" name="Text 3"/>
          <p:cNvSpPr/>
          <p:nvPr/>
        </p:nvSpPr>
        <p:spPr>
          <a:xfrm>
            <a:off x="457200" y="3840480"/>
            <a:ext cx="8229600" cy="548640"/>
          </a:xfrm>
          <a:prstGeom prst="rect">
            <a:avLst/>
          </a:prstGeom>
          <a:noFill/>
          <a:ln/>
        </p:spPr>
        <p:txBody>
          <a:bodyPr wrap="square" rtlCol="0" anchor="ctr"/>
          <a:lstStyle/>
          <a:p>
            <a:pPr marL="0" indent="0" algn="ctr">
              <a:buNone/>
            </a:pPr>
            <a:r>
              <a:rPr lang="en-US" sz="1400" dirty="0">
                <a:solidFill>
                  <a:srgbClr val="00A0DC"/>
                </a:solidFill>
                <a:latin typeface="Calibri" pitchFamily="34" charset="0"/>
                <a:ea typeface="Calibri" pitchFamily="34" charset="-122"/>
                <a:cs typeface="Calibri" pitchFamily="34" charset="-120"/>
              </a:rPr>
              <a:t>Un líder con mala actitud contamina al equipo entero. Un líder con buena actitud inspira incluso en momentos difíciles.</a:t>
            </a:r>
            <a:endParaRPr lang="en-US" sz="1400" dirty="0"/>
          </a:p>
        </p:txBody>
      </p:sp>
      <p:sp>
        <p:nvSpPr>
          <p:cNvPr id="6" name="Text 4"/>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94360"/>
          </a:xfrm>
          <a:prstGeom prst="rect">
            <a:avLst/>
          </a:prstGeom>
          <a:noFill/>
          <a:ln/>
        </p:spPr>
        <p:txBody>
          <a:bodyPr wrap="square" rtlCol="0" anchor="ctr"/>
          <a:lstStyle/>
          <a:p>
            <a:pPr marL="0" indent="0">
              <a:buNone/>
            </a:pPr>
            <a:r>
              <a:rPr lang="en-US" sz="3600" b="1" dirty="0">
                <a:solidFill>
                  <a:srgbClr val="002855"/>
                </a:solidFill>
                <a:latin typeface="Calibri" pitchFamily="34" charset="0"/>
                <a:ea typeface="Calibri" pitchFamily="34" charset="-122"/>
                <a:cs typeface="Calibri" pitchFamily="34" charset="-120"/>
              </a:rPr>
              <a:t>Los valores generan resultados</a:t>
            </a:r>
            <a:endParaRPr lang="en-US" sz="3600" dirty="0"/>
          </a:p>
        </p:txBody>
      </p:sp>
      <p:sp>
        <p:nvSpPr>
          <p:cNvPr id="3" name="Shape 1"/>
          <p:cNvSpPr/>
          <p:nvPr/>
        </p:nvSpPr>
        <p:spPr>
          <a:xfrm>
            <a:off x="274320" y="1005840"/>
            <a:ext cx="3840480" cy="658368"/>
          </a:xfrm>
          <a:prstGeom prst="roundRect">
            <a:avLst>
              <a:gd name="adj" fmla="val 11111"/>
            </a:avLst>
          </a:prstGeom>
          <a:solidFill>
            <a:srgbClr val="DAEEFF"/>
          </a:solidFill>
          <a:ln w="12700">
            <a:solidFill>
              <a:srgbClr val="DAEEFF"/>
            </a:solidFill>
            <a:prstDash val="solid"/>
          </a:ln>
        </p:spPr>
        <p:txBody>
          <a:bodyPr/>
          <a:lstStyle/>
          <a:p>
            <a:endParaRPr lang="en-BO"/>
          </a:p>
        </p:txBody>
      </p:sp>
      <p:sp>
        <p:nvSpPr>
          <p:cNvPr id="4" name="Text 2"/>
          <p:cNvSpPr/>
          <p:nvPr/>
        </p:nvSpPr>
        <p:spPr>
          <a:xfrm>
            <a:off x="411480" y="1005840"/>
            <a:ext cx="3566160" cy="658368"/>
          </a:xfrm>
          <a:prstGeom prst="rect">
            <a:avLst/>
          </a:prstGeom>
          <a:noFill/>
          <a:ln/>
        </p:spPr>
        <p:txBody>
          <a:bodyPr wrap="square" rtlCol="0" anchor="ctr"/>
          <a:lstStyle/>
          <a:p>
            <a:pPr marL="0" indent="0">
              <a:buNone/>
            </a:pPr>
            <a:r>
              <a:rPr lang="en-US" sz="1200" dirty="0">
                <a:solidFill>
                  <a:srgbClr val="002855"/>
                </a:solidFill>
                <a:latin typeface="Calibri" pitchFamily="34" charset="0"/>
                <a:ea typeface="Calibri" pitchFamily="34" charset="-122"/>
                <a:cs typeface="Calibri" pitchFamily="34" charset="-120"/>
              </a:rPr>
              <a:t>Somos Enfocados — Apuntamos alto</a:t>
            </a:r>
            <a:endParaRPr lang="en-US" sz="1200" dirty="0"/>
          </a:p>
        </p:txBody>
      </p:sp>
      <p:sp>
        <p:nvSpPr>
          <p:cNvPr id="5" name="Shape 3"/>
          <p:cNvSpPr/>
          <p:nvPr/>
        </p:nvSpPr>
        <p:spPr>
          <a:xfrm>
            <a:off x="4572000" y="1005840"/>
            <a:ext cx="4297680" cy="658368"/>
          </a:xfrm>
          <a:prstGeom prst="roundRect">
            <a:avLst>
              <a:gd name="adj" fmla="val 11111"/>
            </a:avLst>
          </a:prstGeom>
          <a:solidFill>
            <a:srgbClr val="002855"/>
          </a:solidFill>
          <a:ln w="12700">
            <a:solidFill>
              <a:srgbClr val="002855"/>
            </a:solidFill>
            <a:prstDash val="solid"/>
          </a:ln>
        </p:spPr>
        <p:txBody>
          <a:bodyPr/>
          <a:lstStyle/>
          <a:p>
            <a:endParaRPr lang="en-BO"/>
          </a:p>
        </p:txBody>
      </p:sp>
      <p:sp>
        <p:nvSpPr>
          <p:cNvPr id="6" name="Text 4"/>
          <p:cNvSpPr/>
          <p:nvPr/>
        </p:nvSpPr>
        <p:spPr>
          <a:xfrm>
            <a:off x="4709160" y="1005840"/>
            <a:ext cx="4023360" cy="65836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Mayor eficiencia operativa y NPS</a:t>
            </a:r>
            <a:endParaRPr lang="en-US" sz="1200" dirty="0"/>
          </a:p>
        </p:txBody>
      </p:sp>
      <p:sp>
        <p:nvSpPr>
          <p:cNvPr id="7" name="Shape 5"/>
          <p:cNvSpPr/>
          <p:nvPr/>
        </p:nvSpPr>
        <p:spPr>
          <a:xfrm>
            <a:off x="274320" y="1709928"/>
            <a:ext cx="3840480" cy="658368"/>
          </a:xfrm>
          <a:prstGeom prst="roundRect">
            <a:avLst>
              <a:gd name="adj" fmla="val 11111"/>
            </a:avLst>
          </a:prstGeom>
          <a:solidFill>
            <a:srgbClr val="DAEEFF"/>
          </a:solidFill>
          <a:ln w="12700">
            <a:solidFill>
              <a:srgbClr val="DAEEFF"/>
            </a:solidFill>
            <a:prstDash val="solid"/>
          </a:ln>
        </p:spPr>
        <p:txBody>
          <a:bodyPr/>
          <a:lstStyle/>
          <a:p>
            <a:endParaRPr lang="en-BO"/>
          </a:p>
        </p:txBody>
      </p:sp>
      <p:sp>
        <p:nvSpPr>
          <p:cNvPr id="8" name="Text 6"/>
          <p:cNvSpPr/>
          <p:nvPr/>
        </p:nvSpPr>
        <p:spPr>
          <a:xfrm>
            <a:off x="411480" y="1709928"/>
            <a:ext cx="3566160" cy="658368"/>
          </a:xfrm>
          <a:prstGeom prst="rect">
            <a:avLst/>
          </a:prstGeom>
          <a:noFill/>
          <a:ln/>
        </p:spPr>
        <p:txBody>
          <a:bodyPr wrap="square" rtlCol="0" anchor="ctr"/>
          <a:lstStyle/>
          <a:p>
            <a:pPr marL="0" indent="0">
              <a:buNone/>
            </a:pPr>
            <a:r>
              <a:rPr lang="en-US" sz="1200" dirty="0">
                <a:solidFill>
                  <a:srgbClr val="002855"/>
                </a:solidFill>
                <a:latin typeface="Calibri" pitchFamily="34" charset="0"/>
                <a:ea typeface="Calibri" pitchFamily="34" charset="-122"/>
                <a:cs typeface="Calibri" pitchFamily="34" charset="-120"/>
              </a:rPr>
              <a:t>Somos Ágiles — Ciclos cortos y aprendizaje</a:t>
            </a:r>
            <a:endParaRPr lang="en-US" sz="1200" dirty="0"/>
          </a:p>
        </p:txBody>
      </p:sp>
      <p:sp>
        <p:nvSpPr>
          <p:cNvPr id="9" name="Shape 7"/>
          <p:cNvSpPr/>
          <p:nvPr/>
        </p:nvSpPr>
        <p:spPr>
          <a:xfrm>
            <a:off x="4572000" y="1709928"/>
            <a:ext cx="4297680" cy="658368"/>
          </a:xfrm>
          <a:prstGeom prst="roundRect">
            <a:avLst>
              <a:gd name="adj" fmla="val 11111"/>
            </a:avLst>
          </a:prstGeom>
          <a:solidFill>
            <a:srgbClr val="002855"/>
          </a:solidFill>
          <a:ln w="12700">
            <a:solidFill>
              <a:srgbClr val="002855"/>
            </a:solidFill>
            <a:prstDash val="solid"/>
          </a:ln>
        </p:spPr>
        <p:txBody>
          <a:bodyPr/>
          <a:lstStyle/>
          <a:p>
            <a:endParaRPr lang="en-BO"/>
          </a:p>
        </p:txBody>
      </p:sp>
      <p:sp>
        <p:nvSpPr>
          <p:cNvPr id="10" name="Text 8"/>
          <p:cNvSpPr/>
          <p:nvPr/>
        </p:nvSpPr>
        <p:spPr>
          <a:xfrm>
            <a:off x="4709160" y="1709928"/>
            <a:ext cx="4023360" cy="65836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Velocidad de respuesta al mercado</a:t>
            </a:r>
            <a:endParaRPr lang="en-US" sz="1200" dirty="0"/>
          </a:p>
        </p:txBody>
      </p:sp>
      <p:sp>
        <p:nvSpPr>
          <p:cNvPr id="11" name="Shape 9"/>
          <p:cNvSpPr/>
          <p:nvPr/>
        </p:nvSpPr>
        <p:spPr>
          <a:xfrm>
            <a:off x="274320" y="2414016"/>
            <a:ext cx="3840480" cy="658368"/>
          </a:xfrm>
          <a:prstGeom prst="roundRect">
            <a:avLst>
              <a:gd name="adj" fmla="val 11111"/>
            </a:avLst>
          </a:prstGeom>
          <a:solidFill>
            <a:srgbClr val="DAEEFF"/>
          </a:solidFill>
          <a:ln w="12700">
            <a:solidFill>
              <a:srgbClr val="DAEEFF"/>
            </a:solidFill>
            <a:prstDash val="solid"/>
          </a:ln>
        </p:spPr>
        <p:txBody>
          <a:bodyPr/>
          <a:lstStyle/>
          <a:p>
            <a:endParaRPr lang="en-BO"/>
          </a:p>
        </p:txBody>
      </p:sp>
      <p:sp>
        <p:nvSpPr>
          <p:cNvPr id="12" name="Text 10"/>
          <p:cNvSpPr/>
          <p:nvPr/>
        </p:nvSpPr>
        <p:spPr>
          <a:xfrm>
            <a:off x="411480" y="2414016"/>
            <a:ext cx="3566160" cy="658368"/>
          </a:xfrm>
          <a:prstGeom prst="rect">
            <a:avLst/>
          </a:prstGeom>
          <a:noFill/>
          <a:ln/>
        </p:spPr>
        <p:txBody>
          <a:bodyPr wrap="square" rtlCol="0" anchor="ctr"/>
          <a:lstStyle/>
          <a:p>
            <a:pPr marL="0" indent="0">
              <a:buNone/>
            </a:pPr>
            <a:r>
              <a:rPr lang="en-US" sz="1200" dirty="0">
                <a:solidFill>
                  <a:srgbClr val="002855"/>
                </a:solidFill>
                <a:latin typeface="Calibri" pitchFamily="34" charset="0"/>
                <a:ea typeface="Calibri" pitchFamily="34" charset="-122"/>
                <a:cs typeface="Calibri" pitchFamily="34" charset="-120"/>
              </a:rPr>
              <a:t>Somos Colaborativos — Un solo Tigo</a:t>
            </a:r>
            <a:endParaRPr lang="en-US" sz="1200" dirty="0"/>
          </a:p>
        </p:txBody>
      </p:sp>
      <p:sp>
        <p:nvSpPr>
          <p:cNvPr id="13" name="Shape 11"/>
          <p:cNvSpPr/>
          <p:nvPr/>
        </p:nvSpPr>
        <p:spPr>
          <a:xfrm>
            <a:off x="4572000" y="2414016"/>
            <a:ext cx="4297680" cy="658368"/>
          </a:xfrm>
          <a:prstGeom prst="roundRect">
            <a:avLst>
              <a:gd name="adj" fmla="val 11111"/>
            </a:avLst>
          </a:prstGeom>
          <a:solidFill>
            <a:srgbClr val="002855"/>
          </a:solidFill>
          <a:ln w="12700">
            <a:solidFill>
              <a:srgbClr val="002855"/>
            </a:solidFill>
            <a:prstDash val="solid"/>
          </a:ln>
        </p:spPr>
        <p:txBody>
          <a:bodyPr/>
          <a:lstStyle/>
          <a:p>
            <a:endParaRPr lang="en-BO"/>
          </a:p>
        </p:txBody>
      </p:sp>
      <p:sp>
        <p:nvSpPr>
          <p:cNvPr id="14" name="Text 12"/>
          <p:cNvSpPr/>
          <p:nvPr/>
        </p:nvSpPr>
        <p:spPr>
          <a:xfrm>
            <a:off x="4709160" y="2414016"/>
            <a:ext cx="4023360" cy="65836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Proyectos cross-funcionales exitosos</a:t>
            </a:r>
            <a:endParaRPr lang="en-US" sz="1200" dirty="0"/>
          </a:p>
        </p:txBody>
      </p:sp>
      <p:sp>
        <p:nvSpPr>
          <p:cNvPr id="15" name="Shape 13"/>
          <p:cNvSpPr/>
          <p:nvPr/>
        </p:nvSpPr>
        <p:spPr>
          <a:xfrm>
            <a:off x="274320" y="3118104"/>
            <a:ext cx="3840480" cy="658368"/>
          </a:xfrm>
          <a:prstGeom prst="roundRect">
            <a:avLst>
              <a:gd name="adj" fmla="val 11111"/>
            </a:avLst>
          </a:prstGeom>
          <a:solidFill>
            <a:srgbClr val="DAEEFF"/>
          </a:solidFill>
          <a:ln w="12700">
            <a:solidFill>
              <a:srgbClr val="DAEEFF"/>
            </a:solidFill>
            <a:prstDash val="solid"/>
          </a:ln>
        </p:spPr>
        <p:txBody>
          <a:bodyPr/>
          <a:lstStyle/>
          <a:p>
            <a:endParaRPr lang="en-BO"/>
          </a:p>
        </p:txBody>
      </p:sp>
      <p:sp>
        <p:nvSpPr>
          <p:cNvPr id="16" name="Text 14"/>
          <p:cNvSpPr/>
          <p:nvPr/>
        </p:nvSpPr>
        <p:spPr>
          <a:xfrm>
            <a:off x="411480" y="3118104"/>
            <a:ext cx="3566160" cy="658368"/>
          </a:xfrm>
          <a:prstGeom prst="rect">
            <a:avLst/>
          </a:prstGeom>
          <a:noFill/>
          <a:ln/>
        </p:spPr>
        <p:txBody>
          <a:bodyPr wrap="square" rtlCol="0" anchor="ctr"/>
          <a:lstStyle/>
          <a:p>
            <a:pPr marL="0" indent="0">
              <a:buNone/>
            </a:pPr>
            <a:r>
              <a:rPr lang="en-US" sz="1200" dirty="0">
                <a:solidFill>
                  <a:srgbClr val="002855"/>
                </a:solidFill>
                <a:latin typeface="Calibri" pitchFamily="34" charset="0"/>
                <a:ea typeface="Calibri" pitchFamily="34" charset="-122"/>
                <a:cs typeface="Calibri" pitchFamily="34" charset="-120"/>
              </a:rPr>
              <a:t>Somos Íntegros — El fin no justifica los medios</a:t>
            </a:r>
            <a:endParaRPr lang="en-US" sz="1200" dirty="0"/>
          </a:p>
        </p:txBody>
      </p:sp>
      <p:sp>
        <p:nvSpPr>
          <p:cNvPr id="17" name="Shape 15"/>
          <p:cNvSpPr/>
          <p:nvPr/>
        </p:nvSpPr>
        <p:spPr>
          <a:xfrm>
            <a:off x="4572000" y="3118104"/>
            <a:ext cx="4297680" cy="658368"/>
          </a:xfrm>
          <a:prstGeom prst="roundRect">
            <a:avLst>
              <a:gd name="adj" fmla="val 11111"/>
            </a:avLst>
          </a:prstGeom>
          <a:solidFill>
            <a:srgbClr val="002855"/>
          </a:solidFill>
          <a:ln w="12700">
            <a:solidFill>
              <a:srgbClr val="002855"/>
            </a:solidFill>
            <a:prstDash val="solid"/>
          </a:ln>
        </p:spPr>
        <p:txBody>
          <a:bodyPr/>
          <a:lstStyle/>
          <a:p>
            <a:endParaRPr lang="en-BO"/>
          </a:p>
        </p:txBody>
      </p:sp>
      <p:sp>
        <p:nvSpPr>
          <p:cNvPr id="18" name="Text 16"/>
          <p:cNvSpPr/>
          <p:nvPr/>
        </p:nvSpPr>
        <p:spPr>
          <a:xfrm>
            <a:off x="4709160" y="3118104"/>
            <a:ext cx="4023360" cy="65836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Confianza de clientes y reguladores</a:t>
            </a:r>
            <a:endParaRPr lang="en-US" sz="1200" dirty="0"/>
          </a:p>
        </p:txBody>
      </p:sp>
      <p:sp>
        <p:nvSpPr>
          <p:cNvPr id="19" name="Shape 17"/>
          <p:cNvSpPr/>
          <p:nvPr/>
        </p:nvSpPr>
        <p:spPr>
          <a:xfrm>
            <a:off x="274320" y="3822192"/>
            <a:ext cx="3840480" cy="658368"/>
          </a:xfrm>
          <a:prstGeom prst="roundRect">
            <a:avLst>
              <a:gd name="adj" fmla="val 11111"/>
            </a:avLst>
          </a:prstGeom>
          <a:solidFill>
            <a:srgbClr val="DAEEFF"/>
          </a:solidFill>
          <a:ln w="12700">
            <a:solidFill>
              <a:srgbClr val="DAEEFF"/>
            </a:solidFill>
            <a:prstDash val="solid"/>
          </a:ln>
        </p:spPr>
        <p:txBody>
          <a:bodyPr/>
          <a:lstStyle/>
          <a:p>
            <a:endParaRPr lang="en-BO"/>
          </a:p>
        </p:txBody>
      </p:sp>
      <p:sp>
        <p:nvSpPr>
          <p:cNvPr id="20" name="Text 18"/>
          <p:cNvSpPr/>
          <p:nvPr/>
        </p:nvSpPr>
        <p:spPr>
          <a:xfrm>
            <a:off x="411480" y="3822192"/>
            <a:ext cx="3566160" cy="658368"/>
          </a:xfrm>
          <a:prstGeom prst="rect">
            <a:avLst/>
          </a:prstGeom>
          <a:noFill/>
          <a:ln/>
        </p:spPr>
        <p:txBody>
          <a:bodyPr wrap="square" rtlCol="0" anchor="ctr"/>
          <a:lstStyle/>
          <a:p>
            <a:pPr marL="0" indent="0">
              <a:buNone/>
            </a:pPr>
            <a:r>
              <a:rPr lang="en-US" sz="1200" dirty="0">
                <a:solidFill>
                  <a:srgbClr val="002855"/>
                </a:solidFill>
                <a:latin typeface="Calibri" pitchFamily="34" charset="0"/>
                <a:ea typeface="Calibri" pitchFamily="34" charset="-122"/>
                <a:cs typeface="Calibri" pitchFamily="34" charset="-120"/>
              </a:rPr>
              <a:t>Somos Talento Tigo — Tu equipo como cantera</a:t>
            </a:r>
            <a:endParaRPr lang="en-US" sz="1200" dirty="0"/>
          </a:p>
        </p:txBody>
      </p:sp>
      <p:sp>
        <p:nvSpPr>
          <p:cNvPr id="21" name="Shape 19"/>
          <p:cNvSpPr/>
          <p:nvPr/>
        </p:nvSpPr>
        <p:spPr>
          <a:xfrm>
            <a:off x="4572000" y="3822192"/>
            <a:ext cx="4297680" cy="658368"/>
          </a:xfrm>
          <a:prstGeom prst="roundRect">
            <a:avLst>
              <a:gd name="adj" fmla="val 11111"/>
            </a:avLst>
          </a:prstGeom>
          <a:solidFill>
            <a:srgbClr val="002855"/>
          </a:solidFill>
          <a:ln w="12700">
            <a:solidFill>
              <a:srgbClr val="002855"/>
            </a:solidFill>
            <a:prstDash val="solid"/>
          </a:ln>
        </p:spPr>
        <p:txBody>
          <a:bodyPr/>
          <a:lstStyle/>
          <a:p>
            <a:endParaRPr lang="en-BO"/>
          </a:p>
        </p:txBody>
      </p:sp>
      <p:sp>
        <p:nvSpPr>
          <p:cNvPr id="22" name="Text 20"/>
          <p:cNvSpPr/>
          <p:nvPr/>
        </p:nvSpPr>
        <p:spPr>
          <a:xfrm>
            <a:off x="4709160" y="3822192"/>
            <a:ext cx="4023360" cy="658368"/>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Retención y desarrollo de talento interno</a:t>
            </a:r>
            <a:endParaRPr lang="en-US" sz="1200" dirty="0"/>
          </a:p>
        </p:txBody>
      </p:sp>
      <p:sp>
        <p:nvSpPr>
          <p:cNvPr id="24" name="Text 22"/>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2855"/>
        </a:solidFill>
        <a:effectLst/>
      </p:bgPr>
    </p:bg>
    <p:spTree>
      <p:nvGrpSpPr>
        <p:cNvPr id="1" name=""/>
        <p:cNvGrpSpPr/>
        <p:nvPr/>
      </p:nvGrpSpPr>
      <p:grpSpPr>
        <a:xfrm>
          <a:off x="0" y="0"/>
          <a:ext cx="0" cy="0"/>
          <a:chOff x="0" y="0"/>
          <a:chExt cx="0" cy="0"/>
        </a:xfrm>
      </p:grpSpPr>
      <p:sp>
        <p:nvSpPr>
          <p:cNvPr id="2" name="Text 0"/>
          <p:cNvSpPr/>
          <p:nvPr/>
        </p:nvSpPr>
        <p:spPr>
          <a:xfrm>
            <a:off x="457200" y="640080"/>
            <a:ext cx="8229600" cy="640080"/>
          </a:xfrm>
          <a:prstGeom prst="rect">
            <a:avLst/>
          </a:prstGeom>
          <a:noFill/>
          <a:ln/>
        </p:spPr>
        <p:txBody>
          <a:bodyPr wrap="square"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Cultura = Ventaja competitiva</a:t>
            </a:r>
            <a:endParaRPr lang="en-US" sz="4000" dirty="0"/>
          </a:p>
        </p:txBody>
      </p:sp>
      <p:sp>
        <p:nvSpPr>
          <p:cNvPr id="3" name="Text 1"/>
          <p:cNvSpPr/>
          <p:nvPr/>
        </p:nvSpPr>
        <p:spPr>
          <a:xfrm>
            <a:off x="457200" y="1371600"/>
            <a:ext cx="8229600" cy="1097280"/>
          </a:xfrm>
          <a:prstGeom prst="rect">
            <a:avLst/>
          </a:prstGeom>
          <a:noFill/>
          <a:ln/>
        </p:spPr>
        <p:txBody>
          <a:bodyPr wrap="square" rtlCol="0" anchor="ctr"/>
          <a:lstStyle/>
          <a:p>
            <a:pPr marL="0" indent="0" algn="ctr">
              <a:buNone/>
            </a:pPr>
            <a:r>
              <a:rPr lang="en-US" sz="7200" b="1" dirty="0">
                <a:solidFill>
                  <a:schemeClr val="bg1"/>
                </a:solidFill>
                <a:latin typeface="Calibri" pitchFamily="34" charset="0"/>
                <a:ea typeface="Calibri" pitchFamily="34" charset="-122"/>
                <a:cs typeface="Calibri" pitchFamily="34" charset="-120"/>
              </a:rPr>
              <a:t>#1</a:t>
            </a:r>
            <a:endParaRPr lang="en-US" sz="7200" dirty="0">
              <a:solidFill>
                <a:schemeClr val="bg1"/>
              </a:solidFill>
            </a:endParaRPr>
          </a:p>
        </p:txBody>
      </p:sp>
      <p:sp>
        <p:nvSpPr>
          <p:cNvPr id="4" name="Text 2"/>
          <p:cNvSpPr/>
          <p:nvPr/>
        </p:nvSpPr>
        <p:spPr>
          <a:xfrm>
            <a:off x="457200" y="2560320"/>
            <a:ext cx="8229600" cy="502920"/>
          </a:xfrm>
          <a:prstGeom prst="rect">
            <a:avLst/>
          </a:prstGeom>
          <a:noFill/>
          <a:ln/>
        </p:spPr>
        <p:txBody>
          <a:bodyPr wrap="square" rtlCol="0" anchor="ctr"/>
          <a:lstStyle/>
          <a:p>
            <a:pPr marL="0" indent="0" algn="ctr">
              <a:buNone/>
            </a:pPr>
            <a:r>
              <a:rPr lang="en-US" sz="2200" dirty="0">
                <a:solidFill>
                  <a:srgbClr val="FFFFFF"/>
                </a:solidFill>
                <a:latin typeface="Calibri" pitchFamily="34" charset="0"/>
                <a:ea typeface="Calibri" pitchFamily="34" charset="-122"/>
                <a:cs typeface="Calibri" pitchFamily="34" charset="-120"/>
              </a:rPr>
              <a:t>EBITDA en Latinoamérica</a:t>
            </a:r>
            <a:endParaRPr lang="en-US" sz="2200" dirty="0"/>
          </a:p>
        </p:txBody>
      </p:sp>
      <p:sp>
        <p:nvSpPr>
          <p:cNvPr id="5" name="Text 3"/>
          <p:cNvSpPr/>
          <p:nvPr/>
        </p:nvSpPr>
        <p:spPr>
          <a:xfrm>
            <a:off x="457200" y="3200400"/>
            <a:ext cx="8229600" cy="502920"/>
          </a:xfrm>
          <a:prstGeom prst="rect">
            <a:avLst/>
          </a:prstGeom>
          <a:noFill/>
          <a:ln/>
        </p:spPr>
        <p:txBody>
          <a:bodyPr wrap="square" rtlCol="0" anchor="ctr"/>
          <a:lstStyle/>
          <a:p>
            <a:pPr marL="0" indent="0" algn="ctr">
              <a:buNone/>
            </a:pPr>
            <a:r>
              <a:rPr lang="en-US" sz="1600" i="1" dirty="0">
                <a:solidFill>
                  <a:srgbClr val="00A0DC"/>
                </a:solidFill>
                <a:latin typeface="Calibri" pitchFamily="34" charset="0"/>
                <a:ea typeface="Calibri" pitchFamily="34" charset="-122"/>
                <a:cs typeface="Calibri" pitchFamily="34" charset="-120"/>
              </a:rPr>
              <a:t>No llegamos aquí por casualidad. Llegamos porque nuestra gente tiene Sangre Tigo.</a:t>
            </a:r>
            <a:endParaRPr lang="en-US" sz="1600" dirty="0"/>
          </a:p>
        </p:txBody>
      </p:sp>
      <p:sp>
        <p:nvSpPr>
          <p:cNvPr id="6" name="Text 4"/>
          <p:cNvSpPr/>
          <p:nvPr/>
        </p:nvSpPr>
        <p:spPr>
          <a:xfrm>
            <a:off x="457200" y="3931920"/>
            <a:ext cx="8229600" cy="41148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La cultura es lo que nos diferencia cuando el producto y el precio son similares.</a:t>
            </a:r>
            <a:endParaRPr lang="en-US" sz="1300" dirty="0"/>
          </a:p>
        </p:txBody>
      </p:sp>
      <p:sp>
        <p:nvSpPr>
          <p:cNvPr id="7" name="Text 5"/>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lgn="ctr">
              <a:buNone/>
            </a:pPr>
            <a:r>
              <a:rPr lang="en-US" sz="3600" b="1" dirty="0">
                <a:solidFill>
                  <a:srgbClr val="002855"/>
                </a:solidFill>
                <a:latin typeface="Calibri" pitchFamily="34" charset="0"/>
                <a:ea typeface="Calibri" pitchFamily="34" charset="-122"/>
                <a:cs typeface="Calibri" pitchFamily="34" charset="-120"/>
              </a:rPr>
              <a:t>Tu equipo es tu marca personal</a:t>
            </a:r>
            <a:endParaRPr lang="en-US" sz="3600" dirty="0"/>
          </a:p>
        </p:txBody>
      </p:sp>
      <p:sp>
        <p:nvSpPr>
          <p:cNvPr id="3" name="Shape 1"/>
          <p:cNvSpPr/>
          <p:nvPr/>
        </p:nvSpPr>
        <p:spPr>
          <a:xfrm>
            <a:off x="1371600" y="1188720"/>
            <a:ext cx="6400800" cy="2286000"/>
          </a:xfrm>
          <a:prstGeom prst="roundRect">
            <a:avLst>
              <a:gd name="adj" fmla="val 4800"/>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4" name="Text 2"/>
          <p:cNvSpPr/>
          <p:nvPr/>
        </p:nvSpPr>
        <p:spPr>
          <a:xfrm>
            <a:off x="1554480" y="1371600"/>
            <a:ext cx="6035040" cy="502920"/>
          </a:xfrm>
          <a:prstGeom prst="rect">
            <a:avLst/>
          </a:prstGeom>
          <a:noFill/>
          <a:ln/>
        </p:spPr>
        <p:txBody>
          <a:bodyPr wrap="square" rtlCol="0" anchor="ctr"/>
          <a:lstStyle/>
          <a:p>
            <a:pPr marL="0" indent="0" algn="ctr">
              <a:buNone/>
            </a:pPr>
            <a:r>
              <a:rPr lang="en-US" sz="2000" b="1" dirty="0">
                <a:solidFill>
                  <a:srgbClr val="002855"/>
                </a:solidFill>
                <a:latin typeface="Calibri" pitchFamily="34" charset="0"/>
                <a:ea typeface="Calibri" pitchFamily="34" charset="-122"/>
                <a:cs typeface="Calibri" pitchFamily="34" charset="-120"/>
              </a:rPr>
              <a:t>La cultura de tu equipo refleja tu liderazgo.</a:t>
            </a:r>
            <a:endParaRPr lang="en-US" sz="2000" dirty="0"/>
          </a:p>
        </p:txBody>
      </p:sp>
      <p:sp>
        <p:nvSpPr>
          <p:cNvPr id="5" name="Text 3"/>
          <p:cNvSpPr/>
          <p:nvPr/>
        </p:nvSpPr>
        <p:spPr>
          <a:xfrm>
            <a:off x="1554480" y="1965960"/>
            <a:ext cx="6035040" cy="1188720"/>
          </a:xfrm>
          <a:prstGeom prst="rect">
            <a:avLst/>
          </a:prstGeom>
          <a:noFill/>
          <a:ln/>
        </p:spPr>
        <p:txBody>
          <a:bodyPr wrap="square" rtlCol="0" anchor="ctr"/>
          <a:lstStyle/>
          <a:p>
            <a:pPr marL="0" indent="0" algn="ctr">
              <a:buNone/>
            </a:pPr>
            <a:r>
              <a:rPr lang="en-US" sz="1400" dirty="0">
                <a:solidFill>
                  <a:srgbClr val="002855"/>
                </a:solidFill>
                <a:latin typeface="Calibri" pitchFamily="34" charset="0"/>
                <a:ea typeface="Calibri" pitchFamily="34" charset="-122"/>
                <a:cs typeface="Calibri" pitchFamily="34" charset="-120"/>
              </a:rPr>
              <a:t>Cómo trata tu equipo a los clientes, cómo colabora con otras áreas, qué tan íntegro es en sus decisiones — todo eso habla de ti como líder.</a:t>
            </a:r>
            <a:endParaRPr lang="en-US" sz="1400" dirty="0"/>
          </a:p>
        </p:txBody>
      </p:sp>
      <p:sp>
        <p:nvSpPr>
          <p:cNvPr id="6" name="Text 4"/>
          <p:cNvSpPr/>
          <p:nvPr/>
        </p:nvSpPr>
        <p:spPr>
          <a:xfrm>
            <a:off x="457200" y="3840480"/>
            <a:ext cx="8229600" cy="457200"/>
          </a:xfrm>
          <a:prstGeom prst="rect">
            <a:avLst/>
          </a:prstGeom>
          <a:noFill/>
          <a:ln/>
        </p:spPr>
        <p:txBody>
          <a:bodyPr wrap="square" rtlCol="0" anchor="ctr"/>
          <a:lstStyle/>
          <a:p>
            <a:pPr marL="0" indent="0" algn="ctr">
              <a:buNone/>
            </a:pPr>
            <a:r>
              <a:rPr lang="en-US" sz="1800" i="1" dirty="0">
                <a:solidFill>
                  <a:srgbClr val="00A0DC"/>
                </a:solidFill>
                <a:latin typeface="Calibri" pitchFamily="34" charset="0"/>
                <a:ea typeface="Calibri" pitchFamily="34" charset="-122"/>
                <a:cs typeface="Calibri" pitchFamily="34" charset="-120"/>
              </a:rPr>
              <a:t>¿Qué dice tu equipo hoy sobre ti?</a:t>
            </a:r>
            <a:endParaRPr lang="en-US" sz="1800" dirty="0"/>
          </a:p>
        </p:txBody>
      </p:sp>
      <p:sp>
        <p:nvSpPr>
          <p:cNvPr id="8" name="Text 6"/>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502920"/>
          </a:xfrm>
          <a:prstGeom prst="rect">
            <a:avLst/>
          </a:prstGeom>
          <a:noFill/>
          <a:ln/>
        </p:spPr>
        <p:txBody>
          <a:bodyPr wrap="square" rtlCol="0" anchor="ctr"/>
          <a:lstStyle/>
          <a:p>
            <a:pPr marL="0" indent="0">
              <a:buNone/>
            </a:pPr>
            <a:r>
              <a:rPr lang="en-US" sz="3200" b="1" dirty="0">
                <a:solidFill>
                  <a:srgbClr val="002855"/>
                </a:solidFill>
                <a:latin typeface="Calibri" pitchFamily="34" charset="0"/>
                <a:ea typeface="Calibri" pitchFamily="34" charset="-122"/>
                <a:cs typeface="Calibri" pitchFamily="34" charset="-120"/>
              </a:rPr>
              <a:t>Preguntas de reflexión para el líder</a:t>
            </a:r>
            <a:endParaRPr lang="en-US" sz="3200" dirty="0"/>
          </a:p>
        </p:txBody>
      </p:sp>
      <p:sp>
        <p:nvSpPr>
          <p:cNvPr id="3" name="Shape 1"/>
          <p:cNvSpPr/>
          <p:nvPr/>
        </p:nvSpPr>
        <p:spPr>
          <a:xfrm>
            <a:off x="457200" y="822960"/>
            <a:ext cx="8229600" cy="658368"/>
          </a:xfrm>
          <a:prstGeom prst="roundRect">
            <a:avLst>
              <a:gd name="adj" fmla="val 13889"/>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4" name="Text 2"/>
          <p:cNvSpPr/>
          <p:nvPr/>
        </p:nvSpPr>
        <p:spPr>
          <a:xfrm>
            <a:off x="594360" y="822960"/>
            <a:ext cx="7955280" cy="658368"/>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¿Cuándo fue la última vez que di un reto real a alguien de mi equipo?</a:t>
            </a:r>
            <a:endParaRPr lang="en-US" sz="1300" dirty="0"/>
          </a:p>
        </p:txBody>
      </p:sp>
      <p:sp>
        <p:nvSpPr>
          <p:cNvPr id="5" name="Shape 3"/>
          <p:cNvSpPr/>
          <p:nvPr/>
        </p:nvSpPr>
        <p:spPr>
          <a:xfrm>
            <a:off x="457200" y="1572768"/>
            <a:ext cx="8229600" cy="658368"/>
          </a:xfrm>
          <a:prstGeom prst="roundRect">
            <a:avLst>
              <a:gd name="adj" fmla="val 13889"/>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6" name="Text 4"/>
          <p:cNvSpPr/>
          <p:nvPr/>
        </p:nvSpPr>
        <p:spPr>
          <a:xfrm>
            <a:off x="594360" y="1572768"/>
            <a:ext cx="7955280" cy="658368"/>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¿Estoy tomando decisiones con datos reales o con lo que quiero ver?</a:t>
            </a:r>
            <a:endParaRPr lang="en-US" sz="1300" dirty="0"/>
          </a:p>
        </p:txBody>
      </p:sp>
      <p:sp>
        <p:nvSpPr>
          <p:cNvPr id="7" name="Shape 5"/>
          <p:cNvSpPr/>
          <p:nvPr/>
        </p:nvSpPr>
        <p:spPr>
          <a:xfrm>
            <a:off x="457200" y="2322576"/>
            <a:ext cx="8229600" cy="658368"/>
          </a:xfrm>
          <a:prstGeom prst="roundRect">
            <a:avLst>
              <a:gd name="adj" fmla="val 13889"/>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8" name="Text 6"/>
          <p:cNvSpPr/>
          <p:nvPr/>
        </p:nvSpPr>
        <p:spPr>
          <a:xfrm>
            <a:off x="594360" y="2322576"/>
            <a:ext cx="7955280" cy="658368"/>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¿Cuándo fue la última vez que reconocí un comportamiento alineado con un valor?</a:t>
            </a:r>
            <a:endParaRPr lang="en-US" sz="1300" dirty="0"/>
          </a:p>
        </p:txBody>
      </p:sp>
      <p:sp>
        <p:nvSpPr>
          <p:cNvPr id="9" name="Shape 7"/>
          <p:cNvSpPr/>
          <p:nvPr/>
        </p:nvSpPr>
        <p:spPr>
          <a:xfrm>
            <a:off x="457200" y="3072384"/>
            <a:ext cx="8229600" cy="658368"/>
          </a:xfrm>
          <a:prstGeom prst="roundRect">
            <a:avLst>
              <a:gd name="adj" fmla="val 13889"/>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10" name="Text 8"/>
          <p:cNvSpPr/>
          <p:nvPr/>
        </p:nvSpPr>
        <p:spPr>
          <a:xfrm>
            <a:off x="594360" y="3072384"/>
            <a:ext cx="7955280" cy="658368"/>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¿Hay alguien en mi equipo esperando retroalimentación que no he dado?</a:t>
            </a:r>
            <a:endParaRPr lang="en-US" sz="1300" dirty="0"/>
          </a:p>
        </p:txBody>
      </p:sp>
      <p:sp>
        <p:nvSpPr>
          <p:cNvPr id="11" name="Shape 9"/>
          <p:cNvSpPr/>
          <p:nvPr/>
        </p:nvSpPr>
        <p:spPr>
          <a:xfrm>
            <a:off x="457200" y="3822192"/>
            <a:ext cx="8229600" cy="658368"/>
          </a:xfrm>
          <a:prstGeom prst="roundRect">
            <a:avLst>
              <a:gd name="adj" fmla="val 13889"/>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12" name="Text 10"/>
          <p:cNvSpPr/>
          <p:nvPr/>
        </p:nvSpPr>
        <p:spPr>
          <a:xfrm>
            <a:off x="594360" y="3822192"/>
            <a:ext cx="7955280" cy="658368"/>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¿Mi equipo me describiría como íntegro? ¿Qué dirían específicamente?</a:t>
            </a:r>
            <a:endParaRPr lang="en-US" sz="1300" dirty="0"/>
          </a:p>
        </p:txBody>
      </p:sp>
      <p:sp>
        <p:nvSpPr>
          <p:cNvPr id="14" name="Text 12"/>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DAEE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buNone/>
            </a:pPr>
            <a:r>
              <a:rPr lang="en-US" sz="3200" b="1" dirty="0">
                <a:solidFill>
                  <a:srgbClr val="002855"/>
                </a:solidFill>
                <a:latin typeface="Calibri" pitchFamily="34" charset="0"/>
                <a:ea typeface="Calibri" pitchFamily="34" charset="-122"/>
                <a:cs typeface="Calibri" pitchFamily="34" charset="-120"/>
              </a:rPr>
              <a:t>Dinámica: Mi modelo de rol</a:t>
            </a:r>
            <a:endParaRPr lang="en-US" sz="3200" dirty="0"/>
          </a:p>
        </p:txBody>
      </p:sp>
      <p:sp>
        <p:nvSpPr>
          <p:cNvPr id="3" name="Text 1"/>
          <p:cNvSpPr/>
          <p:nvPr/>
        </p:nvSpPr>
        <p:spPr>
          <a:xfrm>
            <a:off x="457200" y="1005840"/>
            <a:ext cx="8229600" cy="365760"/>
          </a:xfrm>
          <a:prstGeom prst="rect">
            <a:avLst/>
          </a:prstGeom>
          <a:noFill/>
          <a:ln/>
        </p:spPr>
        <p:txBody>
          <a:bodyPr wrap="square" rtlCol="0" anchor="ctr"/>
          <a:lstStyle/>
          <a:p>
            <a:pPr marL="0" indent="0">
              <a:buNone/>
            </a:pPr>
            <a:r>
              <a:rPr lang="en-US" sz="1600" dirty="0">
                <a:solidFill>
                  <a:srgbClr val="00A0DC"/>
                </a:solidFill>
                <a:latin typeface="Calibri" pitchFamily="34" charset="0"/>
                <a:ea typeface="Calibri" pitchFamily="34" charset="-122"/>
                <a:cs typeface="Calibri" pitchFamily="34" charset="-120"/>
              </a:rPr>
              <a:t>15 minutos | Individual + Plenaria</a:t>
            </a:r>
            <a:endParaRPr lang="en-US" sz="1600" dirty="0"/>
          </a:p>
        </p:txBody>
      </p:sp>
      <p:sp>
        <p:nvSpPr>
          <p:cNvPr id="4" name="Shape 2"/>
          <p:cNvSpPr/>
          <p:nvPr/>
        </p:nvSpPr>
        <p:spPr>
          <a:xfrm>
            <a:off x="457200" y="1371600"/>
            <a:ext cx="8229600" cy="841248"/>
          </a:xfrm>
          <a:prstGeom prst="roundRect">
            <a:avLst>
              <a:gd name="adj" fmla="val 10870"/>
            </a:avLst>
          </a:prstGeom>
          <a:solidFill>
            <a:srgbClr val="FFFFFF"/>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BO"/>
          </a:p>
        </p:txBody>
      </p:sp>
      <p:sp>
        <p:nvSpPr>
          <p:cNvPr id="5" name="Text 3"/>
          <p:cNvSpPr/>
          <p:nvPr/>
        </p:nvSpPr>
        <p:spPr>
          <a:xfrm>
            <a:off x="594360" y="1371600"/>
            <a:ext cx="7955280" cy="841248"/>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1. Escribe UN valor de Sangre Tigo donde sientes que eres un modelo de rol genuino. ¿Qué comportamientos concretos lo demuestran?</a:t>
            </a:r>
            <a:endParaRPr lang="en-US" sz="1300" dirty="0"/>
          </a:p>
        </p:txBody>
      </p:sp>
      <p:sp>
        <p:nvSpPr>
          <p:cNvPr id="6" name="Shape 4"/>
          <p:cNvSpPr/>
          <p:nvPr/>
        </p:nvSpPr>
        <p:spPr>
          <a:xfrm>
            <a:off x="457200" y="2350008"/>
            <a:ext cx="8229600" cy="841248"/>
          </a:xfrm>
          <a:prstGeom prst="roundRect">
            <a:avLst>
              <a:gd name="adj" fmla="val 10870"/>
            </a:avLst>
          </a:prstGeom>
          <a:solidFill>
            <a:srgbClr val="FFFFFF"/>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BO"/>
          </a:p>
        </p:txBody>
      </p:sp>
      <p:sp>
        <p:nvSpPr>
          <p:cNvPr id="7" name="Text 5"/>
          <p:cNvSpPr/>
          <p:nvPr/>
        </p:nvSpPr>
        <p:spPr>
          <a:xfrm>
            <a:off x="594360" y="2350008"/>
            <a:ext cx="7955280" cy="841248"/>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2. Escribe UN valor donde sabes que tienes margen de mejora como líder. ¿Qué cambiarías esta semana?</a:t>
            </a:r>
            <a:endParaRPr lang="en-US" sz="1300" dirty="0"/>
          </a:p>
        </p:txBody>
      </p:sp>
      <p:sp>
        <p:nvSpPr>
          <p:cNvPr id="8" name="Shape 6"/>
          <p:cNvSpPr/>
          <p:nvPr/>
        </p:nvSpPr>
        <p:spPr>
          <a:xfrm>
            <a:off x="457200" y="3328416"/>
            <a:ext cx="8229600" cy="841248"/>
          </a:xfrm>
          <a:prstGeom prst="roundRect">
            <a:avLst>
              <a:gd name="adj" fmla="val 10870"/>
            </a:avLst>
          </a:prstGeom>
          <a:solidFill>
            <a:srgbClr val="FFFFFF"/>
          </a:solidFill>
          <a:ln w="12700">
            <a:solidFill>
              <a:srgbClr val="FFFFFF"/>
            </a:solidFill>
            <a:prstDash val="solid"/>
          </a:ln>
          <a:effectLst>
            <a:outerShdw blurRad="76200" dist="25400" dir="2700000" algn="bl" rotWithShape="0">
              <a:srgbClr val="000000">
                <a:alpha val="12000"/>
              </a:srgbClr>
            </a:outerShdw>
          </a:effectLst>
        </p:spPr>
        <p:txBody>
          <a:bodyPr/>
          <a:lstStyle/>
          <a:p>
            <a:endParaRPr lang="en-BO"/>
          </a:p>
        </p:txBody>
      </p:sp>
      <p:sp>
        <p:nvSpPr>
          <p:cNvPr id="9" name="Text 7"/>
          <p:cNvSpPr/>
          <p:nvPr/>
        </p:nvSpPr>
        <p:spPr>
          <a:xfrm>
            <a:off x="594360" y="3328416"/>
            <a:ext cx="7955280" cy="841248"/>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3. Comparte en plenaria: solo el valor a mejorar y UN compromiso concreto.</a:t>
            </a:r>
            <a:endParaRPr lang="en-US" sz="1300" dirty="0"/>
          </a:p>
        </p:txBody>
      </p:sp>
      <p:sp>
        <p:nvSpPr>
          <p:cNvPr id="10" name="Text 8"/>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02855"/>
        </a:solidFill>
        <a:effectLst/>
      </p:bgPr>
    </p:bg>
    <p:spTree>
      <p:nvGrpSpPr>
        <p:cNvPr id="1" name=""/>
        <p:cNvGrpSpPr/>
        <p:nvPr/>
      </p:nvGrpSpPr>
      <p:grpSpPr>
        <a:xfrm>
          <a:off x="0" y="0"/>
          <a:ext cx="0" cy="0"/>
          <a:chOff x="0" y="0"/>
          <a:chExt cx="0" cy="0"/>
        </a:xfrm>
      </p:grpSpPr>
      <p:sp>
        <p:nvSpPr>
          <p:cNvPr id="2" name="Text 0"/>
          <p:cNvSpPr/>
          <p:nvPr/>
        </p:nvSpPr>
        <p:spPr>
          <a:xfrm>
            <a:off x="457200" y="457200"/>
            <a:ext cx="8229600" cy="59436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Mi compromiso como líder</a:t>
            </a:r>
            <a:endParaRPr lang="en-US" sz="3600" dirty="0"/>
          </a:p>
        </p:txBody>
      </p:sp>
      <p:sp>
        <p:nvSpPr>
          <p:cNvPr id="3" name="Shape 1"/>
          <p:cNvSpPr/>
          <p:nvPr/>
        </p:nvSpPr>
        <p:spPr>
          <a:xfrm>
            <a:off x="914400" y="1188720"/>
            <a:ext cx="7315200" cy="3200400"/>
          </a:xfrm>
          <a:prstGeom prst="roundRect">
            <a:avLst>
              <a:gd name="adj" fmla="val 4286"/>
            </a:avLst>
          </a:prstGeom>
          <a:solidFill>
            <a:srgbClr val="DAEEFF"/>
          </a:solidFill>
          <a:ln w="12700">
            <a:solidFill>
              <a:srgbClr val="DAEEFF"/>
            </a:solidFill>
            <a:prstDash val="solid"/>
          </a:ln>
        </p:spPr>
        <p:txBody>
          <a:bodyPr/>
          <a:lstStyle/>
          <a:p>
            <a:endParaRPr lang="en-BO"/>
          </a:p>
        </p:txBody>
      </p:sp>
      <p:sp>
        <p:nvSpPr>
          <p:cNvPr id="4" name="Text 2"/>
          <p:cNvSpPr/>
          <p:nvPr/>
        </p:nvSpPr>
        <p:spPr>
          <a:xfrm>
            <a:off x="1097280" y="1371600"/>
            <a:ext cx="6949440" cy="411480"/>
          </a:xfrm>
          <a:prstGeom prst="rect">
            <a:avLst/>
          </a:prstGeom>
          <a:noFill/>
          <a:ln/>
        </p:spPr>
        <p:txBody>
          <a:bodyPr wrap="square" rtlCol="0" anchor="ctr"/>
          <a:lstStyle/>
          <a:p>
            <a:pPr marL="0" indent="0" algn="ctr">
              <a:buNone/>
            </a:pPr>
            <a:r>
              <a:rPr lang="en-US" sz="1600" b="1" dirty="0">
                <a:solidFill>
                  <a:srgbClr val="002855"/>
                </a:solidFill>
                <a:latin typeface="Calibri" pitchFamily="34" charset="0"/>
                <a:ea typeface="Calibri" pitchFamily="34" charset="-122"/>
                <a:cs typeface="Calibri" pitchFamily="34" charset="-120"/>
              </a:rPr>
              <a:t>Como líder de Sangre Tigo, me comprometo a:</a:t>
            </a:r>
            <a:endParaRPr lang="en-US" sz="1600" dirty="0"/>
          </a:p>
        </p:txBody>
      </p:sp>
      <p:sp>
        <p:nvSpPr>
          <p:cNvPr id="5" name="Text 3"/>
          <p:cNvSpPr/>
          <p:nvPr/>
        </p:nvSpPr>
        <p:spPr>
          <a:xfrm>
            <a:off x="1188720" y="1920240"/>
            <a:ext cx="6766560" cy="411480"/>
          </a:xfrm>
          <a:prstGeom prst="rect">
            <a:avLst/>
          </a:prstGeom>
          <a:noFill/>
          <a:ln/>
        </p:spPr>
        <p:txBody>
          <a:bodyPr wrap="square" rtlCol="0" anchor="ctr"/>
          <a:lstStyle/>
          <a:p>
            <a:pPr marL="0" indent="0">
              <a:buNone/>
            </a:pPr>
            <a:r>
              <a:rPr lang="en-US" sz="1400" i="1" dirty="0">
                <a:solidFill>
                  <a:srgbClr val="002855"/>
                </a:solidFill>
                <a:latin typeface="Calibri" pitchFamily="34" charset="0"/>
                <a:ea typeface="Calibri" pitchFamily="34" charset="-122"/>
                <a:cs typeface="Calibri" pitchFamily="34" charset="-120"/>
              </a:rPr>
              <a:t>Modelar [valor] a través de [comportamiento concreto]</a:t>
            </a:r>
            <a:endParaRPr lang="en-US" sz="1400" dirty="0"/>
          </a:p>
        </p:txBody>
      </p:sp>
      <p:sp>
        <p:nvSpPr>
          <p:cNvPr id="6" name="Shape 4"/>
          <p:cNvSpPr/>
          <p:nvPr/>
        </p:nvSpPr>
        <p:spPr>
          <a:xfrm>
            <a:off x="1188720" y="2304288"/>
            <a:ext cx="6766560" cy="0"/>
          </a:xfrm>
          <a:prstGeom prst="line">
            <a:avLst/>
          </a:prstGeom>
          <a:noFill/>
          <a:ln w="6350">
            <a:solidFill>
              <a:srgbClr val="00A0DC"/>
            </a:solidFill>
            <a:prstDash val="solid"/>
          </a:ln>
        </p:spPr>
        <p:txBody>
          <a:bodyPr/>
          <a:lstStyle/>
          <a:p>
            <a:endParaRPr lang="en-BO"/>
          </a:p>
        </p:txBody>
      </p:sp>
      <p:sp>
        <p:nvSpPr>
          <p:cNvPr id="7" name="Text 5"/>
          <p:cNvSpPr/>
          <p:nvPr/>
        </p:nvSpPr>
        <p:spPr>
          <a:xfrm>
            <a:off x="1188720" y="2468880"/>
            <a:ext cx="6766560" cy="411480"/>
          </a:xfrm>
          <a:prstGeom prst="rect">
            <a:avLst/>
          </a:prstGeom>
          <a:noFill/>
          <a:ln/>
        </p:spPr>
        <p:txBody>
          <a:bodyPr wrap="square" rtlCol="0" anchor="ctr"/>
          <a:lstStyle/>
          <a:p>
            <a:pPr marL="0" indent="0">
              <a:buNone/>
            </a:pPr>
            <a:r>
              <a:rPr lang="en-US" sz="1400" i="1" dirty="0">
                <a:solidFill>
                  <a:srgbClr val="002855"/>
                </a:solidFill>
                <a:latin typeface="Calibri" pitchFamily="34" charset="0"/>
                <a:ea typeface="Calibri" pitchFamily="34" charset="-122"/>
                <a:cs typeface="Calibri" pitchFamily="34" charset="-120"/>
              </a:rPr>
              <a:t>Reconocer esta semana a [persona] por [comportamiento alineado]</a:t>
            </a:r>
            <a:endParaRPr lang="en-US" sz="1400" dirty="0"/>
          </a:p>
        </p:txBody>
      </p:sp>
      <p:sp>
        <p:nvSpPr>
          <p:cNvPr id="8" name="Shape 6"/>
          <p:cNvSpPr/>
          <p:nvPr/>
        </p:nvSpPr>
        <p:spPr>
          <a:xfrm>
            <a:off x="1188720" y="2852928"/>
            <a:ext cx="6766560" cy="0"/>
          </a:xfrm>
          <a:prstGeom prst="line">
            <a:avLst/>
          </a:prstGeom>
          <a:noFill/>
          <a:ln w="6350">
            <a:solidFill>
              <a:srgbClr val="00A0DC"/>
            </a:solidFill>
            <a:prstDash val="solid"/>
          </a:ln>
        </p:spPr>
        <p:txBody>
          <a:bodyPr/>
          <a:lstStyle/>
          <a:p>
            <a:endParaRPr lang="en-BO"/>
          </a:p>
        </p:txBody>
      </p:sp>
      <p:sp>
        <p:nvSpPr>
          <p:cNvPr id="9" name="Text 7"/>
          <p:cNvSpPr/>
          <p:nvPr/>
        </p:nvSpPr>
        <p:spPr>
          <a:xfrm>
            <a:off x="1188720" y="2926080"/>
            <a:ext cx="6766560" cy="411480"/>
          </a:xfrm>
          <a:prstGeom prst="rect">
            <a:avLst/>
          </a:prstGeom>
          <a:noFill/>
          <a:ln/>
        </p:spPr>
        <p:txBody>
          <a:bodyPr wrap="square" rtlCol="0" anchor="ctr"/>
          <a:lstStyle/>
          <a:p>
            <a:pPr marL="0" indent="0">
              <a:buNone/>
            </a:pPr>
            <a:r>
              <a:rPr lang="en-US" sz="1400" i="1" dirty="0">
                <a:solidFill>
                  <a:srgbClr val="002855"/>
                </a:solidFill>
                <a:latin typeface="Calibri" pitchFamily="34" charset="0"/>
                <a:ea typeface="Calibri" pitchFamily="34" charset="-122"/>
                <a:cs typeface="Calibri" pitchFamily="34" charset="-120"/>
              </a:rPr>
              <a:t>Corregir o desarrollar a [persona] en [área específica]</a:t>
            </a:r>
            <a:endParaRPr lang="en-US" sz="1400" dirty="0"/>
          </a:p>
        </p:txBody>
      </p:sp>
      <p:sp>
        <p:nvSpPr>
          <p:cNvPr id="10" name="Shape 8"/>
          <p:cNvSpPr/>
          <p:nvPr/>
        </p:nvSpPr>
        <p:spPr>
          <a:xfrm>
            <a:off x="1188720" y="3310128"/>
            <a:ext cx="6766560" cy="0"/>
          </a:xfrm>
          <a:prstGeom prst="line">
            <a:avLst/>
          </a:prstGeom>
          <a:noFill/>
          <a:ln w="6350">
            <a:solidFill>
              <a:srgbClr val="00A0DC"/>
            </a:solidFill>
            <a:prstDash val="solid"/>
          </a:ln>
        </p:spPr>
        <p:txBody>
          <a:bodyPr/>
          <a:lstStyle/>
          <a:p>
            <a:endParaRPr lang="en-BO"/>
          </a:p>
        </p:txBody>
      </p:sp>
      <p:sp>
        <p:nvSpPr>
          <p:cNvPr id="11" name="Text 9"/>
          <p:cNvSpPr/>
          <p:nvPr/>
        </p:nvSpPr>
        <p:spPr>
          <a:xfrm>
            <a:off x="1188720" y="3749040"/>
            <a:ext cx="6766560" cy="365760"/>
          </a:xfrm>
          <a:prstGeom prst="rect">
            <a:avLst/>
          </a:prstGeom>
          <a:noFill/>
          <a:ln/>
        </p:spPr>
        <p:txBody>
          <a:bodyPr wrap="square" rtlCol="0" anchor="ctr"/>
          <a:lstStyle/>
          <a:p>
            <a:pPr marL="0" indent="0">
              <a:buNone/>
            </a:pPr>
            <a:r>
              <a:rPr lang="en-US" sz="1300" dirty="0">
                <a:solidFill>
                  <a:srgbClr val="002855"/>
                </a:solidFill>
                <a:latin typeface="Calibri" pitchFamily="34" charset="0"/>
                <a:ea typeface="Calibri" pitchFamily="34" charset="-122"/>
                <a:cs typeface="Calibri" pitchFamily="34" charset="-120"/>
              </a:rPr>
              <a:t>Firma: _________________          Fecha: _________</a:t>
            </a:r>
            <a:endParaRPr lang="en-US" sz="1300" dirty="0"/>
          </a:p>
        </p:txBody>
      </p:sp>
      <p:sp>
        <p:nvSpPr>
          <p:cNvPr id="12" name="Text 10"/>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marL="0" indent="0" algn="ctr">
              <a:buNone/>
            </a:pPr>
            <a:r>
              <a:rPr lang="en-US" sz="3600" b="1" dirty="0">
                <a:solidFill>
                  <a:srgbClr val="002855"/>
                </a:solidFill>
                <a:latin typeface="Calibri" pitchFamily="34" charset="0"/>
                <a:ea typeface="Calibri" pitchFamily="34" charset="-122"/>
                <a:cs typeface="Calibri" pitchFamily="34" charset="-120"/>
              </a:rPr>
              <a:t>Tu siguiente paso</a:t>
            </a:r>
            <a:endParaRPr lang="en-US" sz="3600" dirty="0"/>
          </a:p>
        </p:txBody>
      </p:sp>
      <p:sp>
        <p:nvSpPr>
          <p:cNvPr id="3" name="Text 1"/>
          <p:cNvSpPr/>
          <p:nvPr/>
        </p:nvSpPr>
        <p:spPr>
          <a:xfrm>
            <a:off x="457200" y="1005840"/>
            <a:ext cx="8229600" cy="365760"/>
          </a:xfrm>
          <a:prstGeom prst="rect">
            <a:avLst/>
          </a:prstGeom>
          <a:noFill/>
          <a:ln/>
        </p:spPr>
        <p:txBody>
          <a:bodyPr wrap="square" rtlCol="0" anchor="ctr"/>
          <a:lstStyle/>
          <a:p>
            <a:pPr marL="0" indent="0" algn="ctr">
              <a:buNone/>
            </a:pPr>
            <a:r>
              <a:rPr lang="en-US" sz="1600" dirty="0">
                <a:solidFill>
                  <a:srgbClr val="00A0DC"/>
                </a:solidFill>
                <a:latin typeface="Calibri" pitchFamily="34" charset="0"/>
                <a:ea typeface="Calibri" pitchFamily="34" charset="-122"/>
                <a:cs typeface="Calibri" pitchFamily="34" charset="-120"/>
              </a:rPr>
              <a:t>3 acciones concretas esta semana</a:t>
            </a:r>
            <a:endParaRPr lang="en-US" sz="1600" dirty="0"/>
          </a:p>
        </p:txBody>
      </p:sp>
      <p:sp>
        <p:nvSpPr>
          <p:cNvPr id="4" name="Shape 2"/>
          <p:cNvSpPr/>
          <p:nvPr/>
        </p:nvSpPr>
        <p:spPr>
          <a:xfrm>
            <a:off x="274320" y="1463040"/>
            <a:ext cx="2743200" cy="2560320"/>
          </a:xfrm>
          <a:prstGeom prst="roundRect">
            <a:avLst>
              <a:gd name="adj" fmla="val 4286"/>
            </a:avLst>
          </a:prstGeom>
          <a:solidFill>
            <a:srgbClr val="002855"/>
          </a:solidFill>
          <a:ln w="12700">
            <a:solidFill>
              <a:srgbClr val="002855"/>
            </a:solidFill>
            <a:prstDash val="solid"/>
          </a:ln>
          <a:effectLst>
            <a:outerShdw blurRad="76200" dist="25400" dir="2700000" algn="bl" rotWithShape="0">
              <a:srgbClr val="000000">
                <a:alpha val="12000"/>
              </a:srgbClr>
            </a:outerShdw>
          </a:effectLst>
        </p:spPr>
        <p:txBody>
          <a:bodyPr/>
          <a:lstStyle/>
          <a:p>
            <a:endParaRPr lang="en-BO"/>
          </a:p>
        </p:txBody>
      </p:sp>
      <p:sp>
        <p:nvSpPr>
          <p:cNvPr id="5" name="Text 3"/>
          <p:cNvSpPr/>
          <p:nvPr/>
        </p:nvSpPr>
        <p:spPr>
          <a:xfrm>
            <a:off x="365760" y="1600200"/>
            <a:ext cx="2560320" cy="502920"/>
          </a:xfrm>
          <a:prstGeom prst="rect">
            <a:avLst/>
          </a:prstGeom>
          <a:noFill/>
          <a:ln/>
        </p:spPr>
        <p:txBody>
          <a:bodyPr wrap="square"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HOY</a:t>
            </a:r>
            <a:endParaRPr lang="en-US" sz="1800" dirty="0">
              <a:solidFill>
                <a:schemeClr val="bg1"/>
              </a:solidFill>
            </a:endParaRPr>
          </a:p>
        </p:txBody>
      </p:sp>
      <p:sp>
        <p:nvSpPr>
          <p:cNvPr id="6" name="Text 4"/>
          <p:cNvSpPr/>
          <p:nvPr/>
        </p:nvSpPr>
        <p:spPr>
          <a:xfrm>
            <a:off x="411480" y="2194560"/>
            <a:ext cx="2468880" cy="1645920"/>
          </a:xfrm>
          <a:prstGeom prst="rect">
            <a:avLst/>
          </a:prstGeom>
          <a:noFill/>
          <a:ln/>
        </p:spPr>
        <p:txBody>
          <a:bodyPr wrap="square"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Comparte con tu equipo un valor de Sangre Tigo y qué significa para ti personalmente.</a:t>
            </a:r>
            <a:endParaRPr lang="en-US" sz="1400" dirty="0"/>
          </a:p>
        </p:txBody>
      </p:sp>
      <p:sp>
        <p:nvSpPr>
          <p:cNvPr id="7" name="Shape 5"/>
          <p:cNvSpPr/>
          <p:nvPr/>
        </p:nvSpPr>
        <p:spPr>
          <a:xfrm>
            <a:off x="3200400" y="1463040"/>
            <a:ext cx="2743200" cy="2560320"/>
          </a:xfrm>
          <a:prstGeom prst="roundRect">
            <a:avLst>
              <a:gd name="adj" fmla="val 4286"/>
            </a:avLst>
          </a:prstGeom>
          <a:solidFill>
            <a:srgbClr val="DAEEFF"/>
          </a:solidFill>
          <a:ln w="12700">
            <a:solidFill>
              <a:srgbClr val="DAEEFF"/>
            </a:solidFill>
            <a:prstDash val="solid"/>
          </a:ln>
          <a:effectLst>
            <a:outerShdw blurRad="76200" dist="25400" dir="2700000" algn="bl" rotWithShape="0">
              <a:srgbClr val="000000">
                <a:alpha val="12000"/>
              </a:srgbClr>
            </a:outerShdw>
          </a:effectLst>
        </p:spPr>
        <p:txBody>
          <a:bodyPr/>
          <a:lstStyle/>
          <a:p>
            <a:endParaRPr lang="en-BO"/>
          </a:p>
        </p:txBody>
      </p:sp>
      <p:sp>
        <p:nvSpPr>
          <p:cNvPr id="8" name="Text 6"/>
          <p:cNvSpPr/>
          <p:nvPr/>
        </p:nvSpPr>
        <p:spPr>
          <a:xfrm>
            <a:off x="3291840" y="1600200"/>
            <a:ext cx="2560320" cy="502920"/>
          </a:xfrm>
          <a:prstGeom prst="rect">
            <a:avLst/>
          </a:prstGeom>
          <a:noFill/>
          <a:ln/>
        </p:spPr>
        <p:txBody>
          <a:bodyPr wrap="square" rtlCol="0" anchor="ctr"/>
          <a:lstStyle/>
          <a:p>
            <a:pPr marL="0" indent="0" algn="ctr">
              <a:buNone/>
            </a:pPr>
            <a:r>
              <a:rPr lang="en-US" sz="1800" b="1" dirty="0">
                <a:solidFill>
                  <a:srgbClr val="002855"/>
                </a:solidFill>
                <a:latin typeface="Calibri" pitchFamily="34" charset="0"/>
                <a:ea typeface="Calibri" pitchFamily="34" charset="-122"/>
                <a:cs typeface="Calibri" pitchFamily="34" charset="-120"/>
              </a:rPr>
              <a:t>ESTA SEMANA</a:t>
            </a:r>
            <a:endParaRPr lang="en-US" sz="1800" dirty="0"/>
          </a:p>
        </p:txBody>
      </p:sp>
      <p:sp>
        <p:nvSpPr>
          <p:cNvPr id="9" name="Text 7"/>
          <p:cNvSpPr/>
          <p:nvPr/>
        </p:nvSpPr>
        <p:spPr>
          <a:xfrm>
            <a:off x="3337560" y="2194560"/>
            <a:ext cx="2468880" cy="1645920"/>
          </a:xfrm>
          <a:prstGeom prst="rect">
            <a:avLst/>
          </a:prstGeom>
          <a:noFill/>
          <a:ln/>
        </p:spPr>
        <p:txBody>
          <a:bodyPr wrap="square" rtlCol="0" anchor="t"/>
          <a:lstStyle/>
          <a:p>
            <a:pPr marL="0" indent="0" algn="ctr">
              <a:buNone/>
            </a:pPr>
            <a:r>
              <a:rPr lang="en-US" sz="1400" dirty="0">
                <a:solidFill>
                  <a:srgbClr val="002855"/>
                </a:solidFill>
                <a:latin typeface="Calibri" pitchFamily="34" charset="0"/>
                <a:ea typeface="Calibri" pitchFamily="34" charset="-122"/>
                <a:cs typeface="Calibri" pitchFamily="34" charset="-120"/>
              </a:rPr>
              <a:t>Identifica y reconoce UN comportamiento alineado con los valores en tu equipo.</a:t>
            </a:r>
            <a:endParaRPr lang="en-US" sz="1400" dirty="0"/>
          </a:p>
        </p:txBody>
      </p:sp>
      <p:sp>
        <p:nvSpPr>
          <p:cNvPr id="10" name="Shape 8"/>
          <p:cNvSpPr/>
          <p:nvPr/>
        </p:nvSpPr>
        <p:spPr>
          <a:xfrm>
            <a:off x="6126480" y="1463040"/>
            <a:ext cx="2743200" cy="2560320"/>
          </a:xfrm>
          <a:prstGeom prst="roundRect">
            <a:avLst>
              <a:gd name="adj" fmla="val 4286"/>
            </a:avLst>
          </a:prstGeom>
          <a:solidFill>
            <a:srgbClr val="002855"/>
          </a:solidFill>
          <a:ln w="12700">
            <a:solidFill>
              <a:srgbClr val="002855"/>
            </a:solidFill>
            <a:prstDash val="solid"/>
          </a:ln>
          <a:effectLst>
            <a:outerShdw blurRad="76200" dist="25400" dir="2700000" algn="bl" rotWithShape="0">
              <a:srgbClr val="000000">
                <a:alpha val="12000"/>
              </a:srgbClr>
            </a:outerShdw>
          </a:effectLst>
        </p:spPr>
        <p:txBody>
          <a:bodyPr/>
          <a:lstStyle/>
          <a:p>
            <a:endParaRPr lang="en-BO"/>
          </a:p>
        </p:txBody>
      </p:sp>
      <p:sp>
        <p:nvSpPr>
          <p:cNvPr id="11" name="Text 9"/>
          <p:cNvSpPr/>
          <p:nvPr/>
        </p:nvSpPr>
        <p:spPr>
          <a:xfrm>
            <a:off x="6217920" y="1600200"/>
            <a:ext cx="2560320" cy="502920"/>
          </a:xfrm>
          <a:prstGeom prst="rect">
            <a:avLst/>
          </a:prstGeom>
          <a:noFill/>
          <a:ln/>
        </p:spPr>
        <p:txBody>
          <a:bodyPr wrap="square"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ESTE MES</a:t>
            </a:r>
            <a:endParaRPr lang="en-US" sz="1800" dirty="0">
              <a:solidFill>
                <a:schemeClr val="bg1"/>
              </a:solidFill>
            </a:endParaRPr>
          </a:p>
        </p:txBody>
      </p:sp>
      <p:sp>
        <p:nvSpPr>
          <p:cNvPr id="12" name="Text 10"/>
          <p:cNvSpPr/>
          <p:nvPr/>
        </p:nvSpPr>
        <p:spPr>
          <a:xfrm>
            <a:off x="6263640" y="2194560"/>
            <a:ext cx="2468880" cy="1645920"/>
          </a:xfrm>
          <a:prstGeom prst="rect">
            <a:avLst/>
          </a:prstGeom>
          <a:noFill/>
          <a:ln/>
        </p:spPr>
        <p:txBody>
          <a:bodyPr wrap="square" rtlCol="0" anchor="t"/>
          <a:lstStyle/>
          <a:p>
            <a:pPr marL="0" indent="0" algn="ctr">
              <a:buNone/>
            </a:pPr>
            <a:r>
              <a:rPr lang="en-US" sz="1400" dirty="0">
                <a:solidFill>
                  <a:srgbClr val="FFFFFF"/>
                </a:solidFill>
                <a:latin typeface="Calibri" pitchFamily="34" charset="0"/>
                <a:ea typeface="Calibri" pitchFamily="34" charset="-122"/>
                <a:cs typeface="Calibri" pitchFamily="34" charset="-120"/>
              </a:rPr>
              <a:t>Realiza el ejercicio 'Mi modelo de rol' con tu equipo completo.</a:t>
            </a:r>
            <a:endParaRPr lang="en-US" sz="1400" dirty="0"/>
          </a:p>
        </p:txBody>
      </p:sp>
      <p:sp>
        <p:nvSpPr>
          <p:cNvPr id="14" name="Text 12"/>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02855"/>
        </a:solidFill>
        <a:effectLst/>
      </p:bgPr>
    </p:bg>
    <p:spTree>
      <p:nvGrpSpPr>
        <p:cNvPr id="1" name=""/>
        <p:cNvGrpSpPr/>
        <p:nvPr/>
      </p:nvGrpSpPr>
      <p:grpSpPr>
        <a:xfrm>
          <a:off x="0" y="0"/>
          <a:ext cx="0" cy="0"/>
          <a:chOff x="0" y="0"/>
          <a:chExt cx="0" cy="0"/>
        </a:xfrm>
      </p:grpSpPr>
      <p:sp>
        <p:nvSpPr>
          <p:cNvPr id="2" name="Text 0"/>
          <p:cNvSpPr/>
          <p:nvPr/>
        </p:nvSpPr>
        <p:spPr>
          <a:xfrm>
            <a:off x="457200" y="1097280"/>
            <a:ext cx="8229600" cy="82296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El cambio empieza contigo</a:t>
            </a:r>
            <a:endParaRPr lang="en-US" sz="4400" dirty="0"/>
          </a:p>
        </p:txBody>
      </p:sp>
      <p:sp>
        <p:nvSpPr>
          <p:cNvPr id="3" name="Shape 1"/>
          <p:cNvSpPr/>
          <p:nvPr/>
        </p:nvSpPr>
        <p:spPr>
          <a:xfrm>
            <a:off x="2286000" y="2560320"/>
            <a:ext cx="4572000" cy="73152"/>
          </a:xfrm>
          <a:prstGeom prst="roundRect">
            <a:avLst>
              <a:gd name="adj" fmla="val 50000"/>
            </a:avLst>
          </a:prstGeom>
          <a:solidFill>
            <a:schemeClr val="bg1"/>
          </a:solidFill>
          <a:ln w="12700">
            <a:solidFill>
              <a:schemeClr val="bg1"/>
            </a:solidFill>
            <a:prstDash val="solid"/>
          </a:ln>
        </p:spPr>
        <p:txBody>
          <a:bodyPr/>
          <a:lstStyle/>
          <a:p>
            <a:endParaRPr lang="en-BO" dirty="0"/>
          </a:p>
        </p:txBody>
      </p:sp>
      <p:sp>
        <p:nvSpPr>
          <p:cNvPr id="4" name="Text 2"/>
          <p:cNvSpPr/>
          <p:nvPr/>
        </p:nvSpPr>
        <p:spPr>
          <a:xfrm>
            <a:off x="457200" y="2834640"/>
            <a:ext cx="8229600" cy="640080"/>
          </a:xfrm>
          <a:prstGeom prst="rect">
            <a:avLst/>
          </a:prstGeom>
          <a:noFill/>
          <a:ln/>
        </p:spPr>
        <p:txBody>
          <a:bodyPr wrap="square" rtlCol="0" anchor="ctr"/>
          <a:lstStyle/>
          <a:p>
            <a:pPr marL="0" indent="0" algn="ctr">
              <a:buNone/>
            </a:pPr>
            <a:r>
              <a:rPr lang="en-US" sz="2000" i="1" dirty="0">
                <a:solidFill>
                  <a:srgbClr val="00A0DC"/>
                </a:solidFill>
                <a:latin typeface="Calibri" pitchFamily="34" charset="0"/>
                <a:ea typeface="Calibri" pitchFamily="34" charset="-122"/>
                <a:cs typeface="Calibri" pitchFamily="34" charset="-120"/>
              </a:rPr>
              <a:t>"Sé el cambio que quieres ver en tu organización."</a:t>
            </a:r>
            <a:endParaRPr lang="en-US" sz="2000" dirty="0"/>
          </a:p>
        </p:txBody>
      </p:sp>
      <p:sp>
        <p:nvSpPr>
          <p:cNvPr id="5" name="Text 3"/>
          <p:cNvSpPr/>
          <p:nvPr/>
        </p:nvSpPr>
        <p:spPr>
          <a:xfrm>
            <a:off x="457200" y="3931920"/>
            <a:ext cx="8229600" cy="41148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Sangre Tigo no es un programa. Es quiénes somos.</a:t>
            </a:r>
            <a:endParaRPr lang="en-US" sz="1600" dirty="0"/>
          </a:p>
        </p:txBody>
      </p:sp>
      <p:sp>
        <p:nvSpPr>
          <p:cNvPr id="6" name="Text 4"/>
          <p:cNvSpPr/>
          <p:nvPr/>
        </p:nvSpPr>
        <p:spPr>
          <a:xfrm>
            <a:off x="6858000" y="4663440"/>
            <a:ext cx="1828800" cy="365760"/>
          </a:xfrm>
          <a:prstGeom prst="rect">
            <a:avLst/>
          </a:prstGeom>
          <a:noFill/>
          <a:ln/>
        </p:spPr>
        <p:txBody>
          <a:bodyPr wrap="square" rtlCol="0" anchor="ctr"/>
          <a:lstStyle/>
          <a:p>
            <a:pPr marL="0" indent="0" algn="r">
              <a:buNone/>
            </a:pPr>
            <a:r>
              <a:rPr lang="en-US" sz="1100" i="1" dirty="0">
                <a:solidFill>
                  <a:srgbClr val="00A0DC"/>
                </a:solidFill>
                <a:latin typeface="Calibri" pitchFamily="34" charset="0"/>
                <a:ea typeface="Calibri" pitchFamily="34" charset="-122"/>
                <a:cs typeface="Calibri" pitchFamily="34" charset="-120"/>
              </a:rPr>
              <a:t>sangre tigô</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1817</Words>
  <Application>Microsoft Macintosh PowerPoint</Application>
  <PresentationFormat>On-screen Show (16:9)</PresentationFormat>
  <Paragraphs>183</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Liderando con Sangre Tigo</dc:title>
  <dc:subject>PptxGenJS Presentation</dc:subject>
  <dc:creator>PptxGenJS</dc:creator>
  <cp:lastModifiedBy>Carlos Fernando Pizarro Jiménez</cp:lastModifiedBy>
  <cp:revision>2</cp:revision>
  <dcterms:created xsi:type="dcterms:W3CDTF">2026-06-22T14:13:44Z</dcterms:created>
  <dcterms:modified xsi:type="dcterms:W3CDTF">2026-06-22T19:41:54Z</dcterms:modified>
</cp:coreProperties>
</file>