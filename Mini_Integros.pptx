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12-15 min. Apertura reflexiva. Pregunta: ¿Alguna vez tomaste una decisión difícil por hacer lo 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integridad no es un eslogan — es lo que hacemos cuando nadie nos está mirando.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 esta historia con calma. Haz una pausa después de 'no puedo aceptarlo'. Deja que la audiencia lo absorba.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el framework con un ejemplo cotidiano: VALOR='Respeto' / PRINCIPIO='No interrumpas cuando alguien habla' / INTEGRIDAD='Lo hago incluso cuando estoy apurado y el otro es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al grupo: ¿Han estado en una situación donde el resultado era bueno pero el camino era cuestionable?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en cada comportamiento del lado rojo. Pregunta: ¿Reconocen alguno de estos en su entorno?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Este ejemplo conecta con el área de finanzas y backoffice.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Regla de Oro #12: Siempre cerramos lo que negociamos — pero correctamente.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 Oro #5. Normaliza esta práctica — no es desconfianza, es protección mutua.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la regla #4 con la historia del jamón: el CEO protegió su independencia.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antivalores destruyen la confianza que tardamos años en construir.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¿Qué condiciones en nuestro entorno facilitan comportamientos no íntegros? ¿Cómo los prevenimos?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dinámica íntima. No fuerces la participación. El silencio también es reflexión.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poderosa. Deja silencio real de 60 segundos antes de abrir la conversación.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que el compromiso sea MUY específico. 'Voy a ser más íntegro' no sirve. '¿En qué situación exacta?' — eso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pausa y tono solemne. Esta sesión merece un momento de compromiso genuino.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 el Guion_Facilitador_Completo.docx para el diálogo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7498080" y="-731520"/>
            <a:ext cx="2560320" cy="2560320"/>
          </a:xfrm>
          <a:prstGeom prst="ellipse">
            <a:avLst/>
          </a:prstGeom>
          <a:solidFill>
            <a:srgbClr val="00A0DC">
              <a:alpha val="15000"/>
            </a:srgbClr>
          </a:solidFill>
          <a:ln w="12700">
            <a:solidFill>
              <a:srgbClr val="00A0DC"/>
            </a:solidFill>
            <a:prstDash val="solid"/>
          </a:ln>
        </p:spPr>
      </p:sp>
      <p:sp>
        <p:nvSpPr>
          <p:cNvPr id="3" name="Shape 1"/>
          <p:cNvSpPr/>
          <p:nvPr/>
        </p:nvSpPr>
        <p:spPr>
          <a:xfrm>
            <a:off x="-731520" y="3657600"/>
            <a:ext cx="2194560" cy="2194560"/>
          </a:xfrm>
          <a:prstGeom prst="ellipse">
            <a:avLst/>
          </a:prstGeom>
          <a:solidFill>
            <a:srgbClr val="FFC72C">
              <a:alpha val="12000"/>
            </a:srgbClr>
          </a:solidFill>
          <a:ln w="12700">
            <a:solidFill>
              <a:srgbClr val="FFC72C"/>
            </a:solidFill>
            <a:prstDash val="solid"/>
          </a:ln>
        </p:spPr>
      </p:sp>
      <p:sp>
        <p:nvSpPr>
          <p:cNvPr id="4" name="Text 2"/>
          <p:cNvSpPr/>
          <p:nvPr/>
        </p:nvSpPr>
        <p:spPr>
          <a:xfrm>
            <a:off x="548640" y="1371600"/>
            <a:ext cx="8046720" cy="137160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Somos Íntegros</a:t>
            </a:r>
            <a:endParaRPr lang="en-US" sz="4000" dirty="0"/>
          </a:p>
        </p:txBody>
      </p:sp>
      <p:sp>
        <p:nvSpPr>
          <p:cNvPr id="5" name="Text 3"/>
          <p:cNvSpPr/>
          <p:nvPr/>
        </p:nvSpPr>
        <p:spPr>
          <a:xfrm>
            <a:off x="548640" y="2834640"/>
            <a:ext cx="8046720" cy="822960"/>
          </a:xfrm>
          <a:prstGeom prst="rect">
            <a:avLst/>
          </a:prstGeom>
          <a:noFill/>
          <a:ln/>
        </p:spPr>
        <p:txBody>
          <a:bodyPr wrap="square" rtlCol="0" anchor="ctr"/>
          <a:lstStyle/>
          <a:p>
            <a:pPr algn="l" indent="0" marL="0">
              <a:buNone/>
            </a:pPr>
            <a:r>
              <a:rPr lang="en-US" sz="1600" dirty="0">
                <a:solidFill>
                  <a:srgbClr val="00A0DC"/>
                </a:solidFill>
                <a:latin typeface="Calibri" pitchFamily="34" charset="0"/>
                <a:ea typeface="Calibri" pitchFamily="34" charset="-122"/>
                <a:cs typeface="Calibri" pitchFamily="34" charset="-120"/>
              </a:rPr>
              <a:t>Hacemos que las cosas sucedan de la forma correcta.</a:t>
            </a:r>
            <a:endParaRPr lang="en-US" sz="1600" dirty="0"/>
          </a:p>
        </p:txBody>
      </p:sp>
      <p:sp>
        <p:nvSpPr>
          <p:cNvPr id="6" name="Shape 4"/>
          <p:cNvSpPr/>
          <p:nvPr/>
        </p:nvSpPr>
        <p:spPr>
          <a:xfrm>
            <a:off x="548640" y="4480560"/>
            <a:ext cx="164592" cy="164592"/>
          </a:xfrm>
          <a:prstGeom prst="ellipse">
            <a:avLst/>
          </a:prstGeom>
          <a:solidFill>
            <a:srgbClr val="FFC72C"/>
          </a:solidFill>
          <a:ln w="12700">
            <a:solidFill>
              <a:srgbClr val="FFC72C"/>
            </a:solidFill>
            <a:prstDash val="solid"/>
          </a:ln>
        </p:spPr>
      </p:sp>
      <p:sp>
        <p:nvSpPr>
          <p:cNvPr id="7" name="Shape 5"/>
          <p:cNvSpPr/>
          <p:nvPr/>
        </p:nvSpPr>
        <p:spPr>
          <a:xfrm>
            <a:off x="868680" y="4480560"/>
            <a:ext cx="164592" cy="164592"/>
          </a:xfrm>
          <a:prstGeom prst="ellipse">
            <a:avLst/>
          </a:prstGeom>
          <a:solidFill>
            <a:srgbClr val="00A0DC"/>
          </a:solidFill>
          <a:ln w="12700">
            <a:solidFill>
              <a:srgbClr val="00A0DC"/>
            </a:solidFill>
            <a:prstDash val="solid"/>
          </a:ln>
        </p:spPr>
      </p:sp>
      <p:sp>
        <p:nvSpPr>
          <p:cNvPr id="8" name="Shape 6"/>
          <p:cNvSpPr/>
          <p:nvPr/>
        </p:nvSpPr>
        <p:spPr>
          <a:xfrm>
            <a:off x="1188720" y="4480560"/>
            <a:ext cx="164592" cy="164592"/>
          </a:xfrm>
          <a:prstGeom prst="ellipse">
            <a:avLst/>
          </a:prstGeom>
          <a:solidFill>
            <a:srgbClr val="FFFFFF"/>
          </a:solidFill>
          <a:ln w="12700">
            <a:solidFill>
              <a:srgbClr val="FFFFFF"/>
            </a:solidFill>
            <a:prstDash val="solid"/>
          </a:ln>
        </p:spPr>
      </p:sp>
      <p:sp>
        <p:nvSpPr>
          <p:cNvPr id="9" name="Text 7"/>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7315200" y="-914400"/>
            <a:ext cx="2743200" cy="2743200"/>
          </a:xfrm>
          <a:prstGeom prst="ellipse">
            <a:avLst/>
          </a:prstGeom>
          <a:solidFill>
            <a:srgbClr val="00A0DC">
              <a:alpha val="13000"/>
            </a:srgbClr>
          </a:solidFill>
          <a:ln w="12700">
            <a:solidFill>
              <a:srgbClr val="00A0DC"/>
            </a:solidFill>
            <a:prstDash val="solid"/>
          </a:ln>
        </p:spPr>
      </p:sp>
      <p:sp>
        <p:nvSpPr>
          <p:cNvPr id="3" name="Text 1"/>
          <p:cNvSpPr/>
          <p:nvPr/>
        </p:nvSpPr>
        <p:spPr>
          <a:xfrm>
            <a:off x="457200" y="914400"/>
            <a:ext cx="8229600" cy="1097280"/>
          </a:xfrm>
          <a:prstGeom prst="rect">
            <a:avLst/>
          </a:prstGeom>
          <a:noFill/>
          <a:ln/>
        </p:spPr>
        <p:txBody>
          <a:bodyPr wrap="square"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SOMOS ÍNTEGROS</a:t>
            </a:r>
            <a:endParaRPr lang="en-US" sz="4200" dirty="0"/>
          </a:p>
        </p:txBody>
      </p:sp>
      <p:sp>
        <p:nvSpPr>
          <p:cNvPr id="4" name="Shape 2"/>
          <p:cNvSpPr/>
          <p:nvPr/>
        </p:nvSpPr>
        <p:spPr>
          <a:xfrm>
            <a:off x="3474720" y="2148840"/>
            <a:ext cx="2194560" cy="64008"/>
          </a:xfrm>
          <a:prstGeom prst="roundRect">
            <a:avLst>
              <a:gd name="adj" fmla="val 42857"/>
            </a:avLst>
          </a:prstGeom>
          <a:solidFill>
            <a:srgbClr val="FFC72C"/>
          </a:solidFill>
          <a:ln w="12700">
            <a:solidFill>
              <a:srgbClr val="FFC72C"/>
            </a:solidFill>
            <a:prstDash val="solid"/>
          </a:ln>
        </p:spPr>
      </p:sp>
      <p:sp>
        <p:nvSpPr>
          <p:cNvPr id="5" name="Text 3"/>
          <p:cNvSpPr/>
          <p:nvPr/>
        </p:nvSpPr>
        <p:spPr>
          <a:xfrm>
            <a:off x="731520" y="2377440"/>
            <a:ext cx="7680960" cy="1280160"/>
          </a:xfrm>
          <a:prstGeom prst="rect">
            <a:avLst/>
          </a:prstGeom>
          <a:noFill/>
          <a:ln/>
        </p:spPr>
        <p:txBody>
          <a:bodyPr wrap="square" rtlCol="0" anchor="ctr"/>
          <a:lstStyle/>
          <a:p>
            <a:pPr algn="ctr" indent="0" marL="0">
              <a:buNone/>
            </a:pPr>
            <a:r>
              <a:rPr lang="en-US" sz="1400" i="1" dirty="0">
                <a:solidFill>
                  <a:srgbClr val="DAEEFF"/>
                </a:solidFill>
                <a:latin typeface="Calibri" pitchFamily="34" charset="0"/>
                <a:ea typeface="Calibri" pitchFamily="34" charset="-122"/>
                <a:cs typeface="Calibri" pitchFamily="34" charset="-120"/>
              </a:rPr>
              <a:t>Impulsando nuestro propósito y dejando una huella positiva en las comunidades donde operamos.</a:t>
            </a:r>
            <a:endParaRPr lang="en-US" sz="1400" dirty="0"/>
          </a:p>
        </p:txBody>
      </p:sp>
      <p:sp>
        <p:nvSpPr>
          <p:cNvPr id="6" name="Text 4"/>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La historia de la pata de jamón</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05840"/>
            <a:ext cx="8229600" cy="2560320"/>
          </a:xfrm>
          <a:prstGeom prst="roundRect">
            <a:avLst>
              <a:gd name="adj" fmla="val 4286"/>
            </a:avLst>
          </a:prstGeom>
          <a:solidFill>
            <a:srgbClr val="DAEEFF"/>
          </a:solidFill>
          <a:ln w="12700">
            <a:solidFill>
              <a:srgbClr val="00A0DC"/>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731520" y="1143000"/>
            <a:ext cx="7680960" cy="2286000"/>
          </a:xfrm>
          <a:prstGeom prst="rect">
            <a:avLst/>
          </a:prstGeom>
          <a:noFill/>
          <a:ln/>
        </p:spPr>
        <p:txBody>
          <a:bodyPr wrap="square" rtlCol="0" anchor="ctr"/>
          <a:lstStyle/>
          <a:p>
            <a:pPr algn="l" indent="0" marL="0">
              <a:buNone/>
            </a:pPr>
            <a:r>
              <a:rPr lang="en-US" sz="1400" dirty="0">
                <a:solidFill>
                  <a:srgbClr val="002855"/>
                </a:solidFill>
                <a:latin typeface="Calibri" pitchFamily="34" charset="0"/>
                <a:ea typeface="Calibri" pitchFamily="34" charset="-122"/>
                <a:cs typeface="Calibri" pitchFamily="34" charset="-120"/>
              </a:rPr>
              <a:t>El CEO de una de nuestras operaciones, de origen español, fue visitado por un proveedor estratégico. Al final de la reunión, el proveedor sacó una pata de jamón ibérico de altísima calidad — el tipo de jamón que, para un español que lleva años fuera de casa, tiene un valor emocional inconmensurable.</a:t>
            </a:r>
            <a:endParaRPr lang="en-US" sz="1400" dirty="0"/>
          </a:p>
          <a:p>
            <a:pPr algn="l" indent="0" marL="0">
              <a:buNone/>
            </a:pPr>
            <a:endParaRPr lang="en-US" sz="1400" dirty="0"/>
          </a:p>
          <a:p>
            <a:pPr algn="l" indent="0" marL="0">
              <a:buNone/>
            </a:pPr>
            <a:r>
              <a:rPr lang="en-US" sz="1400" dirty="0">
                <a:solidFill>
                  <a:srgbClr val="002855"/>
                </a:solidFill>
                <a:latin typeface="Calibri" pitchFamily="34" charset="0"/>
                <a:ea typeface="Calibri" pitchFamily="34" charset="-122"/>
                <a:cs typeface="Calibri" pitchFamily="34" charset="-120"/>
              </a:rPr>
              <a:t>El CEO la tomó, la miró, y la devolvió con una sonrisa: 'Es un regalo extraordinario. Pero no puedo aceptarlo.'</a:t>
            </a:r>
            <a:endParaRPr lang="en-US" sz="1400" dirty="0"/>
          </a:p>
          <a:p>
            <a:pPr algn="l" indent="0" marL="0">
              <a:buNone/>
            </a:pPr>
            <a:endParaRPr lang="en-US" sz="1400" dirty="0"/>
          </a:p>
          <a:p>
            <a:pPr algn="l" indent="0" marL="0">
              <a:buNone/>
            </a:pPr>
            <a:r>
              <a:rPr lang="en-US" sz="1400" dirty="0">
                <a:solidFill>
                  <a:srgbClr val="002855"/>
                </a:solidFill>
                <a:latin typeface="Calibri" pitchFamily="34" charset="0"/>
                <a:ea typeface="Calibri" pitchFamily="34" charset="-122"/>
                <a:cs typeface="Calibri" pitchFamily="34" charset="-120"/>
              </a:rPr>
              <a:t>El proveedor insistió. El CEO fue amable pero firme: 'Todos en Tigo tenemos un salario que nos permite comprar esa pata de jamón con la conciencia tranquila.'</a:t>
            </a:r>
            <a:endParaRPr lang="en-US" sz="1400" dirty="0"/>
          </a:p>
        </p:txBody>
      </p:sp>
      <p:sp>
        <p:nvSpPr>
          <p:cNvPr id="6" name="Shape 4"/>
          <p:cNvSpPr/>
          <p:nvPr/>
        </p:nvSpPr>
        <p:spPr>
          <a:xfrm>
            <a:off x="457200" y="3749040"/>
            <a:ext cx="8229600" cy="731520"/>
          </a:xfrm>
          <a:prstGeom prst="roundRect">
            <a:avLst>
              <a:gd name="adj" fmla="val 12500"/>
            </a:avLst>
          </a:prstGeom>
          <a:solidFill>
            <a:srgbClr val="002855"/>
          </a:solidFill>
          <a:ln w="12700">
            <a:solidFill>
              <a:srgbClr val="002855"/>
            </a:solidFill>
            <a:prstDash val="solid"/>
          </a:ln>
        </p:spPr>
      </p:sp>
      <p:sp>
        <p:nvSpPr>
          <p:cNvPr id="7" name="Text 5"/>
          <p:cNvSpPr/>
          <p:nvPr/>
        </p:nvSpPr>
        <p:spPr>
          <a:xfrm>
            <a:off x="640080" y="3794760"/>
            <a:ext cx="786384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El fin nunca justifica los medios. Nuestra integridad vale más que cualquier regalo.</a:t>
            </a:r>
            <a:endParaRPr lang="en-US" sz="1300" dirty="0"/>
          </a:p>
        </p:txBody>
      </p:sp>
      <p:sp>
        <p:nvSpPr>
          <p:cNvPr id="8" name="Text 6"/>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Valores · Principios · Integridad</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51560"/>
            <a:ext cx="2651760" cy="3291840"/>
          </a:xfrm>
          <a:prstGeom prst="roundRect">
            <a:avLst>
              <a:gd name="adj" fmla="val 5172"/>
            </a:avLst>
          </a:prstGeom>
          <a:solidFill>
            <a:srgbClr val="DAEEFF"/>
          </a:solidFill>
          <a:ln w="25400">
            <a:solidFill>
              <a:srgbClr val="00A0DC"/>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548640" y="1280160"/>
            <a:ext cx="2468880" cy="502920"/>
          </a:xfrm>
          <a:prstGeom prst="rect">
            <a:avLst/>
          </a:prstGeom>
          <a:noFill/>
          <a:ln/>
        </p:spPr>
        <p:txBody>
          <a:bodyPr wrap="square" rtlCol="0" anchor="ctr"/>
          <a:lstStyle/>
          <a:p>
            <a:pPr algn="ctr" indent="0" marL="0">
              <a:buNone/>
            </a:pPr>
            <a:r>
              <a:rPr lang="en-US" sz="1600" b="1" dirty="0">
                <a:solidFill>
                  <a:srgbClr val="002855"/>
                </a:solidFill>
                <a:latin typeface="Calibri" pitchFamily="34" charset="0"/>
                <a:ea typeface="Calibri" pitchFamily="34" charset="-122"/>
                <a:cs typeface="Calibri" pitchFamily="34" charset="-120"/>
              </a:rPr>
              <a:t>VALORES</a:t>
            </a:r>
            <a:endParaRPr lang="en-US" sz="1600" dirty="0"/>
          </a:p>
        </p:txBody>
      </p:sp>
      <p:sp>
        <p:nvSpPr>
          <p:cNvPr id="6" name="Text 4"/>
          <p:cNvSpPr/>
          <p:nvPr/>
        </p:nvSpPr>
        <p:spPr>
          <a:xfrm>
            <a:off x="548640" y="1874520"/>
            <a:ext cx="2468880" cy="1371600"/>
          </a:xfrm>
          <a:prstGeom prst="rect">
            <a:avLst/>
          </a:prstGeom>
          <a:noFill/>
          <a:ln/>
        </p:spPr>
        <p:txBody>
          <a:bodyPr wrap="square" rtlCol="0" anchor="ctr"/>
          <a:lstStyle/>
          <a:p>
            <a:pPr algn="ctr" indent="0" marL="0">
              <a:buNone/>
            </a:pPr>
            <a:r>
              <a:rPr lang="en-US" sz="1200" dirty="0">
                <a:solidFill>
                  <a:srgbClr val="002855"/>
                </a:solidFill>
                <a:latin typeface="Calibri" pitchFamily="34" charset="0"/>
                <a:ea typeface="Calibri" pitchFamily="34" charset="-122"/>
                <a:cs typeface="Calibri" pitchFamily="34" charset="-120"/>
              </a:rPr>
              <a:t>Lo que creemos importante</a:t>
            </a:r>
            <a:endParaRPr lang="en-US" sz="1200" dirty="0"/>
          </a:p>
        </p:txBody>
      </p:sp>
      <p:sp>
        <p:nvSpPr>
          <p:cNvPr id="7" name="Text 5"/>
          <p:cNvSpPr/>
          <p:nvPr/>
        </p:nvSpPr>
        <p:spPr>
          <a:xfrm>
            <a:off x="548640" y="3291840"/>
            <a:ext cx="2468880" cy="457200"/>
          </a:xfrm>
          <a:prstGeom prst="rect">
            <a:avLst/>
          </a:prstGeom>
          <a:noFill/>
          <a:ln/>
        </p:spPr>
        <p:txBody>
          <a:bodyPr wrap="square" rtlCol="0" anchor="ctr"/>
          <a:lstStyle/>
          <a:p>
            <a:pPr algn="ctr" indent="0" marL="0">
              <a:buNone/>
            </a:pPr>
            <a:r>
              <a:rPr lang="en-US" sz="1100" i="1" dirty="0">
                <a:solidFill>
                  <a:srgbClr val="00A0DC"/>
                </a:solidFill>
                <a:latin typeface="Calibri" pitchFamily="34" charset="0"/>
                <a:ea typeface="Calibri" pitchFamily="34" charset="-122"/>
                <a:cs typeface="Calibri" pitchFamily="34" charset="-120"/>
              </a:rPr>
              <a:t>¿Qué creemos?</a:t>
            </a:r>
            <a:endParaRPr lang="en-US" sz="1100" dirty="0"/>
          </a:p>
        </p:txBody>
      </p:sp>
      <p:sp>
        <p:nvSpPr>
          <p:cNvPr id="8" name="Shape 6"/>
          <p:cNvSpPr/>
          <p:nvPr/>
        </p:nvSpPr>
        <p:spPr>
          <a:xfrm>
            <a:off x="3291840" y="1051560"/>
            <a:ext cx="2651760" cy="3291840"/>
          </a:xfrm>
          <a:prstGeom prst="roundRect">
            <a:avLst>
              <a:gd name="adj" fmla="val 5172"/>
            </a:avLst>
          </a:prstGeom>
          <a:solidFill>
            <a:srgbClr val="002855"/>
          </a:solidFill>
          <a:ln w="25400">
            <a:solidFill>
              <a:srgbClr val="002855"/>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383280" y="1280160"/>
            <a:ext cx="246888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PRINCIPIOS</a:t>
            </a:r>
            <a:endParaRPr lang="en-US" sz="1600" dirty="0"/>
          </a:p>
        </p:txBody>
      </p:sp>
      <p:sp>
        <p:nvSpPr>
          <p:cNvPr id="10" name="Text 8"/>
          <p:cNvSpPr/>
          <p:nvPr/>
        </p:nvSpPr>
        <p:spPr>
          <a:xfrm>
            <a:off x="3383280" y="1874520"/>
            <a:ext cx="2468880" cy="13716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Cómo actuamos cuando aplicamos los valores</a:t>
            </a:r>
            <a:endParaRPr lang="en-US" sz="1200" dirty="0"/>
          </a:p>
        </p:txBody>
      </p:sp>
      <p:sp>
        <p:nvSpPr>
          <p:cNvPr id="11" name="Text 9"/>
          <p:cNvSpPr/>
          <p:nvPr/>
        </p:nvSpPr>
        <p:spPr>
          <a:xfrm>
            <a:off x="3383280" y="3291840"/>
            <a:ext cx="2468880" cy="457200"/>
          </a:xfrm>
          <a:prstGeom prst="rect">
            <a:avLst/>
          </a:prstGeom>
          <a:noFill/>
          <a:ln/>
        </p:spPr>
        <p:txBody>
          <a:bodyPr wrap="square" rtlCol="0" anchor="ctr"/>
          <a:lstStyle/>
          <a:p>
            <a:pPr algn="ctr" indent="0" marL="0">
              <a:buNone/>
            </a:pPr>
            <a:r>
              <a:rPr lang="en-US" sz="1100" i="1" dirty="0">
                <a:solidFill>
                  <a:srgbClr val="00A0DC"/>
                </a:solidFill>
                <a:latin typeface="Calibri" pitchFamily="34" charset="0"/>
                <a:ea typeface="Calibri" pitchFamily="34" charset="-122"/>
                <a:cs typeface="Calibri" pitchFamily="34" charset="-120"/>
              </a:rPr>
              <a:t>¿Cómo decidimos?</a:t>
            </a:r>
            <a:endParaRPr lang="en-US" sz="1100" dirty="0"/>
          </a:p>
        </p:txBody>
      </p:sp>
      <p:sp>
        <p:nvSpPr>
          <p:cNvPr id="12" name="Shape 10"/>
          <p:cNvSpPr/>
          <p:nvPr/>
        </p:nvSpPr>
        <p:spPr>
          <a:xfrm>
            <a:off x="6126480" y="1051560"/>
            <a:ext cx="2651760" cy="3291840"/>
          </a:xfrm>
          <a:prstGeom prst="roundRect">
            <a:avLst>
              <a:gd name="adj" fmla="val 5172"/>
            </a:avLst>
          </a:prstGeom>
          <a:solidFill>
            <a:srgbClr val="FFC72C"/>
          </a:solidFill>
          <a:ln w="25400">
            <a:solidFill>
              <a:srgbClr val="FFC72C"/>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6217920" y="1280160"/>
            <a:ext cx="2468880" cy="502920"/>
          </a:xfrm>
          <a:prstGeom prst="rect">
            <a:avLst/>
          </a:prstGeom>
          <a:noFill/>
          <a:ln/>
        </p:spPr>
        <p:txBody>
          <a:bodyPr wrap="square" rtlCol="0" anchor="ctr"/>
          <a:lstStyle/>
          <a:p>
            <a:pPr algn="ctr" indent="0" marL="0">
              <a:buNone/>
            </a:pPr>
            <a:r>
              <a:rPr lang="en-US" sz="1600" b="1" dirty="0">
                <a:solidFill>
                  <a:srgbClr val="002855"/>
                </a:solidFill>
                <a:latin typeface="Calibri" pitchFamily="34" charset="0"/>
                <a:ea typeface="Calibri" pitchFamily="34" charset="-122"/>
                <a:cs typeface="Calibri" pitchFamily="34" charset="-120"/>
              </a:rPr>
              <a:t>INTEGRIDAD</a:t>
            </a:r>
            <a:endParaRPr lang="en-US" sz="1600" dirty="0"/>
          </a:p>
        </p:txBody>
      </p:sp>
      <p:sp>
        <p:nvSpPr>
          <p:cNvPr id="14" name="Text 12"/>
          <p:cNvSpPr/>
          <p:nvPr/>
        </p:nvSpPr>
        <p:spPr>
          <a:xfrm>
            <a:off x="6217920" y="1874520"/>
            <a:ext cx="2468880" cy="1371600"/>
          </a:xfrm>
          <a:prstGeom prst="rect">
            <a:avLst/>
          </a:prstGeom>
          <a:noFill/>
          <a:ln/>
        </p:spPr>
        <p:txBody>
          <a:bodyPr wrap="square" rtlCol="0" anchor="ctr"/>
          <a:lstStyle/>
          <a:p>
            <a:pPr algn="ctr" indent="0" marL="0">
              <a:buNone/>
            </a:pPr>
            <a:r>
              <a:rPr lang="en-US" sz="1200" dirty="0">
                <a:solidFill>
                  <a:srgbClr val="002855"/>
                </a:solidFill>
                <a:latin typeface="Calibri" pitchFamily="34" charset="0"/>
                <a:ea typeface="Calibri" pitchFamily="34" charset="-122"/>
                <a:cs typeface="Calibri" pitchFamily="34" charset="-120"/>
              </a:rPr>
              <a:t>Actuar correctamente incluso cuando nadie nos mira</a:t>
            </a:r>
            <a:endParaRPr lang="en-US" sz="1200" dirty="0"/>
          </a:p>
        </p:txBody>
      </p:sp>
      <p:sp>
        <p:nvSpPr>
          <p:cNvPr id="15" name="Text 13"/>
          <p:cNvSpPr/>
          <p:nvPr/>
        </p:nvSpPr>
        <p:spPr>
          <a:xfrm>
            <a:off x="6217920" y="3291840"/>
            <a:ext cx="2468880" cy="457200"/>
          </a:xfrm>
          <a:prstGeom prst="rect">
            <a:avLst/>
          </a:prstGeom>
          <a:noFill/>
          <a:ln/>
        </p:spPr>
        <p:txBody>
          <a:bodyPr wrap="square" rtlCol="0" anchor="ctr"/>
          <a:lstStyle/>
          <a:p>
            <a:pPr algn="ctr" indent="0" marL="0">
              <a:buNone/>
            </a:pPr>
            <a:r>
              <a:rPr lang="en-US" sz="1100" i="1" dirty="0">
                <a:solidFill>
                  <a:srgbClr val="002855"/>
                </a:solidFill>
                <a:latin typeface="Calibri" pitchFamily="34" charset="0"/>
                <a:ea typeface="Calibri" pitchFamily="34" charset="-122"/>
                <a:cs typeface="Calibri" pitchFamily="34" charset="-120"/>
              </a:rPr>
              <a:t>¿Cómo actuamos?</a:t>
            </a:r>
            <a:endParaRPr lang="en-US" sz="1100" dirty="0"/>
          </a:p>
        </p:txBody>
      </p:sp>
      <p:sp>
        <p:nvSpPr>
          <p:cNvPr id="16" name="Shape 14"/>
          <p:cNvSpPr/>
          <p:nvPr/>
        </p:nvSpPr>
        <p:spPr>
          <a:xfrm>
            <a:off x="457200" y="4480560"/>
            <a:ext cx="8229600" cy="384048"/>
          </a:xfrm>
          <a:prstGeom prst="roundRect">
            <a:avLst>
              <a:gd name="adj" fmla="val 23810"/>
            </a:avLst>
          </a:prstGeom>
          <a:solidFill>
            <a:srgbClr val="002855"/>
          </a:solidFill>
          <a:ln w="12700">
            <a:solidFill>
              <a:srgbClr val="002855"/>
            </a:solidFill>
            <a:prstDash val="solid"/>
          </a:ln>
        </p:spPr>
      </p:sp>
      <p:sp>
        <p:nvSpPr>
          <p:cNvPr id="17" name="Text 15"/>
          <p:cNvSpPr/>
          <p:nvPr/>
        </p:nvSpPr>
        <p:spPr>
          <a:xfrm>
            <a:off x="640080" y="4507992"/>
            <a:ext cx="7863840" cy="32004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Integridad = coherencia entre lo que digo, lo que pienso, lo que prometo y lo que hago.</a:t>
            </a:r>
            <a:endParaRPr lang="en-US" sz="1100" dirty="0"/>
          </a:p>
        </p:txBody>
      </p:sp>
      <p:sp>
        <p:nvSpPr>
          <p:cNvPr id="18" name="Text 16"/>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Los dos principios fundamentales</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05840"/>
            <a:ext cx="3977640" cy="3474720"/>
          </a:xfrm>
          <a:prstGeom prst="roundRect">
            <a:avLst>
              <a:gd name="adj" fmla="val 3947"/>
            </a:avLst>
          </a:prstGeom>
          <a:solidFill>
            <a:srgbClr val="002855"/>
          </a:solidFill>
          <a:ln w="12700">
            <a:solidFill>
              <a:srgbClr val="002855"/>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640080" y="1371600"/>
            <a:ext cx="3566160" cy="1371600"/>
          </a:xfrm>
          <a:prstGeom prst="rect">
            <a:avLst/>
          </a:prstGeom>
          <a:noFill/>
          <a:ln/>
        </p:spPr>
        <p:txBody>
          <a:bodyPr wrap="square" rtlCol="0" anchor="ctr"/>
          <a:lstStyle/>
          <a:p>
            <a:pPr algn="ctr" indent="0" marL="0">
              <a:buNone/>
            </a:pPr>
            <a:r>
              <a:rPr lang="en-US" sz="1800" b="1" i="1" dirty="0">
                <a:solidFill>
                  <a:srgbClr val="FFC72C"/>
                </a:solidFill>
                <a:latin typeface="Calibri" pitchFamily="34" charset="0"/>
                <a:ea typeface="Calibri" pitchFamily="34" charset="-122"/>
                <a:cs typeface="Calibri" pitchFamily="34" charset="-120"/>
              </a:rPr>
              <a:t>"El fin nunca justifica</a:t>
            </a:r>
            <a:endParaRPr lang="en-US" sz="1800" dirty="0"/>
          </a:p>
          <a:p>
            <a:pPr algn="ctr" indent="0" marL="0">
              <a:buNone/>
            </a:pPr>
            <a:r>
              <a:rPr lang="en-US" sz="1800" b="1" i="1" dirty="0">
                <a:solidFill>
                  <a:srgbClr val="FFC72C"/>
                </a:solidFill>
                <a:latin typeface="Calibri" pitchFamily="34" charset="0"/>
                <a:ea typeface="Calibri" pitchFamily="34" charset="-122"/>
                <a:cs typeface="Calibri" pitchFamily="34" charset="-120"/>
              </a:rPr>
              <a:t>los medios."</a:t>
            </a:r>
            <a:endParaRPr lang="en-US" sz="1800" dirty="0"/>
          </a:p>
        </p:txBody>
      </p:sp>
      <p:sp>
        <p:nvSpPr>
          <p:cNvPr id="6" name="Text 4"/>
          <p:cNvSpPr/>
          <p:nvPr/>
        </p:nvSpPr>
        <p:spPr>
          <a:xfrm>
            <a:off x="640080" y="2834640"/>
            <a:ext cx="3566160" cy="13716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 importa cuán bueno sea el resultado que buscas, el CÓMO siempre importa. En Tigo, ganamos correctamente o no ganamos.</a:t>
            </a:r>
            <a:endParaRPr lang="en-US" sz="1200" dirty="0"/>
          </a:p>
        </p:txBody>
      </p:sp>
      <p:sp>
        <p:nvSpPr>
          <p:cNvPr id="7" name="Shape 5"/>
          <p:cNvSpPr/>
          <p:nvPr/>
        </p:nvSpPr>
        <p:spPr>
          <a:xfrm>
            <a:off x="4709160" y="1005840"/>
            <a:ext cx="3977640" cy="3474720"/>
          </a:xfrm>
          <a:prstGeom prst="roundRect">
            <a:avLst>
              <a:gd name="adj" fmla="val 3947"/>
            </a:avLst>
          </a:prstGeom>
          <a:solidFill>
            <a:srgbClr val="DAEEFF"/>
          </a:solidFill>
          <a:ln w="25400">
            <a:solidFill>
              <a:srgbClr val="00A0DC"/>
            </a:solidFill>
            <a:prstDash val="solid"/>
          </a:ln>
          <a:effectLst>
            <a:outerShdw sx="100000" sy="100000" kx="0" ky="0" algn="bl" rotWithShape="0" blurRad="63500" dist="25400" dir="2700000">
              <a:srgbClr val="000000">
                <a:alpha val="12000"/>
              </a:srgbClr>
            </a:outerShdw>
          </a:effectLst>
        </p:spPr>
      </p:sp>
      <p:sp>
        <p:nvSpPr>
          <p:cNvPr id="8" name="Text 6"/>
          <p:cNvSpPr/>
          <p:nvPr/>
        </p:nvSpPr>
        <p:spPr>
          <a:xfrm>
            <a:off x="4892040" y="1280160"/>
            <a:ext cx="3566160" cy="1371600"/>
          </a:xfrm>
          <a:prstGeom prst="rect">
            <a:avLst/>
          </a:prstGeom>
          <a:noFill/>
          <a:ln/>
        </p:spPr>
        <p:txBody>
          <a:bodyPr wrap="square" rtlCol="0" anchor="ctr"/>
          <a:lstStyle/>
          <a:p>
            <a:pPr algn="ctr" indent="0" marL="0">
              <a:buNone/>
            </a:pPr>
            <a:r>
              <a:rPr lang="en-US" sz="1700" b="1" i="1" dirty="0">
                <a:solidFill>
                  <a:srgbClr val="002855"/>
                </a:solidFill>
                <a:latin typeface="Calibri" pitchFamily="34" charset="0"/>
                <a:ea typeface="Calibri" pitchFamily="34" charset="-122"/>
                <a:cs typeface="Calibri" pitchFamily="34" charset="-120"/>
              </a:rPr>
              <a:t>"Actúa siempre como</a:t>
            </a:r>
            <a:endParaRPr lang="en-US" sz="1700" dirty="0"/>
          </a:p>
          <a:p>
            <a:pPr algn="ctr" indent="0" marL="0">
              <a:buNone/>
            </a:pPr>
            <a:r>
              <a:rPr lang="en-US" sz="1700" b="1" i="1" dirty="0">
                <a:solidFill>
                  <a:srgbClr val="002855"/>
                </a:solidFill>
                <a:latin typeface="Calibri" pitchFamily="34" charset="0"/>
                <a:ea typeface="Calibri" pitchFamily="34" charset="-122"/>
                <a:cs typeface="Calibri" pitchFamily="34" charset="-120"/>
              </a:rPr>
              <a:t>si te estuvieran</a:t>
            </a:r>
            <a:endParaRPr lang="en-US" sz="1700" dirty="0"/>
          </a:p>
          <a:p>
            <a:pPr algn="ctr" indent="0" marL="0">
              <a:buNone/>
            </a:pPr>
            <a:r>
              <a:rPr lang="en-US" sz="1700" b="1" i="1" dirty="0">
                <a:solidFill>
                  <a:srgbClr val="002855"/>
                </a:solidFill>
                <a:latin typeface="Calibri" pitchFamily="34" charset="0"/>
                <a:ea typeface="Calibri" pitchFamily="34" charset="-122"/>
                <a:cs typeface="Calibri" pitchFamily="34" charset="-120"/>
              </a:rPr>
              <a:t>mirando."</a:t>
            </a:r>
            <a:endParaRPr lang="en-US" sz="1700" dirty="0"/>
          </a:p>
        </p:txBody>
      </p:sp>
      <p:sp>
        <p:nvSpPr>
          <p:cNvPr id="9" name="Text 7"/>
          <p:cNvSpPr/>
          <p:nvPr/>
        </p:nvSpPr>
        <p:spPr>
          <a:xfrm>
            <a:off x="4892040" y="2743200"/>
            <a:ext cx="3566160" cy="1371600"/>
          </a:xfrm>
          <a:prstGeom prst="rect">
            <a:avLst/>
          </a:prstGeom>
          <a:noFill/>
          <a:ln/>
        </p:spPr>
        <p:txBody>
          <a:bodyPr wrap="square"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Tus hijos actúan por imitación. Tu equipo también. Lo que haces como líder, tu equipo lo normaliza.</a:t>
            </a:r>
            <a:endParaRPr lang="en-US" sz="1200" dirty="0"/>
          </a:p>
        </p:txBody>
      </p:sp>
      <p:sp>
        <p:nvSpPr>
          <p:cNvPr id="10" name="Text 8"/>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Así se VE   ·   Así NO se ve</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365760" y="1005840"/>
            <a:ext cx="4023360" cy="3749040"/>
          </a:xfrm>
          <a:prstGeom prst="roundRect">
            <a:avLst>
              <a:gd name="adj" fmla="val 2927"/>
            </a:avLst>
          </a:prstGeom>
          <a:solidFill>
            <a:srgbClr val="E8F8F0"/>
          </a:solidFill>
          <a:ln w="19050">
            <a:solidFill>
              <a:srgbClr val="00A878"/>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1005840"/>
            <a:ext cx="4023360" cy="475488"/>
          </a:xfrm>
          <a:prstGeom prst="rect">
            <a:avLst/>
          </a:prstGeom>
          <a:noFill/>
          <a:ln/>
        </p:spPr>
        <p:txBody>
          <a:bodyPr wrap="square" rtlCol="0" anchor="ctr"/>
          <a:lstStyle/>
          <a:p>
            <a:pPr algn="ctr" indent="0" marL="0">
              <a:buNone/>
            </a:pPr>
            <a:r>
              <a:rPr lang="en-US" sz="1300" b="1" dirty="0">
                <a:solidFill>
                  <a:srgbClr val="007A55"/>
                </a:solidFill>
                <a:latin typeface="Calibri" pitchFamily="34" charset="0"/>
                <a:ea typeface="Calibri" pitchFamily="34" charset="-122"/>
                <a:cs typeface="Calibri" pitchFamily="34" charset="-120"/>
              </a:rPr>
              <a:t>✓ Cuando lo vivimos</a:t>
            </a:r>
            <a:endParaRPr lang="en-US" sz="1300" dirty="0"/>
          </a:p>
        </p:txBody>
      </p:sp>
      <p:sp>
        <p:nvSpPr>
          <p:cNvPr id="6" name="Text 4"/>
          <p:cNvSpPr/>
          <p:nvPr/>
        </p:nvSpPr>
        <p:spPr>
          <a:xfrm>
            <a:off x="502920" y="1554480"/>
            <a:ext cx="3749040" cy="3017520"/>
          </a:xfrm>
          <a:prstGeom prst="rect">
            <a:avLst/>
          </a:prstGeom>
          <a:noFill/>
          <a:ln/>
        </p:spPr>
        <p:txBody>
          <a:bodyPr wrap="square" rtlCol="0" anchor="ctr"/>
          <a:lstStyle/>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Digo la verdad aunque sea incómoda o me perjudique</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Reconozco mis errores antes de que los descubran</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Doy crédito a quien lo merece, aunque yo lo haya supervisado</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Aplico la regla de los 4 ojos en negociaciones importantes</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Cumplo lo que prometo o aviso a tiempo si no puedo cumplir</a:t>
            </a:r>
            <a:endParaRPr lang="en-US" sz="1300" dirty="0"/>
          </a:p>
        </p:txBody>
      </p:sp>
      <p:sp>
        <p:nvSpPr>
          <p:cNvPr id="7" name="Shape 5"/>
          <p:cNvSpPr/>
          <p:nvPr/>
        </p:nvSpPr>
        <p:spPr>
          <a:xfrm>
            <a:off x="4754880" y="1005840"/>
            <a:ext cx="4023360" cy="3749040"/>
          </a:xfrm>
          <a:prstGeom prst="roundRect">
            <a:avLst>
              <a:gd name="adj" fmla="val 2927"/>
            </a:avLst>
          </a:prstGeom>
          <a:solidFill>
            <a:srgbClr val="FEF2F2"/>
          </a:solidFill>
          <a:ln w="19050">
            <a:solidFill>
              <a:srgbClr val="E53E3E"/>
            </a:solidFill>
            <a:prstDash val="solid"/>
          </a:ln>
          <a:effectLst>
            <a:outerShdw sx="100000" sy="100000" kx="0" ky="0" algn="bl" rotWithShape="0" blurRad="63500" dist="25400" dir="2700000">
              <a:srgbClr val="000000">
                <a:alpha val="12000"/>
              </a:srgbClr>
            </a:outerShdw>
          </a:effectLst>
        </p:spPr>
      </p:sp>
      <p:sp>
        <p:nvSpPr>
          <p:cNvPr id="8" name="Text 6"/>
          <p:cNvSpPr/>
          <p:nvPr/>
        </p:nvSpPr>
        <p:spPr>
          <a:xfrm>
            <a:off x="4754880" y="1005840"/>
            <a:ext cx="4023360" cy="475488"/>
          </a:xfrm>
          <a:prstGeom prst="rect">
            <a:avLst/>
          </a:prstGeom>
          <a:noFill/>
          <a:ln/>
        </p:spPr>
        <p:txBody>
          <a:bodyPr wrap="square" rtlCol="0" anchor="ctr"/>
          <a:lstStyle/>
          <a:p>
            <a:pPr algn="ctr" indent="0" marL="0">
              <a:buNone/>
            </a:pPr>
            <a:r>
              <a:rPr lang="en-US" sz="1300" b="1" dirty="0">
                <a:solidFill>
                  <a:srgbClr val="C53030"/>
                </a:solidFill>
                <a:latin typeface="Calibri" pitchFamily="34" charset="0"/>
                <a:ea typeface="Calibri" pitchFamily="34" charset="-122"/>
                <a:cs typeface="Calibri" pitchFamily="34" charset="-120"/>
              </a:rPr>
              <a:t>✗ Cuando no lo vivimos</a:t>
            </a:r>
            <a:endParaRPr lang="en-US" sz="1300" dirty="0"/>
          </a:p>
        </p:txBody>
      </p:sp>
      <p:sp>
        <p:nvSpPr>
          <p:cNvPr id="9" name="Text 7"/>
          <p:cNvSpPr/>
          <p:nvPr/>
        </p:nvSpPr>
        <p:spPr>
          <a:xfrm>
            <a:off x="4892040" y="1554480"/>
            <a:ext cx="3749040" cy="3017520"/>
          </a:xfrm>
          <a:prstGeom prst="rect">
            <a:avLst/>
          </a:prstGeom>
          <a:noFill/>
          <a:ln/>
        </p:spPr>
        <p:txBody>
          <a:bodyPr wrap="square" rtlCol="0" anchor="ctr"/>
          <a:lstStyle/>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Manipulo datos para que los resultados se vean mejores</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Guardo silencio cuando veo algo incorrecto 'para no generar problemas'</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Tomo atajos pensando que 'nadie se va a enterar'</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Acepto regalos o favores de proveedores que pueden influir en decisiones</a:t>
            </a:r>
            <a:endParaRPr lang="en-US" sz="1300" dirty="0"/>
          </a:p>
          <a:p>
            <a:pPr marL="342900" indent="-342900">
              <a:spcAft>
                <a:spcPts val="500"/>
              </a:spcAft>
              <a:buSzPct val="100000"/>
              <a:buChar char="•"/>
            </a:pPr>
            <a:r>
              <a:rPr lang="en-US" sz="1300" dirty="0">
                <a:solidFill>
                  <a:srgbClr val="002855"/>
                </a:solidFill>
                <a:latin typeface="Calibri" pitchFamily="34" charset="0"/>
                <a:ea typeface="Calibri" pitchFamily="34" charset="-122"/>
                <a:cs typeface="Calibri" pitchFamily="34" charset="-120"/>
              </a:rPr>
              <a:t>Digo algo diferente según quién esté presente</a:t>
            </a:r>
            <a:endParaRPr lang="en-US" sz="1300" dirty="0"/>
          </a:p>
        </p:txBody>
      </p:sp>
      <p:sp>
        <p:nvSpPr>
          <p:cNvPr id="10" name="Text 8"/>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200" b="1" dirty="0">
                <a:solidFill>
                  <a:srgbClr val="002855"/>
                </a:solidFill>
                <a:latin typeface="Calibri" pitchFamily="34" charset="0"/>
                <a:ea typeface="Calibri" pitchFamily="34" charset="-122"/>
                <a:cs typeface="Calibri" pitchFamily="34" charset="-120"/>
              </a:rPr>
              <a:t>Ejemplo 1: Finanzas / Administración</a:t>
            </a:r>
            <a:endParaRPr lang="en-US" sz="22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Text 2"/>
          <p:cNvSpPr/>
          <p:nvPr/>
        </p:nvSpPr>
        <p:spPr>
          <a:xfrm>
            <a:off x="457200" y="105156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Situación</a:t>
            </a:r>
            <a:endParaRPr lang="en-US" sz="1100" dirty="0"/>
          </a:p>
        </p:txBody>
      </p:sp>
      <p:sp>
        <p:nvSpPr>
          <p:cNvPr id="5" name="Text 3"/>
          <p:cNvSpPr/>
          <p:nvPr/>
        </p:nvSpPr>
        <p:spPr>
          <a:xfrm>
            <a:off x="457200" y="134416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Ana, analista financiera, detecta que un reporte enviado a gerencia tiene un error en la fórmula que muestra resultados 8% mejores de lo real.</a:t>
            </a:r>
            <a:endParaRPr lang="en-US" sz="1200" dirty="0"/>
          </a:p>
        </p:txBody>
      </p:sp>
      <p:sp>
        <p:nvSpPr>
          <p:cNvPr id="6" name="Text 4"/>
          <p:cNvSpPr/>
          <p:nvPr/>
        </p:nvSpPr>
        <p:spPr>
          <a:xfrm>
            <a:off x="457200" y="187452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Comportamiento</a:t>
            </a:r>
            <a:endParaRPr lang="en-US" sz="1100" dirty="0"/>
          </a:p>
        </p:txBody>
      </p:sp>
      <p:sp>
        <p:nvSpPr>
          <p:cNvPr id="7" name="Text 5"/>
          <p:cNvSpPr/>
          <p:nvPr/>
        </p:nvSpPr>
        <p:spPr>
          <a:xfrm>
            <a:off x="457200" y="216712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Ana notifica de inmediato a su gerente, aunque el reporte ya fue circulado. Prepara una corrección y la envía con una nota explicativa clara.</a:t>
            </a:r>
            <a:endParaRPr lang="en-US" sz="1200" dirty="0"/>
          </a:p>
        </p:txBody>
      </p:sp>
      <p:sp>
        <p:nvSpPr>
          <p:cNvPr id="8" name="Text 6"/>
          <p:cNvSpPr/>
          <p:nvPr/>
        </p:nvSpPr>
        <p:spPr>
          <a:xfrm>
            <a:off x="457200" y="269748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Resultado</a:t>
            </a:r>
            <a:endParaRPr lang="en-US" sz="1100" dirty="0"/>
          </a:p>
        </p:txBody>
      </p:sp>
      <p:sp>
        <p:nvSpPr>
          <p:cNvPr id="9" name="Text 7"/>
          <p:cNvSpPr/>
          <p:nvPr/>
        </p:nvSpPr>
        <p:spPr>
          <a:xfrm>
            <a:off x="457200" y="299008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La gerencia valora la transparencia. La reputación de Ana se fortalece. El error se corrige antes de que afecte ninguna decisión.</a:t>
            </a:r>
            <a:endParaRPr lang="en-US" sz="1200" dirty="0"/>
          </a:p>
        </p:txBody>
      </p:sp>
      <p:sp>
        <p:nvSpPr>
          <p:cNvPr id="10" name="Text 8"/>
          <p:cNvSpPr/>
          <p:nvPr/>
        </p:nvSpPr>
        <p:spPr>
          <a:xfrm>
            <a:off x="457200" y="352044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Aprendizaje</a:t>
            </a:r>
            <a:endParaRPr lang="en-US" sz="1100" dirty="0"/>
          </a:p>
        </p:txBody>
      </p:sp>
      <p:sp>
        <p:nvSpPr>
          <p:cNvPr id="11" name="Text 9"/>
          <p:cNvSpPr/>
          <p:nvPr/>
        </p:nvSpPr>
        <p:spPr>
          <a:xfrm>
            <a:off x="457200" y="381304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La integridad no te debilita — te hace más confiable. Y la confianza es el activo más valioso en cualquier organización.</a:t>
            </a:r>
            <a:endParaRPr lang="en-US" sz="1200" dirty="0"/>
          </a:p>
        </p:txBody>
      </p:sp>
      <p:sp>
        <p:nvSpPr>
          <p:cNvPr id="12" name="Shape 10"/>
          <p:cNvSpPr/>
          <p:nvPr/>
        </p:nvSpPr>
        <p:spPr>
          <a:xfrm>
            <a:off x="457200" y="4343400"/>
            <a:ext cx="8229600" cy="502920"/>
          </a:xfrm>
          <a:prstGeom prst="roundRect">
            <a:avLst>
              <a:gd name="adj" fmla="val 18182"/>
            </a:avLst>
          </a:prstGeom>
          <a:solidFill>
            <a:srgbClr val="002855"/>
          </a:solidFill>
          <a:ln w="12700">
            <a:solidFill>
              <a:srgbClr val="002855"/>
            </a:solidFill>
            <a:prstDash val="solid"/>
          </a:ln>
        </p:spPr>
      </p:sp>
      <p:sp>
        <p:nvSpPr>
          <p:cNvPr id="13" name="Text 11"/>
          <p:cNvSpPr/>
          <p:nvPr/>
        </p:nvSpPr>
        <p:spPr>
          <a:xfrm>
            <a:off x="640080" y="4370832"/>
            <a:ext cx="7863840" cy="457200"/>
          </a:xfrm>
          <a:prstGeom prst="rect">
            <a:avLst/>
          </a:prstGeom>
          <a:noFill/>
          <a:ln/>
        </p:spPr>
        <p:txBody>
          <a:bodyPr wrap="square" rtlCol="0" anchor="ctr"/>
          <a:lstStyle/>
          <a:p>
            <a:pPr algn="ctr" indent="0" marL="0">
              <a:buNone/>
            </a:pPr>
            <a:r>
              <a:rPr lang="en-US" sz="1200" b="1" i="1" dirty="0">
                <a:solidFill>
                  <a:srgbClr val="FFC72C"/>
                </a:solidFill>
                <a:latin typeface="Calibri" pitchFamily="34" charset="0"/>
                <a:ea typeface="Calibri" pitchFamily="34" charset="-122"/>
                <a:cs typeface="Calibri" pitchFamily="34" charset="-120"/>
              </a:rPr>
              <a:t>"Un error corregido a tiempo vale más que un reporte perfecto que nadie cree."</a:t>
            </a:r>
            <a:endParaRPr lang="en-US" sz="1200" dirty="0"/>
          </a:p>
        </p:txBody>
      </p:sp>
      <p:sp>
        <p:nvSpPr>
          <p:cNvPr id="14" name="Text 12"/>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200" b="1" dirty="0">
                <a:solidFill>
                  <a:srgbClr val="002855"/>
                </a:solidFill>
                <a:latin typeface="Calibri" pitchFamily="34" charset="0"/>
                <a:ea typeface="Calibri" pitchFamily="34" charset="-122"/>
                <a:cs typeface="Calibri" pitchFamily="34" charset="-120"/>
              </a:rPr>
              <a:t>Ejemplo 2: Ventas Comerciales</a:t>
            </a:r>
            <a:endParaRPr lang="en-US" sz="22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Text 2"/>
          <p:cNvSpPr/>
          <p:nvPr/>
        </p:nvSpPr>
        <p:spPr>
          <a:xfrm>
            <a:off x="457200" y="105156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Situación</a:t>
            </a:r>
            <a:endParaRPr lang="en-US" sz="1100" dirty="0"/>
          </a:p>
        </p:txBody>
      </p:sp>
      <p:sp>
        <p:nvSpPr>
          <p:cNvPr id="5" name="Text 3"/>
          <p:cNvSpPr/>
          <p:nvPr/>
        </p:nvSpPr>
        <p:spPr>
          <a:xfrm>
            <a:off x="457200" y="134416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Carlos, asesor comercial, descubre que un competidor ofrece mejor precio a un cliente clave. Su gerente le pide que 'ajuste los números' en la propuesta para que parezca más competitiva.</a:t>
            </a:r>
            <a:endParaRPr lang="en-US" sz="1200" dirty="0"/>
          </a:p>
        </p:txBody>
      </p:sp>
      <p:sp>
        <p:nvSpPr>
          <p:cNvPr id="6" name="Text 4"/>
          <p:cNvSpPr/>
          <p:nvPr/>
        </p:nvSpPr>
        <p:spPr>
          <a:xfrm>
            <a:off x="457200" y="187452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Comportamiento</a:t>
            </a:r>
            <a:endParaRPr lang="en-US" sz="1100" dirty="0"/>
          </a:p>
        </p:txBody>
      </p:sp>
      <p:sp>
        <p:nvSpPr>
          <p:cNvPr id="7" name="Text 5"/>
          <p:cNvSpPr/>
          <p:nvPr/>
        </p:nvSpPr>
        <p:spPr>
          <a:xfrm>
            <a:off x="457200" y="216712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Carlos presenta los datos reales a su gerente y propone una solución comercial honesta: mejora en el servicio postventa y garantía extendida. Negocia con transparencia.</a:t>
            </a:r>
            <a:endParaRPr lang="en-US" sz="1200" dirty="0"/>
          </a:p>
        </p:txBody>
      </p:sp>
      <p:sp>
        <p:nvSpPr>
          <p:cNvPr id="8" name="Text 6"/>
          <p:cNvSpPr/>
          <p:nvPr/>
        </p:nvSpPr>
        <p:spPr>
          <a:xfrm>
            <a:off x="457200" y="269748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Resultado</a:t>
            </a:r>
            <a:endParaRPr lang="en-US" sz="1100" dirty="0"/>
          </a:p>
        </p:txBody>
      </p:sp>
      <p:sp>
        <p:nvSpPr>
          <p:cNvPr id="9" name="Text 7"/>
          <p:cNvSpPr/>
          <p:nvPr/>
        </p:nvSpPr>
        <p:spPr>
          <a:xfrm>
            <a:off x="457200" y="299008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El cliente valora la honestidad. Aunque el precio no es el más bajo, firma por la confianza generada. La relación se vuelve más sólida.</a:t>
            </a:r>
            <a:endParaRPr lang="en-US" sz="1200" dirty="0"/>
          </a:p>
        </p:txBody>
      </p:sp>
      <p:sp>
        <p:nvSpPr>
          <p:cNvPr id="10" name="Text 8"/>
          <p:cNvSpPr/>
          <p:nvPr/>
        </p:nvSpPr>
        <p:spPr>
          <a:xfrm>
            <a:off x="457200" y="3520440"/>
            <a:ext cx="2286000" cy="320040"/>
          </a:xfrm>
          <a:prstGeom prst="rect">
            <a:avLst/>
          </a:prstGeom>
          <a:noFill/>
          <a:ln/>
        </p:spPr>
        <p:txBody>
          <a:bodyPr wrap="square" rtlCol="0" anchor="ctr"/>
          <a:lstStyle/>
          <a:p>
            <a:pPr indent="0" marL="0">
              <a:buNone/>
            </a:pPr>
            <a:r>
              <a:rPr lang="en-US" sz="1100" b="1" dirty="0">
                <a:solidFill>
                  <a:srgbClr val="00A0DC"/>
                </a:solidFill>
                <a:latin typeface="Calibri" pitchFamily="34" charset="0"/>
                <a:ea typeface="Calibri" pitchFamily="34" charset="-122"/>
                <a:cs typeface="Calibri" pitchFamily="34" charset="-120"/>
              </a:rPr>
              <a:t>💡 Aprendizaje</a:t>
            </a:r>
            <a:endParaRPr lang="en-US" sz="1100" dirty="0"/>
          </a:p>
        </p:txBody>
      </p:sp>
      <p:sp>
        <p:nvSpPr>
          <p:cNvPr id="11" name="Text 9"/>
          <p:cNvSpPr/>
          <p:nvPr/>
        </p:nvSpPr>
        <p:spPr>
          <a:xfrm>
            <a:off x="457200" y="3813048"/>
            <a:ext cx="822960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Un cliente que confía en ti vale 10 veces más que un cliente que solo te compra por precio.</a:t>
            </a:r>
            <a:endParaRPr lang="en-US" sz="1200" dirty="0"/>
          </a:p>
        </p:txBody>
      </p:sp>
      <p:sp>
        <p:nvSpPr>
          <p:cNvPr id="12" name="Shape 10"/>
          <p:cNvSpPr/>
          <p:nvPr/>
        </p:nvSpPr>
        <p:spPr>
          <a:xfrm>
            <a:off x="457200" y="4343400"/>
            <a:ext cx="8229600" cy="502920"/>
          </a:xfrm>
          <a:prstGeom prst="roundRect">
            <a:avLst>
              <a:gd name="adj" fmla="val 18182"/>
            </a:avLst>
          </a:prstGeom>
          <a:solidFill>
            <a:srgbClr val="002855"/>
          </a:solidFill>
          <a:ln w="12700">
            <a:solidFill>
              <a:srgbClr val="002855"/>
            </a:solidFill>
            <a:prstDash val="solid"/>
          </a:ln>
        </p:spPr>
      </p:sp>
      <p:sp>
        <p:nvSpPr>
          <p:cNvPr id="13" name="Text 11"/>
          <p:cNvSpPr/>
          <p:nvPr/>
        </p:nvSpPr>
        <p:spPr>
          <a:xfrm>
            <a:off x="640080" y="4370832"/>
            <a:ext cx="7863840" cy="457200"/>
          </a:xfrm>
          <a:prstGeom prst="rect">
            <a:avLst/>
          </a:prstGeom>
          <a:noFill/>
          <a:ln/>
        </p:spPr>
        <p:txBody>
          <a:bodyPr wrap="square" rtlCol="0" anchor="ctr"/>
          <a:lstStyle/>
          <a:p>
            <a:pPr algn="ctr" indent="0" marL="0">
              <a:buNone/>
            </a:pPr>
            <a:r>
              <a:rPr lang="en-US" sz="1200" b="1" i="1" dirty="0">
                <a:solidFill>
                  <a:srgbClr val="FFC72C"/>
                </a:solidFill>
                <a:latin typeface="Calibri" pitchFamily="34" charset="0"/>
                <a:ea typeface="Calibri" pitchFamily="34" charset="-122"/>
                <a:cs typeface="Calibri" pitchFamily="34" charset="-120"/>
              </a:rPr>
              <a:t>"Ganamos con la verdad o no ganamos. Así de simple."</a:t>
            </a:r>
            <a:endParaRPr lang="en-US" sz="1200" dirty="0"/>
          </a:p>
        </p:txBody>
      </p:sp>
      <p:sp>
        <p:nvSpPr>
          <p:cNvPr id="14" name="Text 12"/>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La Regla de los 4 Ojos</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05840"/>
            <a:ext cx="8229600" cy="2011680"/>
          </a:xfrm>
          <a:prstGeom prst="roundRect">
            <a:avLst>
              <a:gd name="adj" fmla="val 6818"/>
            </a:avLst>
          </a:prstGeom>
          <a:solidFill>
            <a:srgbClr val="DAEEFF"/>
          </a:solidFill>
          <a:ln w="12700">
            <a:solidFill>
              <a:srgbClr val="00A0DC"/>
            </a:solidFill>
            <a:prstDash val="solid"/>
          </a:ln>
        </p:spPr>
      </p:sp>
      <p:sp>
        <p:nvSpPr>
          <p:cNvPr id="5" name="Text 3"/>
          <p:cNvSpPr/>
          <p:nvPr/>
        </p:nvSpPr>
        <p:spPr>
          <a:xfrm>
            <a:off x="457200" y="1097280"/>
            <a:ext cx="8229600" cy="640080"/>
          </a:xfrm>
          <a:prstGeom prst="rect">
            <a:avLst/>
          </a:prstGeom>
          <a:noFill/>
          <a:ln/>
        </p:spPr>
        <p:txBody>
          <a:bodyPr wrap="square" rtlCol="0" anchor="ctr"/>
          <a:lstStyle/>
          <a:p>
            <a:pPr algn="ctr" indent="0" marL="0">
              <a:buNone/>
            </a:pPr>
            <a:r>
              <a:rPr lang="en-US" sz="2800" dirty="0">
                <a:solidFill>
                  <a:srgbClr val="002855"/>
                </a:solidFill>
                <a:latin typeface="Calibri" pitchFamily="34" charset="0"/>
                <a:ea typeface="Calibri" pitchFamily="34" charset="-122"/>
                <a:cs typeface="Calibri" pitchFamily="34" charset="-120"/>
              </a:rPr>
              <a:t>👁 👁  +  👁 👁</a:t>
            </a:r>
            <a:endParaRPr lang="en-US" sz="2800" dirty="0"/>
          </a:p>
        </p:txBody>
      </p:sp>
      <p:sp>
        <p:nvSpPr>
          <p:cNvPr id="6" name="Text 4"/>
          <p:cNvSpPr/>
          <p:nvPr/>
        </p:nvSpPr>
        <p:spPr>
          <a:xfrm>
            <a:off x="731520" y="1828800"/>
            <a:ext cx="7680960" cy="1005840"/>
          </a:xfrm>
          <a:prstGeom prst="rect">
            <a:avLst/>
          </a:prstGeom>
          <a:noFill/>
          <a:ln/>
        </p:spPr>
        <p:txBody>
          <a:bodyPr wrap="square" rtlCol="0" anchor="ctr"/>
          <a:lstStyle/>
          <a:p>
            <a:pPr algn="ctr" indent="0" marL="0">
              <a:buNone/>
            </a:pPr>
            <a:r>
              <a:rPr lang="en-US" sz="1400" dirty="0">
                <a:solidFill>
                  <a:srgbClr val="002855"/>
                </a:solidFill>
                <a:latin typeface="Calibri" pitchFamily="34" charset="0"/>
                <a:ea typeface="Calibri" pitchFamily="34" charset="-122"/>
                <a:cs typeface="Calibri" pitchFamily="34" charset="-120"/>
              </a:rPr>
              <a:t>En toda negociación importante o reunión difícil, siempre deben estar presentes al menos dos personas de Tigo. Nadie negocia solo.</a:t>
            </a:r>
            <a:endParaRPr lang="en-US" sz="1400" dirty="0"/>
          </a:p>
        </p:txBody>
      </p:sp>
      <p:sp>
        <p:nvSpPr>
          <p:cNvPr id="7" name="Text 5"/>
          <p:cNvSpPr/>
          <p:nvPr/>
        </p:nvSpPr>
        <p:spPr>
          <a:xfrm>
            <a:off x="457200" y="3108960"/>
            <a:ext cx="8229600" cy="365760"/>
          </a:xfrm>
          <a:prstGeom prst="rect">
            <a:avLst/>
          </a:prstGeom>
          <a:noFill/>
          <a:ln/>
        </p:spPr>
        <p:txBody>
          <a:bodyPr wrap="square" rtlCol="0" anchor="ctr"/>
          <a:lstStyle/>
          <a:p>
            <a:pPr indent="0" marL="0">
              <a:buNone/>
            </a:pPr>
            <a:r>
              <a:rPr lang="en-US" sz="1400" b="1" dirty="0">
                <a:solidFill>
                  <a:srgbClr val="002855"/>
                </a:solidFill>
                <a:latin typeface="Calibri" pitchFamily="34" charset="0"/>
                <a:ea typeface="Calibri" pitchFamily="34" charset="-122"/>
                <a:cs typeface="Calibri" pitchFamily="34" charset="-120"/>
              </a:rPr>
              <a:t>¿Cuándo aplica?</a:t>
            </a:r>
            <a:endParaRPr lang="en-US" sz="1400" dirty="0"/>
          </a:p>
        </p:txBody>
      </p:sp>
      <p:sp>
        <p:nvSpPr>
          <p:cNvPr id="8" name="Text 6"/>
          <p:cNvSpPr/>
          <p:nvPr/>
        </p:nvSpPr>
        <p:spPr>
          <a:xfrm>
            <a:off x="640080" y="3520440"/>
            <a:ext cx="7863840" cy="1371600"/>
          </a:xfrm>
          <a:prstGeom prst="rect">
            <a:avLst/>
          </a:prstGeom>
          <a:noFill/>
          <a:ln/>
        </p:spPr>
        <p:txBody>
          <a:bodyPr wrap="square" rtlCol="0" anchor="ctr"/>
          <a:lstStyle/>
          <a:p>
            <a:pPr marL="342900" indent="-342900">
              <a:spcAft>
                <a:spcPts val="400"/>
              </a:spcAft>
              <a:buSzPct val="100000"/>
              <a:buChar char="•"/>
            </a:pPr>
            <a:r>
              <a:rPr lang="en-US" sz="1300" dirty="0">
                <a:solidFill>
                  <a:srgbClr val="002855"/>
                </a:solidFill>
                <a:latin typeface="Calibri" pitchFamily="34" charset="0"/>
                <a:ea typeface="Calibri" pitchFamily="34" charset="-122"/>
                <a:cs typeface="Calibri" pitchFamily="34" charset="-120"/>
              </a:rPr>
              <a:t>Reuniones con proveedores o socios externos donde se negocian condiciones</a:t>
            </a:r>
            <a:endParaRPr lang="en-US" sz="1300" dirty="0"/>
          </a:p>
          <a:p>
            <a:pPr marL="342900" indent="-342900">
              <a:spcAft>
                <a:spcPts val="400"/>
              </a:spcAft>
              <a:buSzPct val="100000"/>
              <a:buChar char="•"/>
            </a:pPr>
            <a:r>
              <a:rPr lang="en-US" sz="1300" dirty="0">
                <a:solidFill>
                  <a:srgbClr val="002855"/>
                </a:solidFill>
                <a:latin typeface="Calibri" pitchFamily="34" charset="0"/>
                <a:ea typeface="Calibri" pitchFamily="34" charset="-122"/>
                <a:cs typeface="Calibri" pitchFamily="34" charset="-120"/>
              </a:rPr>
              <a:t>Visitas a clientes VIP con compromisos importantes</a:t>
            </a:r>
            <a:endParaRPr lang="en-US" sz="1300" dirty="0"/>
          </a:p>
          <a:p>
            <a:pPr marL="342900" indent="-342900">
              <a:spcAft>
                <a:spcPts val="400"/>
              </a:spcAft>
              <a:buSzPct val="100000"/>
              <a:buChar char="•"/>
            </a:pPr>
            <a:r>
              <a:rPr lang="en-US" sz="1300" dirty="0">
                <a:solidFill>
                  <a:srgbClr val="002855"/>
                </a:solidFill>
                <a:latin typeface="Calibri" pitchFamily="34" charset="0"/>
                <a:ea typeface="Calibri" pitchFamily="34" charset="-122"/>
                <a:cs typeface="Calibri" pitchFamily="34" charset="-120"/>
              </a:rPr>
              <a:t>Conversaciones donde puede haber presión, regalos o condicionamientos</a:t>
            </a:r>
            <a:endParaRPr lang="en-US" sz="1300" dirty="0"/>
          </a:p>
          <a:p>
            <a:pPr marL="342900" indent="-342900">
              <a:spcAft>
                <a:spcPts val="400"/>
              </a:spcAft>
              <a:buSzPct val="100000"/>
              <a:buChar char="•"/>
            </a:pPr>
            <a:r>
              <a:rPr lang="en-US" sz="1300" dirty="0">
                <a:solidFill>
                  <a:srgbClr val="002855"/>
                </a:solidFill>
                <a:latin typeface="Calibri" pitchFamily="34" charset="0"/>
                <a:ea typeface="Calibri" pitchFamily="34" charset="-122"/>
                <a:cs typeface="Calibri" pitchFamily="34" charset="-120"/>
              </a:rPr>
              <a:t>Cualquier acuerdo verbal que pueda malinterpretarse</a:t>
            </a:r>
            <a:endParaRPr lang="en-US" sz="1300" dirty="0"/>
          </a:p>
        </p:txBody>
      </p:sp>
      <p:sp>
        <p:nvSpPr>
          <p:cNvPr id="9" name="Text 7"/>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Reglas de Oro relacionadas</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97280"/>
            <a:ext cx="8229600" cy="777240"/>
          </a:xfrm>
          <a:prstGeom prst="roundRect">
            <a:avLst>
              <a:gd name="adj" fmla="val 11765"/>
            </a:avLst>
          </a:prstGeom>
          <a:solidFill>
            <a:srgbClr val="DAEEFF"/>
          </a:solidFill>
          <a:ln w="12700">
            <a:solidFill>
              <a:srgbClr val="00A0DC"/>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548640" y="1252728"/>
            <a:ext cx="457200" cy="457200"/>
          </a:xfrm>
          <a:prstGeom prst="ellipse">
            <a:avLst/>
          </a:prstGeom>
          <a:solidFill>
            <a:srgbClr val="002855"/>
          </a:solidFill>
          <a:ln w="12700">
            <a:solidFill>
              <a:srgbClr val="002855"/>
            </a:solidFill>
            <a:prstDash val="solid"/>
          </a:ln>
        </p:spPr>
      </p:sp>
      <p:sp>
        <p:nvSpPr>
          <p:cNvPr id="6" name="Text 4"/>
          <p:cNvSpPr/>
          <p:nvPr/>
        </p:nvSpPr>
        <p:spPr>
          <a:xfrm>
            <a:off x="548640" y="1252728"/>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7" name="Text 5"/>
          <p:cNvSpPr/>
          <p:nvPr/>
        </p:nvSpPr>
        <p:spPr>
          <a:xfrm>
            <a:off x="1143000" y="1188720"/>
            <a:ext cx="7132320" cy="274320"/>
          </a:xfrm>
          <a:prstGeom prst="rect">
            <a:avLst/>
          </a:prstGeom>
          <a:noFill/>
          <a:ln/>
        </p:spPr>
        <p:txBody>
          <a:bodyPr wrap="square" rtlCol="0" anchor="ctr"/>
          <a:lstStyle/>
          <a:p>
            <a:pPr indent="0" marL="0">
              <a:buNone/>
            </a:pPr>
            <a:r>
              <a:rPr lang="en-US" sz="1300" b="1" dirty="0">
                <a:solidFill>
                  <a:srgbClr val="002855"/>
                </a:solidFill>
                <a:latin typeface="Calibri" pitchFamily="34" charset="0"/>
                <a:ea typeface="Calibri" pitchFamily="34" charset="-122"/>
                <a:cs typeface="Calibri" pitchFamily="34" charset="-120"/>
              </a:rPr>
              <a:t>Protegemos nuestra independencia (Principio del abuelo)</a:t>
            </a:r>
            <a:endParaRPr lang="en-US" sz="1300" dirty="0"/>
          </a:p>
        </p:txBody>
      </p:sp>
      <p:sp>
        <p:nvSpPr>
          <p:cNvPr id="8" name="Text 6"/>
          <p:cNvSpPr/>
          <p:nvPr/>
        </p:nvSpPr>
        <p:spPr>
          <a:xfrm>
            <a:off x="1143000" y="1481328"/>
            <a:ext cx="7132320" cy="32004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 favorecemos a familiares ni amigos por sobre candidatos o proveedores más calificados.</a:t>
            </a:r>
            <a:endParaRPr lang="en-US" sz="1200" dirty="0"/>
          </a:p>
        </p:txBody>
      </p:sp>
      <p:sp>
        <p:nvSpPr>
          <p:cNvPr id="9" name="Shape 7"/>
          <p:cNvSpPr/>
          <p:nvPr/>
        </p:nvSpPr>
        <p:spPr>
          <a:xfrm>
            <a:off x="457200" y="2011680"/>
            <a:ext cx="8229600" cy="777240"/>
          </a:xfrm>
          <a:prstGeom prst="roundRect">
            <a:avLst>
              <a:gd name="adj" fmla="val 11765"/>
            </a:avLst>
          </a:prstGeom>
          <a:solidFill>
            <a:srgbClr val="DAEEFF"/>
          </a:solidFill>
          <a:ln w="12700">
            <a:solidFill>
              <a:srgbClr val="00A0DC"/>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548640" y="2167128"/>
            <a:ext cx="457200" cy="457200"/>
          </a:xfrm>
          <a:prstGeom prst="ellipse">
            <a:avLst/>
          </a:prstGeom>
          <a:solidFill>
            <a:srgbClr val="002855"/>
          </a:solidFill>
          <a:ln w="12700">
            <a:solidFill>
              <a:srgbClr val="002855"/>
            </a:solidFill>
            <a:prstDash val="solid"/>
          </a:ln>
        </p:spPr>
      </p:sp>
      <p:sp>
        <p:nvSpPr>
          <p:cNvPr id="11" name="Text 9"/>
          <p:cNvSpPr/>
          <p:nvPr/>
        </p:nvSpPr>
        <p:spPr>
          <a:xfrm>
            <a:off x="548640" y="2167128"/>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2" name="Text 10"/>
          <p:cNvSpPr/>
          <p:nvPr/>
        </p:nvSpPr>
        <p:spPr>
          <a:xfrm>
            <a:off x="1143000" y="2103120"/>
            <a:ext cx="7132320" cy="274320"/>
          </a:xfrm>
          <a:prstGeom prst="rect">
            <a:avLst/>
          </a:prstGeom>
          <a:noFill/>
          <a:ln/>
        </p:spPr>
        <p:txBody>
          <a:bodyPr wrap="square" rtlCol="0" anchor="ctr"/>
          <a:lstStyle/>
          <a:p>
            <a:pPr indent="0" marL="0">
              <a:buNone/>
            </a:pPr>
            <a:r>
              <a:rPr lang="en-US" sz="1300" b="1" dirty="0">
                <a:solidFill>
                  <a:srgbClr val="002855"/>
                </a:solidFill>
                <a:latin typeface="Calibri" pitchFamily="34" charset="0"/>
                <a:ea typeface="Calibri" pitchFamily="34" charset="-122"/>
                <a:cs typeface="Calibri" pitchFamily="34" charset="-120"/>
              </a:rPr>
              <a:t>Principio de los 4 ojos</a:t>
            </a:r>
            <a:endParaRPr lang="en-US" sz="1300" dirty="0"/>
          </a:p>
        </p:txBody>
      </p:sp>
      <p:sp>
        <p:nvSpPr>
          <p:cNvPr id="13" name="Text 11"/>
          <p:cNvSpPr/>
          <p:nvPr/>
        </p:nvSpPr>
        <p:spPr>
          <a:xfrm>
            <a:off x="1143000" y="2395728"/>
            <a:ext cx="7132320" cy="32004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Nunca negociamos solos en situaciones que implican compromisos importantes para Tigo.</a:t>
            </a:r>
            <a:endParaRPr lang="en-US" sz="1200" dirty="0"/>
          </a:p>
        </p:txBody>
      </p:sp>
      <p:sp>
        <p:nvSpPr>
          <p:cNvPr id="14" name="Shape 12"/>
          <p:cNvSpPr/>
          <p:nvPr/>
        </p:nvSpPr>
        <p:spPr>
          <a:xfrm>
            <a:off x="457200" y="2926080"/>
            <a:ext cx="8229600" cy="777240"/>
          </a:xfrm>
          <a:prstGeom prst="roundRect">
            <a:avLst>
              <a:gd name="adj" fmla="val 11765"/>
            </a:avLst>
          </a:prstGeom>
          <a:solidFill>
            <a:srgbClr val="DAEEFF"/>
          </a:solidFill>
          <a:ln w="12700">
            <a:solidFill>
              <a:srgbClr val="00A0DC"/>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548640" y="3081528"/>
            <a:ext cx="457200" cy="457200"/>
          </a:xfrm>
          <a:prstGeom prst="ellipse">
            <a:avLst/>
          </a:prstGeom>
          <a:solidFill>
            <a:srgbClr val="002855"/>
          </a:solidFill>
          <a:ln w="12700">
            <a:solidFill>
              <a:srgbClr val="002855"/>
            </a:solidFill>
            <a:prstDash val="solid"/>
          </a:ln>
        </p:spPr>
      </p:sp>
      <p:sp>
        <p:nvSpPr>
          <p:cNvPr id="16" name="Text 14"/>
          <p:cNvSpPr/>
          <p:nvPr/>
        </p:nvSpPr>
        <p:spPr>
          <a:xfrm>
            <a:off x="548640" y="3081528"/>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1143000" y="3017520"/>
            <a:ext cx="7132320" cy="274320"/>
          </a:xfrm>
          <a:prstGeom prst="rect">
            <a:avLst/>
          </a:prstGeom>
          <a:noFill/>
          <a:ln/>
        </p:spPr>
        <p:txBody>
          <a:bodyPr wrap="square" rtlCol="0" anchor="ctr"/>
          <a:lstStyle/>
          <a:p>
            <a:pPr indent="0" marL="0">
              <a:buNone/>
            </a:pPr>
            <a:r>
              <a:rPr lang="en-US" sz="1300" b="1" dirty="0">
                <a:solidFill>
                  <a:srgbClr val="002855"/>
                </a:solidFill>
                <a:latin typeface="Calibri" pitchFamily="34" charset="0"/>
                <a:ea typeface="Calibri" pitchFamily="34" charset="-122"/>
                <a:cs typeface="Calibri" pitchFamily="34" charset="-120"/>
              </a:rPr>
              <a:t>Tratamos a los demás como nos gustaría ser tratados</a:t>
            </a:r>
            <a:endParaRPr lang="en-US" sz="1300" dirty="0"/>
          </a:p>
        </p:txBody>
      </p:sp>
      <p:sp>
        <p:nvSpPr>
          <p:cNvPr id="18" name="Text 16"/>
          <p:cNvSpPr/>
          <p:nvPr/>
        </p:nvSpPr>
        <p:spPr>
          <a:xfrm>
            <a:off x="1143000" y="3310128"/>
            <a:ext cx="7132320" cy="32004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El respeto y la honestidad son obligatorios, no opcionales.</a:t>
            </a:r>
            <a:endParaRPr lang="en-US" sz="1200" dirty="0"/>
          </a:p>
        </p:txBody>
      </p:sp>
      <p:sp>
        <p:nvSpPr>
          <p:cNvPr id="19" name="Text 17"/>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Lo que debemos evitar</a:t>
            </a:r>
            <a:endParaRPr lang="en-US" sz="2400" dirty="0"/>
          </a:p>
        </p:txBody>
      </p:sp>
      <p:sp>
        <p:nvSpPr>
          <p:cNvPr id="3" name="Shape 1"/>
          <p:cNvSpPr/>
          <p:nvPr/>
        </p:nvSpPr>
        <p:spPr>
          <a:xfrm>
            <a:off x="457200" y="868680"/>
            <a:ext cx="8229600" cy="36576"/>
          </a:xfrm>
          <a:prstGeom prst="roundRect">
            <a:avLst>
              <a:gd name="adj" fmla="val 50000"/>
            </a:avLst>
          </a:prstGeom>
          <a:solidFill>
            <a:srgbClr val="E53E3E"/>
          </a:solidFill>
          <a:ln w="12700">
            <a:solidFill>
              <a:srgbClr val="E53E3E"/>
            </a:solidFill>
            <a:prstDash val="solid"/>
          </a:ln>
        </p:spPr>
      </p:sp>
      <p:sp>
        <p:nvSpPr>
          <p:cNvPr id="4" name="Shape 2"/>
          <p:cNvSpPr/>
          <p:nvPr/>
        </p:nvSpPr>
        <p:spPr>
          <a:xfrm>
            <a:off x="365760" y="100584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502920" y="111556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Manipular datos para mejorar apariencia de resultados</a:t>
            </a:r>
            <a:endParaRPr lang="en-US" sz="1300" dirty="0"/>
          </a:p>
        </p:txBody>
      </p:sp>
      <p:sp>
        <p:nvSpPr>
          <p:cNvPr id="6" name="Shape 4"/>
          <p:cNvSpPr/>
          <p:nvPr/>
        </p:nvSpPr>
        <p:spPr>
          <a:xfrm>
            <a:off x="4754880" y="100584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4892040" y="111556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Aceptar regalos o favores de proveedores / clientes</a:t>
            </a:r>
            <a:endParaRPr lang="en-US" sz="1300" dirty="0"/>
          </a:p>
        </p:txBody>
      </p:sp>
      <p:sp>
        <p:nvSpPr>
          <p:cNvPr id="8" name="Shape 6"/>
          <p:cNvSpPr/>
          <p:nvPr/>
        </p:nvSpPr>
        <p:spPr>
          <a:xfrm>
            <a:off x="365760" y="201168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502920" y="212140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Guardar silencio ante algo incorrecto</a:t>
            </a:r>
            <a:endParaRPr lang="en-US" sz="1300" dirty="0"/>
          </a:p>
        </p:txBody>
      </p:sp>
      <p:sp>
        <p:nvSpPr>
          <p:cNvPr id="10" name="Shape 8"/>
          <p:cNvSpPr/>
          <p:nvPr/>
        </p:nvSpPr>
        <p:spPr>
          <a:xfrm>
            <a:off x="4754880" y="201168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4892040" y="212140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Tomar atajos pensando que nadie lo sabrá</a:t>
            </a:r>
            <a:endParaRPr lang="en-US" sz="1300" dirty="0"/>
          </a:p>
        </p:txBody>
      </p:sp>
      <p:sp>
        <p:nvSpPr>
          <p:cNvPr id="12" name="Shape 10"/>
          <p:cNvSpPr/>
          <p:nvPr/>
        </p:nvSpPr>
        <p:spPr>
          <a:xfrm>
            <a:off x="365760" y="301752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502920" y="312724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Decir algo distinto según quién esté presente</a:t>
            </a:r>
            <a:endParaRPr lang="en-US" sz="1300" dirty="0"/>
          </a:p>
        </p:txBody>
      </p:sp>
      <p:sp>
        <p:nvSpPr>
          <p:cNvPr id="14" name="Shape 12"/>
          <p:cNvSpPr/>
          <p:nvPr/>
        </p:nvSpPr>
        <p:spPr>
          <a:xfrm>
            <a:off x="4754880" y="3017520"/>
            <a:ext cx="4023360" cy="868680"/>
          </a:xfrm>
          <a:prstGeom prst="roundRect">
            <a:avLst>
              <a:gd name="adj" fmla="val 10526"/>
            </a:avLst>
          </a:prstGeom>
          <a:solidFill>
            <a:srgbClr val="FEF2F2"/>
          </a:solidFill>
          <a:ln w="12700">
            <a:solidFill>
              <a:srgbClr val="E53E3E"/>
            </a:solidFill>
            <a:prstDash val="solid"/>
          </a:ln>
          <a:effectLst>
            <a:outerShdw sx="100000" sy="100000" kx="0" ky="0" algn="bl" rotWithShape="0" blurRad="63500" dist="25400" dir="2700000">
              <a:srgbClr val="000000">
                <a:alpha val="12000"/>
              </a:srgbClr>
            </a:outerShdw>
          </a:effectLst>
        </p:spPr>
      </p:sp>
      <p:sp>
        <p:nvSpPr>
          <p:cNvPr id="15" name="Text 13"/>
          <p:cNvSpPr/>
          <p:nvPr/>
        </p:nvSpPr>
        <p:spPr>
          <a:xfrm>
            <a:off x="4892040" y="3127248"/>
            <a:ext cx="3749040" cy="658368"/>
          </a:xfrm>
          <a:prstGeom prst="rect">
            <a:avLst/>
          </a:prstGeom>
          <a:noFill/>
          <a:ln/>
        </p:spPr>
        <p:txBody>
          <a:bodyPr wrap="square" rtlCol="0" anchor="ctr"/>
          <a:lstStyle/>
          <a:p>
            <a:pPr indent="0" marL="0">
              <a:buNone/>
            </a:pPr>
            <a:r>
              <a:rPr lang="en-US" sz="1300" b="1" dirty="0">
                <a:solidFill>
                  <a:srgbClr val="C53030"/>
                </a:solidFill>
                <a:latin typeface="Calibri" pitchFamily="34" charset="0"/>
                <a:ea typeface="Calibri" pitchFamily="34" charset="-122"/>
                <a:cs typeface="Calibri" pitchFamily="34" charset="-120"/>
              </a:rPr>
              <a:t>✗ Usar posición para beneficio personal</a:t>
            </a:r>
            <a:endParaRPr lang="en-US" sz="1300" dirty="0"/>
          </a:p>
        </p:txBody>
      </p:sp>
      <p:sp>
        <p:nvSpPr>
          <p:cNvPr id="16" name="Text 14"/>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 Video sugerido</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1005840"/>
            <a:ext cx="8229600" cy="3200400"/>
          </a:xfrm>
          <a:prstGeom prst="roundRect">
            <a:avLst>
              <a:gd name="adj" fmla="val 4286"/>
            </a:avLst>
          </a:prstGeom>
          <a:solidFill>
            <a:srgbClr val="DAEEFF"/>
          </a:solidFill>
          <a:ln w="12700">
            <a:solidFill>
              <a:srgbClr val="00A0DC"/>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640080" y="1143000"/>
            <a:ext cx="1097280" cy="1097280"/>
          </a:xfrm>
          <a:prstGeom prst="ellipse">
            <a:avLst/>
          </a:prstGeom>
          <a:solidFill>
            <a:srgbClr val="002855"/>
          </a:solidFill>
          <a:ln w="12700">
            <a:solidFill>
              <a:srgbClr val="002855"/>
            </a:solidFill>
            <a:prstDash val="solid"/>
          </a:ln>
        </p:spPr>
      </p:sp>
      <p:sp>
        <p:nvSpPr>
          <p:cNvPr id="6" name="Text 4"/>
          <p:cNvSpPr/>
          <p:nvPr/>
        </p:nvSpPr>
        <p:spPr>
          <a:xfrm>
            <a:off x="640080" y="1143000"/>
            <a:ext cx="1097280" cy="1097280"/>
          </a:xfrm>
          <a:prstGeom prst="rect">
            <a:avLst/>
          </a:prstGeom>
          <a:noFill/>
          <a:ln/>
        </p:spPr>
        <p:txBody>
          <a:bodyPr wrap="square" rtlCol="0" anchor="ctr"/>
          <a:lstStyle/>
          <a:p>
            <a:pPr algn="ctr" indent="0" marL="0">
              <a:buNone/>
            </a:pPr>
            <a:r>
              <a:rPr lang="en-US" sz="2800" dirty="0">
                <a:solidFill>
                  <a:srgbClr val="FFC72C"/>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1920240" y="1143000"/>
            <a:ext cx="6492240" cy="502920"/>
          </a:xfrm>
          <a:prstGeom prst="rect">
            <a:avLst/>
          </a:prstGeom>
          <a:noFill/>
          <a:ln/>
        </p:spPr>
        <p:txBody>
          <a:bodyPr wrap="square" rtlCol="0" anchor="ctr"/>
          <a:lstStyle/>
          <a:p>
            <a:pPr indent="0" marL="0">
              <a:buNone/>
            </a:pPr>
            <a:r>
              <a:rPr lang="en-US" sz="1600" b="1" dirty="0">
                <a:solidFill>
                  <a:srgbClr val="002855"/>
                </a:solidFill>
                <a:latin typeface="Calibri" pitchFamily="34" charset="0"/>
                <a:ea typeface="Calibri" pitchFamily="34" charset="-122"/>
                <a:cs typeface="Calibri" pitchFamily="34" charset="-120"/>
              </a:rPr>
              <a:t>El precio de la deshonestidad - Dan Ariely</a:t>
            </a:r>
            <a:endParaRPr lang="en-US" sz="1600" dirty="0"/>
          </a:p>
        </p:txBody>
      </p:sp>
      <p:sp>
        <p:nvSpPr>
          <p:cNvPr id="8" name="Text 6"/>
          <p:cNvSpPr/>
          <p:nvPr/>
        </p:nvSpPr>
        <p:spPr>
          <a:xfrm>
            <a:off x="1920240" y="1691640"/>
            <a:ext cx="6492240" cy="320040"/>
          </a:xfrm>
          <a:prstGeom prst="rect">
            <a:avLst/>
          </a:prstGeom>
          <a:noFill/>
          <a:ln/>
        </p:spPr>
        <p:txBody>
          <a:bodyPr wrap="square" rtlCol="0" anchor="ctr"/>
          <a:lstStyle/>
          <a:p>
            <a:pPr indent="0" marL="0">
              <a:buNone/>
            </a:pPr>
            <a:r>
              <a:rPr lang="en-US" sz="1200" dirty="0">
                <a:solidFill>
                  <a:srgbClr val="00A0DC"/>
                </a:solidFill>
                <a:latin typeface="Calibri" pitchFamily="34" charset="0"/>
                <a:ea typeface="Calibri" pitchFamily="34" charset="-122"/>
                <a:cs typeface="Calibri" pitchFamily="34" charset="-120"/>
              </a:rPr>
              <a:t>Canal: TED Talks   |   Duración: ~15 min   |   Idioma: Inglés / subtítulos en español</a:t>
            </a:r>
            <a:endParaRPr lang="en-US" sz="1200" dirty="0"/>
          </a:p>
        </p:txBody>
      </p:sp>
      <p:sp>
        <p:nvSpPr>
          <p:cNvPr id="9" name="Text 7"/>
          <p:cNvSpPr/>
          <p:nvPr/>
        </p:nvSpPr>
        <p:spPr>
          <a:xfrm>
            <a:off x="1920240" y="2057400"/>
            <a:ext cx="6492240" cy="274320"/>
          </a:xfrm>
          <a:prstGeom prst="rect">
            <a:avLst/>
          </a:prstGeom>
          <a:noFill/>
          <a:ln/>
        </p:spPr>
        <p:txBody>
          <a:bodyPr wrap="square" rtlCol="0" anchor="ctr"/>
          <a:lstStyle/>
          <a:p>
            <a:pPr indent="0" marL="0">
              <a:buNone/>
            </a:pPr>
            <a:r>
              <a:rPr lang="en-US" sz="1100" u="sng" dirty="0">
                <a:solidFill>
                  <a:srgbClr val="0563C1"/>
                </a:solidFill>
                <a:latin typeface="Calibri" pitchFamily="34" charset="0"/>
                <a:ea typeface="Calibri" pitchFamily="34" charset="-122"/>
                <a:cs typeface="Calibri" pitchFamily="34" charset="-120"/>
              </a:rPr>
              <a:t>https://www.youtube.com/watch?v=XBmJay_qdNc</a:t>
            </a:r>
            <a:endParaRPr lang="en-US" sz="1100" dirty="0"/>
          </a:p>
        </p:txBody>
      </p:sp>
      <p:sp>
        <p:nvSpPr>
          <p:cNvPr id="10" name="Text 8"/>
          <p:cNvSpPr/>
          <p:nvPr/>
        </p:nvSpPr>
        <p:spPr>
          <a:xfrm>
            <a:off x="640080" y="2423160"/>
            <a:ext cx="7772400" cy="64008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Por qué usarlo: Ariely demuestra con investigación que todos somos capaces de comportamiento deshonesto bajo ciertas condiciones. Explica qué hace que los entornos fomenten o inhiban la integridad.</a:t>
            </a:r>
            <a:endParaRPr lang="en-US" sz="1200" dirty="0"/>
          </a:p>
        </p:txBody>
      </p:sp>
      <p:sp>
        <p:nvSpPr>
          <p:cNvPr id="11" name="Text 9"/>
          <p:cNvSpPr/>
          <p:nvPr/>
        </p:nvSpPr>
        <p:spPr>
          <a:xfrm>
            <a:off x="640080" y="3063240"/>
            <a:ext cx="7772400" cy="365760"/>
          </a:xfrm>
          <a:prstGeom prst="rect">
            <a:avLst/>
          </a:prstGeom>
          <a:noFill/>
          <a:ln/>
        </p:spPr>
        <p:txBody>
          <a:bodyPr wrap="square" rtlCol="0" anchor="ctr"/>
          <a:lstStyle/>
          <a:p>
            <a:pPr indent="0" marL="0">
              <a:buNone/>
            </a:pPr>
            <a:r>
              <a:rPr lang="en-US" sz="1200" b="1" dirty="0">
                <a:solidFill>
                  <a:srgbClr val="002855"/>
                </a:solidFill>
                <a:latin typeface="Calibri" pitchFamily="34" charset="0"/>
                <a:ea typeface="Calibri" pitchFamily="34" charset="-122"/>
                <a:cs typeface="Calibri" pitchFamily="34" charset="-120"/>
              </a:rPr>
              <a:t>⏰ Cuándo usarlo: Al inicio de Somos Íntegros o antes de la historia del jamón. Genera conversación profunda.</a:t>
            </a:r>
            <a:endParaRPr lang="en-US" sz="1200" dirty="0"/>
          </a:p>
        </p:txBody>
      </p:sp>
      <p:sp>
        <p:nvSpPr>
          <p:cNvPr id="12" name="Shape 10"/>
          <p:cNvSpPr/>
          <p:nvPr/>
        </p:nvSpPr>
        <p:spPr>
          <a:xfrm>
            <a:off x="457200" y="4315968"/>
            <a:ext cx="8229600" cy="457200"/>
          </a:xfrm>
          <a:prstGeom prst="roundRect">
            <a:avLst>
              <a:gd name="adj" fmla="val 20000"/>
            </a:avLst>
          </a:prstGeom>
          <a:solidFill>
            <a:srgbClr val="002855"/>
          </a:solidFill>
          <a:ln w="12700">
            <a:solidFill>
              <a:srgbClr val="002855"/>
            </a:solidFill>
            <a:prstDash val="solid"/>
          </a:ln>
        </p:spPr>
      </p:sp>
      <p:sp>
        <p:nvSpPr>
          <p:cNvPr id="13" name="Text 11"/>
          <p:cNvSpPr/>
          <p:nvPr/>
        </p:nvSpPr>
        <p:spPr>
          <a:xfrm>
            <a:off x="640080" y="4343400"/>
            <a:ext cx="7863840" cy="402336"/>
          </a:xfrm>
          <a:prstGeom prst="rect">
            <a:avLst/>
          </a:prstGeom>
          <a:noFill/>
          <a:ln/>
        </p:spPr>
        <p:txBody>
          <a:bodyPr wrap="square" rtlCol="0" anchor="ctr"/>
          <a:lstStyle/>
          <a:p>
            <a:pPr algn="ctr" indent="0" marL="0">
              <a:buNone/>
            </a:pPr>
            <a:r>
              <a:rPr lang="en-US" sz="1000" i="1" dirty="0">
                <a:solidFill>
                  <a:srgbClr val="DAEEFF"/>
                </a:solidFill>
                <a:latin typeface="Calibri" pitchFamily="34" charset="0"/>
                <a:ea typeface="Calibri" pitchFamily="34" charset="-122"/>
                <a:cs typeface="Calibri" pitchFamily="34" charset="-120"/>
              </a:rPr>
              <a:t>⚠️ Validar derechos de uso internamente antes de proyectar en sesiones corporativas</a:t>
            </a:r>
            <a:endParaRPr lang="en-US" sz="1000" dirty="0"/>
          </a:p>
        </p:txBody>
      </p:sp>
      <p:sp>
        <p:nvSpPr>
          <p:cNvPr id="14" name="Text 12"/>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AEE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2200" b="1" dirty="0">
                <a:solidFill>
                  <a:srgbClr val="002855"/>
                </a:solidFill>
                <a:latin typeface="Calibri" pitchFamily="34" charset="0"/>
                <a:ea typeface="Calibri" pitchFamily="34" charset="-122"/>
                <a:cs typeface="Calibri" pitchFamily="34" charset="-120"/>
              </a:rPr>
              <a:t>🎯 Dinámica: "La prueba del espejo"</a:t>
            </a:r>
            <a:endParaRPr lang="en-US" sz="22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Shape 2"/>
          <p:cNvSpPr/>
          <p:nvPr/>
        </p:nvSpPr>
        <p:spPr>
          <a:xfrm>
            <a:off x="457200" y="987552"/>
            <a:ext cx="4023360" cy="548640"/>
          </a:xfrm>
          <a:prstGeom prst="roundRect">
            <a:avLst>
              <a:gd name="adj" fmla="val 16667"/>
            </a:avLst>
          </a:prstGeom>
          <a:solidFill>
            <a:srgbClr val="002855"/>
          </a:solidFill>
          <a:ln w="12700">
            <a:solidFill>
              <a:srgbClr val="002855"/>
            </a:solidFill>
            <a:prstDash val="solid"/>
          </a:ln>
        </p:spPr>
      </p:sp>
      <p:sp>
        <p:nvSpPr>
          <p:cNvPr id="5" name="Text 3"/>
          <p:cNvSpPr/>
          <p:nvPr/>
        </p:nvSpPr>
        <p:spPr>
          <a:xfrm>
            <a:off x="594360" y="1005840"/>
            <a:ext cx="374904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Objetivo: Que cada participante evalúe honestamente una situación reciente desde la perspectiva de la integridad</a:t>
            </a:r>
            <a:endParaRPr lang="en-US" sz="1100" dirty="0"/>
          </a:p>
        </p:txBody>
      </p:sp>
      <p:sp>
        <p:nvSpPr>
          <p:cNvPr id="6" name="Shape 4"/>
          <p:cNvSpPr/>
          <p:nvPr/>
        </p:nvSpPr>
        <p:spPr>
          <a:xfrm>
            <a:off x="4709160" y="987552"/>
            <a:ext cx="3977640" cy="548640"/>
          </a:xfrm>
          <a:prstGeom prst="roundRect">
            <a:avLst>
              <a:gd name="adj" fmla="val 16667"/>
            </a:avLst>
          </a:prstGeom>
          <a:solidFill>
            <a:srgbClr val="FFC72C"/>
          </a:solidFill>
          <a:ln w="12700">
            <a:solidFill>
              <a:srgbClr val="FFC72C"/>
            </a:solidFill>
            <a:prstDash val="solid"/>
          </a:ln>
        </p:spPr>
      </p:sp>
      <p:sp>
        <p:nvSpPr>
          <p:cNvPr id="7" name="Text 5"/>
          <p:cNvSpPr/>
          <p:nvPr/>
        </p:nvSpPr>
        <p:spPr>
          <a:xfrm>
            <a:off x="4846320" y="1005840"/>
            <a:ext cx="3657600" cy="502920"/>
          </a:xfrm>
          <a:prstGeom prst="rect">
            <a:avLst/>
          </a:prstGeom>
          <a:noFill/>
          <a:ln/>
        </p:spPr>
        <p:txBody>
          <a:bodyPr wrap="square" rtlCol="0" anchor="ctr"/>
          <a:lstStyle/>
          <a:p>
            <a:pPr indent="0" marL="0">
              <a:buNone/>
            </a:pPr>
            <a:r>
              <a:rPr lang="en-US" sz="1100" b="1" dirty="0">
                <a:solidFill>
                  <a:srgbClr val="002855"/>
                </a:solidFill>
                <a:latin typeface="Calibri" pitchFamily="34" charset="0"/>
                <a:ea typeface="Calibri" pitchFamily="34" charset="-122"/>
                <a:cs typeface="Calibri" pitchFamily="34" charset="-120"/>
              </a:rPr>
              <a:t>⏱ Duración: 10 minutos</a:t>
            </a:r>
            <a:endParaRPr lang="en-US" sz="1100" dirty="0"/>
          </a:p>
        </p:txBody>
      </p:sp>
      <p:sp>
        <p:nvSpPr>
          <p:cNvPr id="8" name="Text 6"/>
          <p:cNvSpPr/>
          <p:nvPr/>
        </p:nvSpPr>
        <p:spPr>
          <a:xfrm>
            <a:off x="457200" y="1664208"/>
            <a:ext cx="8229600" cy="2286000"/>
          </a:xfrm>
          <a:prstGeom prst="rect">
            <a:avLst/>
          </a:prstGeom>
          <a:noFill/>
          <a:ln/>
        </p:spPr>
        <p:txBody>
          <a:bodyPr wrap="square" rtlCol="0" anchor="ctr"/>
          <a:lstStyle/>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1. Cada participante reflexiona individualmente (sin compartir).</a:t>
            </a:r>
            <a:endParaRPr lang="en-US" sz="1300" dirty="0"/>
          </a:p>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2. Piensa en una situación reciente donde tuviste que tomar una decisión difícil.</a:t>
            </a:r>
            <a:endParaRPr lang="en-US" sz="1300" dirty="0"/>
          </a:p>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3. Pregúntate: ¿Lo hice de la forma correcta? ¿Lo haría igual si mis hijos me estuvieran mirando?</a:t>
            </a:r>
            <a:endParaRPr lang="en-US" sz="1300" dirty="0"/>
          </a:p>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4. En tu mente, identifica: ¿qué harías diferente la próxima vez?</a:t>
            </a:r>
            <a:endParaRPr lang="en-US" sz="1300" dirty="0"/>
          </a:p>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5. Quienes quieran, comparten el aprendizaje (no la situación específica).</a:t>
            </a:r>
            <a:endParaRPr lang="en-US" sz="1300" dirty="0"/>
          </a:p>
          <a:p>
            <a:pPr indent="0" marL="0">
              <a:spcAft>
                <a:spcPts val="500"/>
              </a:spcAft>
              <a:buNone/>
            </a:pPr>
            <a:r>
              <a:rPr lang="en-US" sz="1300" dirty="0">
                <a:solidFill>
                  <a:srgbClr val="002855"/>
                </a:solidFill>
                <a:latin typeface="Calibri" pitchFamily="34" charset="0"/>
                <a:ea typeface="Calibri" pitchFamily="34" charset="-122"/>
                <a:cs typeface="Calibri" pitchFamily="34" charset="-120"/>
              </a:rPr>
              <a:t>6. El facilitador cierra: 'La integridad no es perfecta — es la disposición a mejorar.'</a:t>
            </a:r>
            <a:endParaRPr lang="en-US" sz="1300" dirty="0"/>
          </a:p>
        </p:txBody>
      </p:sp>
      <p:sp>
        <p:nvSpPr>
          <p:cNvPr id="9" name="Shape 7"/>
          <p:cNvSpPr/>
          <p:nvPr/>
        </p:nvSpPr>
        <p:spPr>
          <a:xfrm>
            <a:off x="457200" y="4041648"/>
            <a:ext cx="8229600" cy="640080"/>
          </a:xfrm>
          <a:prstGeom prst="roundRect">
            <a:avLst>
              <a:gd name="adj" fmla="val 14286"/>
            </a:avLst>
          </a:prstGeom>
          <a:solidFill>
            <a:srgbClr val="FFFFFF"/>
          </a:solidFill>
          <a:ln w="12700">
            <a:solidFill>
              <a:srgbClr val="00A0DC"/>
            </a:solidFill>
            <a:prstDash val="solid"/>
          </a:ln>
        </p:spPr>
      </p:sp>
      <p:sp>
        <p:nvSpPr>
          <p:cNvPr id="10" name="Text 8"/>
          <p:cNvSpPr/>
          <p:nvPr/>
        </p:nvSpPr>
        <p:spPr>
          <a:xfrm>
            <a:off x="640080" y="4087368"/>
            <a:ext cx="7863840" cy="548640"/>
          </a:xfrm>
          <a:prstGeom prst="rect">
            <a:avLst/>
          </a:prstGeom>
          <a:noFill/>
          <a:ln/>
        </p:spPr>
        <p:txBody>
          <a:bodyPr wrap="square" rtlCol="0" anchor="ctr"/>
          <a:lstStyle/>
          <a:p>
            <a:pPr indent="0" marL="0">
              <a:buNone/>
            </a:pPr>
            <a:r>
              <a:rPr lang="en-US" sz="1200" i="1" dirty="0">
                <a:solidFill>
                  <a:srgbClr val="002855"/>
                </a:solidFill>
                <a:latin typeface="Calibri" pitchFamily="34" charset="0"/>
                <a:ea typeface="Calibri" pitchFamily="34" charset="-122"/>
                <a:cs typeface="Calibri" pitchFamily="34" charset="-120"/>
              </a:rPr>
              <a:t>💬 ¿Hay una situación actual en tu trabajo donde sabes que podrías actuar con más integridad?</a:t>
            </a:r>
            <a:endParaRPr lang="en-US" sz="1200" dirty="0"/>
          </a:p>
        </p:txBody>
      </p:sp>
      <p:sp>
        <p:nvSpPr>
          <p:cNvPr id="11" name="Text 9"/>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7315200" y="-731520"/>
            <a:ext cx="2560320" cy="2560320"/>
          </a:xfrm>
          <a:prstGeom prst="ellipse">
            <a:avLst/>
          </a:prstGeom>
          <a:solidFill>
            <a:srgbClr val="00A0DC">
              <a:alpha val="12000"/>
            </a:srgbClr>
          </a:solidFill>
          <a:ln w="12700">
            <a:solidFill>
              <a:srgbClr val="00A0DC"/>
            </a:solidFill>
            <a:prstDash val="solid"/>
          </a:ln>
        </p:spPr>
      </p:sp>
      <p:sp>
        <p:nvSpPr>
          <p:cNvPr id="3" name="Shape 1"/>
          <p:cNvSpPr/>
          <p:nvPr/>
        </p:nvSpPr>
        <p:spPr>
          <a:xfrm>
            <a:off x="-548640" y="3474720"/>
            <a:ext cx="2011680" cy="2011680"/>
          </a:xfrm>
          <a:prstGeom prst="ellipse">
            <a:avLst/>
          </a:prstGeom>
          <a:solidFill>
            <a:srgbClr val="FFC72C">
              <a:alpha val="10000"/>
            </a:srgbClr>
          </a:solidFill>
          <a:ln w="12700">
            <a:solidFill>
              <a:srgbClr val="FFC72C"/>
            </a:solidFill>
            <a:prstDash val="solid"/>
          </a:ln>
        </p:spPr>
      </p:sp>
      <p:sp>
        <p:nvSpPr>
          <p:cNvPr id="4" name="Text 2"/>
          <p:cNvSpPr/>
          <p:nvPr/>
        </p:nvSpPr>
        <p:spPr>
          <a:xfrm>
            <a:off x="457200" y="640080"/>
            <a:ext cx="8229600" cy="822960"/>
          </a:xfrm>
          <a:prstGeom prst="rect">
            <a:avLst/>
          </a:prstGeom>
          <a:noFill/>
          <a:ln/>
        </p:spPr>
        <p:txBody>
          <a:bodyPr wrap="square" rtlCol="0" anchor="ctr"/>
          <a:lstStyle/>
          <a:p>
            <a:pPr algn="ctr" indent="0" marL="0">
              <a:buNone/>
            </a:pPr>
            <a:r>
              <a:rPr lang="en-US" sz="3600" dirty="0">
                <a:solidFill>
                  <a:srgbClr val="FFFFFF"/>
                </a:solidFill>
                <a:latin typeface="Calibri" pitchFamily="34" charset="0"/>
                <a:ea typeface="Calibri" pitchFamily="34" charset="-122"/>
                <a:cs typeface="Calibri" pitchFamily="34" charset="-120"/>
              </a:rPr>
              <a:t>💬</a:t>
            </a:r>
            <a:endParaRPr lang="en-US" sz="3600" dirty="0"/>
          </a:p>
        </p:txBody>
      </p:sp>
      <p:sp>
        <p:nvSpPr>
          <p:cNvPr id="5" name="Text 3"/>
          <p:cNvSpPr/>
          <p:nvPr/>
        </p:nvSpPr>
        <p:spPr>
          <a:xfrm>
            <a:off x="731520" y="1463040"/>
            <a:ext cx="7680960" cy="228600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¿Lo haría si mis hijos me estuvieran mirando?</a:t>
            </a:r>
            <a:endParaRPr lang="en-US" sz="2400" dirty="0"/>
          </a:p>
          <a:p>
            <a:pPr algn="ctr" indent="0" marL="0">
              <a:buNone/>
            </a:pPr>
            <a:r>
              <a:rPr lang="en-US" sz="2400" b="1" dirty="0">
                <a:solidFill>
                  <a:srgbClr val="FFFFFF"/>
                </a:solidFill>
                <a:latin typeface="Calibri" pitchFamily="34" charset="0"/>
                <a:ea typeface="Calibri" pitchFamily="34" charset="-122"/>
                <a:cs typeface="Calibri" pitchFamily="34" charset="-120"/>
              </a:rPr>
              <a:t>¿Si toda la empresa pudiera ver lo que hago?</a:t>
            </a:r>
            <a:endParaRPr lang="en-US" sz="2400" dirty="0"/>
          </a:p>
        </p:txBody>
      </p:sp>
      <p:sp>
        <p:nvSpPr>
          <p:cNvPr id="6" name="Shape 4"/>
          <p:cNvSpPr/>
          <p:nvPr/>
        </p:nvSpPr>
        <p:spPr>
          <a:xfrm>
            <a:off x="3474720" y="3840480"/>
            <a:ext cx="2194560" cy="64008"/>
          </a:xfrm>
          <a:prstGeom prst="roundRect">
            <a:avLst>
              <a:gd name="adj" fmla="val 42857"/>
            </a:avLst>
          </a:prstGeom>
          <a:solidFill>
            <a:srgbClr val="FFC72C"/>
          </a:solidFill>
          <a:ln w="12700">
            <a:solidFill>
              <a:srgbClr val="FFC72C"/>
            </a:solidFill>
            <a:prstDash val="solid"/>
          </a:ln>
        </p:spPr>
      </p:sp>
      <p:sp>
        <p:nvSpPr>
          <p:cNvPr id="7" name="Text 5"/>
          <p:cNvSpPr/>
          <p:nvPr/>
        </p:nvSpPr>
        <p:spPr>
          <a:xfrm>
            <a:off x="457200" y="4023360"/>
            <a:ext cx="8229600" cy="365760"/>
          </a:xfrm>
          <a:prstGeom prst="rect">
            <a:avLst/>
          </a:prstGeom>
          <a:noFill/>
          <a:ln/>
        </p:spPr>
        <p:txBody>
          <a:bodyPr wrap="square" rtlCol="0" anchor="ctr"/>
          <a:lstStyle/>
          <a:p>
            <a:pPr algn="ctr" indent="0" marL="0">
              <a:buNone/>
            </a:pPr>
            <a:r>
              <a:rPr lang="en-US" sz="1200" i="1" dirty="0">
                <a:solidFill>
                  <a:srgbClr val="00A0DC"/>
                </a:solidFill>
                <a:latin typeface="Calibri" pitchFamily="34" charset="0"/>
                <a:ea typeface="Calibri" pitchFamily="34" charset="-122"/>
                <a:cs typeface="Calibri" pitchFamily="34" charset="-120"/>
              </a:rPr>
              <a:t>Reflexiona · Comparte · Comprométete</a:t>
            </a:r>
            <a:endParaRPr lang="en-US" sz="1200" dirty="0"/>
          </a:p>
        </p:txBody>
      </p:sp>
      <p:sp>
        <p:nvSpPr>
          <p:cNvPr id="8" name="Text 6"/>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2400" b="1" dirty="0">
                <a:solidFill>
                  <a:srgbClr val="002855"/>
                </a:solidFill>
                <a:latin typeface="Calibri" pitchFamily="34" charset="0"/>
                <a:ea typeface="Calibri" pitchFamily="34" charset="-122"/>
                <a:cs typeface="Calibri" pitchFamily="34" charset="-120"/>
              </a:rPr>
              <a:t>Mi compromiso</a:t>
            </a:r>
            <a:endParaRPr lang="en-US" sz="24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Text 2"/>
          <p:cNvSpPr/>
          <p:nvPr/>
        </p:nvSpPr>
        <p:spPr>
          <a:xfrm>
            <a:off x="457200" y="1005840"/>
            <a:ext cx="8229600" cy="411480"/>
          </a:xfrm>
          <a:prstGeom prst="rect">
            <a:avLst/>
          </a:prstGeom>
          <a:noFill/>
          <a:ln/>
        </p:spPr>
        <p:txBody>
          <a:bodyPr wrap="square" rtlCol="0" anchor="ctr"/>
          <a:lstStyle/>
          <a:p>
            <a:pPr algn="ctr" indent="0" marL="0">
              <a:buNone/>
            </a:pPr>
            <a:r>
              <a:rPr lang="en-US" sz="1600" i="1" dirty="0">
                <a:solidFill>
                  <a:srgbClr val="00A0DC"/>
                </a:solidFill>
                <a:latin typeface="Calibri" pitchFamily="34" charset="0"/>
                <a:ea typeface="Calibri" pitchFamily="34" charset="-122"/>
                <a:cs typeface="Calibri" pitchFamily="34" charset="-120"/>
              </a:rPr>
              <a:t>Somos Íntegros</a:t>
            </a:r>
            <a:endParaRPr lang="en-US" sz="1600" dirty="0"/>
          </a:p>
        </p:txBody>
      </p:sp>
      <p:sp>
        <p:nvSpPr>
          <p:cNvPr id="5" name="Shape 3"/>
          <p:cNvSpPr/>
          <p:nvPr/>
        </p:nvSpPr>
        <p:spPr>
          <a:xfrm>
            <a:off x="914400" y="1508760"/>
            <a:ext cx="7315200" cy="2560320"/>
          </a:xfrm>
          <a:prstGeom prst="roundRect">
            <a:avLst>
              <a:gd name="adj" fmla="val 5357"/>
            </a:avLst>
          </a:prstGeom>
          <a:solidFill>
            <a:srgbClr val="DAEEFF"/>
          </a:solidFill>
          <a:ln w="19050">
            <a:solidFill>
              <a:srgbClr val="00A0DC"/>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1188720" y="1691640"/>
            <a:ext cx="6766560" cy="914400"/>
          </a:xfrm>
          <a:prstGeom prst="rect">
            <a:avLst/>
          </a:prstGeom>
          <a:noFill/>
          <a:ln/>
        </p:spPr>
        <p:txBody>
          <a:bodyPr wrap="square" rtlCol="0" anchor="ctr"/>
          <a:lstStyle/>
          <a:p>
            <a:pPr algn="ctr" indent="0" marL="0">
              <a:buNone/>
            </a:pPr>
            <a:r>
              <a:rPr lang="en-US" sz="1500" b="1" dirty="0">
                <a:solidFill>
                  <a:srgbClr val="002855"/>
                </a:solidFill>
                <a:latin typeface="Calibri" pitchFamily="34" charset="0"/>
                <a:ea typeface="Calibri" pitchFamily="34" charset="-122"/>
                <a:cs typeface="Calibri" pitchFamily="34" charset="-120"/>
              </a:rPr>
              <a:t>Esta semana voy a actuar con integridad en [situación concreta].</a:t>
            </a:r>
            <a:endParaRPr lang="en-US" sz="1500" dirty="0"/>
          </a:p>
          <a:p>
            <a:pPr algn="ctr" indent="0" marL="0">
              <a:buNone/>
            </a:pPr>
            <a:r>
              <a:rPr lang="en-US" sz="1500" b="1" dirty="0">
                <a:solidFill>
                  <a:srgbClr val="002855"/>
                </a:solidFill>
                <a:latin typeface="Calibri" pitchFamily="34" charset="0"/>
                <a:ea typeface="Calibri" pitchFamily="34" charset="-122"/>
                <a:cs typeface="Calibri" pitchFamily="34" charset="-120"/>
              </a:rPr>
              <a:t>Voy a aplicar la regla de los 4 ojos en [reunión/negociación específica].</a:t>
            </a:r>
            <a:endParaRPr lang="en-US" sz="1500" dirty="0"/>
          </a:p>
        </p:txBody>
      </p:sp>
      <p:sp>
        <p:nvSpPr>
          <p:cNvPr id="7" name="Shape 5"/>
          <p:cNvSpPr/>
          <p:nvPr/>
        </p:nvSpPr>
        <p:spPr>
          <a:xfrm>
            <a:off x="1371600" y="2834640"/>
            <a:ext cx="6400800" cy="0"/>
          </a:xfrm>
          <a:prstGeom prst="line">
            <a:avLst/>
          </a:prstGeom>
          <a:noFill/>
          <a:ln w="12700">
            <a:solidFill>
              <a:srgbClr val="002855"/>
            </a:solidFill>
            <a:prstDash val="dash"/>
          </a:ln>
        </p:spPr>
      </p:sp>
      <p:sp>
        <p:nvSpPr>
          <p:cNvPr id="8" name="Text 6"/>
          <p:cNvSpPr/>
          <p:nvPr/>
        </p:nvSpPr>
        <p:spPr>
          <a:xfrm>
            <a:off x="1371600" y="2926080"/>
            <a:ext cx="6400800" cy="274320"/>
          </a:xfrm>
          <a:prstGeom prst="rect">
            <a:avLst/>
          </a:prstGeom>
          <a:noFill/>
          <a:ln/>
        </p:spPr>
        <p:txBody>
          <a:bodyPr wrap="square" rtlCol="0" anchor="ctr"/>
          <a:lstStyle/>
          <a:p>
            <a:pPr algn="ctr" indent="0" marL="0">
              <a:buNone/>
            </a:pPr>
            <a:r>
              <a:rPr lang="en-US" sz="1100" i="1" dirty="0">
                <a:solidFill>
                  <a:srgbClr val="AAAAAA"/>
                </a:solidFill>
                <a:latin typeface="Calibri" pitchFamily="34" charset="0"/>
                <a:ea typeface="Calibri" pitchFamily="34" charset="-122"/>
                <a:cs typeface="Calibri" pitchFamily="34" charset="-120"/>
              </a:rPr>
              <a:t>(Escribe tu compromiso aquí)</a:t>
            </a:r>
            <a:endParaRPr lang="en-US" sz="1100" dirty="0"/>
          </a:p>
        </p:txBody>
      </p:sp>
      <p:sp>
        <p:nvSpPr>
          <p:cNvPr id="9" name="Shape 7"/>
          <p:cNvSpPr/>
          <p:nvPr/>
        </p:nvSpPr>
        <p:spPr>
          <a:xfrm>
            <a:off x="1371600" y="3291840"/>
            <a:ext cx="6400800" cy="0"/>
          </a:xfrm>
          <a:prstGeom prst="line">
            <a:avLst/>
          </a:prstGeom>
          <a:noFill/>
          <a:ln w="12700">
            <a:solidFill>
              <a:srgbClr val="002855"/>
            </a:solidFill>
            <a:prstDash val="dash"/>
          </a:ln>
        </p:spPr>
      </p:sp>
      <p:sp>
        <p:nvSpPr>
          <p:cNvPr id="10" name="Shape 8"/>
          <p:cNvSpPr/>
          <p:nvPr/>
        </p:nvSpPr>
        <p:spPr>
          <a:xfrm>
            <a:off x="914400" y="4160520"/>
            <a:ext cx="7315200" cy="548640"/>
          </a:xfrm>
          <a:prstGeom prst="roundRect">
            <a:avLst>
              <a:gd name="adj" fmla="val 16667"/>
            </a:avLst>
          </a:prstGeom>
          <a:solidFill>
            <a:srgbClr val="002855"/>
          </a:solidFill>
          <a:ln w="12700">
            <a:solidFill>
              <a:srgbClr val="002855"/>
            </a:solidFill>
            <a:prstDash val="solid"/>
          </a:ln>
        </p:spPr>
      </p:sp>
      <p:sp>
        <p:nvSpPr>
          <p:cNvPr id="11" name="Text 9"/>
          <p:cNvSpPr/>
          <p:nvPr/>
        </p:nvSpPr>
        <p:spPr>
          <a:xfrm>
            <a:off x="1097280" y="4206240"/>
            <a:ext cx="6949440" cy="457200"/>
          </a:xfrm>
          <a:prstGeom prst="rect">
            <a:avLst/>
          </a:prstGeom>
          <a:noFill/>
          <a:ln/>
        </p:spPr>
        <p:txBody>
          <a:bodyPr wrap="square" rtlCol="0" anchor="ctr"/>
          <a:lstStyle/>
          <a:p>
            <a:pPr algn="ctr" indent="0" marL="0">
              <a:buNone/>
            </a:pPr>
            <a:r>
              <a:rPr lang="en-US" sz="1200" b="1" dirty="0">
                <a:solidFill>
                  <a:srgbClr val="FFC72C"/>
                </a:solidFill>
                <a:latin typeface="Calibri" pitchFamily="34" charset="0"/>
                <a:ea typeface="Calibri" pitchFamily="34" charset="-122"/>
                <a:cs typeface="Calibri" pitchFamily="34" charset="-120"/>
              </a:rPr>
              <a:t>🤝 Comparto este compromiso con mi equipo</a:t>
            </a:r>
            <a:endParaRPr lang="en-US" sz="1200" dirty="0"/>
          </a:p>
        </p:txBody>
      </p:sp>
      <p:sp>
        <p:nvSpPr>
          <p:cNvPr id="12" name="Text 10"/>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7132320" y="-822960"/>
            <a:ext cx="2926080" cy="2926080"/>
          </a:xfrm>
          <a:prstGeom prst="ellipse">
            <a:avLst/>
          </a:prstGeom>
          <a:solidFill>
            <a:srgbClr val="FFC72C">
              <a:alpha val="12000"/>
            </a:srgbClr>
          </a:solidFill>
          <a:ln w="12700">
            <a:solidFill>
              <a:srgbClr val="FFC72C"/>
            </a:solidFill>
            <a:prstDash val="solid"/>
          </a:ln>
        </p:spPr>
      </p:sp>
      <p:sp>
        <p:nvSpPr>
          <p:cNvPr id="3" name="Shape 1"/>
          <p:cNvSpPr/>
          <p:nvPr/>
        </p:nvSpPr>
        <p:spPr>
          <a:xfrm>
            <a:off x="-914400" y="3200400"/>
            <a:ext cx="2560320" cy="2560320"/>
          </a:xfrm>
          <a:prstGeom prst="ellipse">
            <a:avLst/>
          </a:prstGeom>
          <a:solidFill>
            <a:srgbClr val="00A0DC">
              <a:alpha val="12000"/>
            </a:srgbClr>
          </a:solidFill>
          <a:ln w="12700">
            <a:solidFill>
              <a:srgbClr val="00A0DC"/>
            </a:solidFill>
            <a:prstDash val="solid"/>
          </a:ln>
        </p:spPr>
      </p:sp>
      <p:sp>
        <p:nvSpPr>
          <p:cNvPr id="4" name="Text 2"/>
          <p:cNvSpPr/>
          <p:nvPr/>
        </p:nvSpPr>
        <p:spPr>
          <a:xfrm>
            <a:off x="457200" y="1097280"/>
            <a:ext cx="8229600" cy="118872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Somos Íntegros</a:t>
            </a:r>
            <a:endParaRPr lang="en-US" sz="4400" dirty="0"/>
          </a:p>
        </p:txBody>
      </p:sp>
      <p:sp>
        <p:nvSpPr>
          <p:cNvPr id="5" name="Shape 3"/>
          <p:cNvSpPr/>
          <p:nvPr/>
        </p:nvSpPr>
        <p:spPr>
          <a:xfrm>
            <a:off x="3200400" y="2377440"/>
            <a:ext cx="2743200" cy="73152"/>
          </a:xfrm>
          <a:prstGeom prst="roundRect">
            <a:avLst>
              <a:gd name="adj" fmla="val 50000"/>
            </a:avLst>
          </a:prstGeom>
          <a:solidFill>
            <a:srgbClr val="FFC72C"/>
          </a:solidFill>
          <a:ln w="12700">
            <a:solidFill>
              <a:srgbClr val="FFC72C"/>
            </a:solidFill>
            <a:prstDash val="solid"/>
          </a:ln>
        </p:spPr>
      </p:sp>
      <p:sp>
        <p:nvSpPr>
          <p:cNvPr id="6" name="Text 4"/>
          <p:cNvSpPr/>
          <p:nvPr/>
        </p:nvSpPr>
        <p:spPr>
          <a:xfrm>
            <a:off x="731520" y="2560320"/>
            <a:ext cx="7680960" cy="1097280"/>
          </a:xfrm>
          <a:prstGeom prst="rect">
            <a:avLst/>
          </a:prstGeom>
          <a:noFill/>
          <a:ln/>
        </p:spPr>
        <p:txBody>
          <a:bodyPr wrap="square" rtlCol="0" anchor="ctr"/>
          <a:lstStyle/>
          <a:p>
            <a:pPr algn="ctr" indent="0" marL="0">
              <a:buNone/>
            </a:pPr>
            <a:r>
              <a:rPr lang="en-US" sz="1800" i="1" dirty="0">
                <a:solidFill>
                  <a:srgbClr val="00A0DC"/>
                </a:solidFill>
                <a:latin typeface="Calibri" pitchFamily="34" charset="0"/>
                <a:ea typeface="Calibri" pitchFamily="34" charset="-122"/>
                <a:cs typeface="Calibri" pitchFamily="34" charset="-120"/>
              </a:rPr>
              <a:t>Nuestra reputación se construye en años.</a:t>
            </a:r>
            <a:endParaRPr lang="en-US" sz="1800" dirty="0"/>
          </a:p>
          <a:p>
            <a:pPr algn="ctr" indent="0" marL="0">
              <a:buNone/>
            </a:pPr>
            <a:r>
              <a:rPr lang="en-US" sz="1800" i="1" dirty="0">
                <a:solidFill>
                  <a:srgbClr val="00A0DC"/>
                </a:solidFill>
                <a:latin typeface="Calibri" pitchFamily="34" charset="0"/>
                <a:ea typeface="Calibri" pitchFamily="34" charset="-122"/>
                <a:cs typeface="Calibri" pitchFamily="34" charset="-120"/>
              </a:rPr>
              <a:t>No la arriesguemos en segundos.</a:t>
            </a:r>
            <a:endParaRPr lang="en-US" sz="1800" dirty="0"/>
          </a:p>
          <a:p>
            <a:pPr algn="ctr" indent="0" marL="0">
              <a:buNone/>
            </a:pPr>
            <a:r>
              <a:rPr lang="en-US" sz="1800" i="1" dirty="0">
                <a:solidFill>
                  <a:srgbClr val="00A0DC"/>
                </a:solidFill>
                <a:latin typeface="Calibri" pitchFamily="34" charset="0"/>
                <a:ea typeface="Calibri" pitchFamily="34" charset="-122"/>
                <a:cs typeface="Calibri" pitchFamily="34" charset="-120"/>
              </a:rPr>
              <a:t>El fin nunca justifica los medios.</a:t>
            </a:r>
            <a:endParaRPr lang="en-US" sz="1800" dirty="0"/>
          </a:p>
        </p:txBody>
      </p:sp>
      <p:sp>
        <p:nvSpPr>
          <p:cNvPr id="7" name="Text 5"/>
          <p:cNvSpPr/>
          <p:nvPr/>
        </p:nvSpPr>
        <p:spPr>
          <a:xfrm>
            <a:off x="457200" y="3840480"/>
            <a:ext cx="8229600" cy="457200"/>
          </a:xfrm>
          <a:prstGeom prst="rect">
            <a:avLst/>
          </a:prstGeom>
          <a:noFill/>
          <a:ln/>
        </p:spPr>
        <p:txBody>
          <a:bodyPr wrap="square" rtlCol="0" anchor="ctr"/>
          <a:lstStyle/>
          <a:p>
            <a:pPr algn="ctr" indent="0" marL="0">
              <a:buNone/>
            </a:pPr>
            <a:r>
              <a:rPr lang="en-US" sz="1600" b="1" dirty="0">
                <a:solidFill>
                  <a:srgbClr val="FFC72C"/>
                </a:solidFill>
                <a:latin typeface="Calibri" pitchFamily="34" charset="0"/>
                <a:ea typeface="Calibri" pitchFamily="34" charset="-122"/>
                <a:cs typeface="Calibri" pitchFamily="34" charset="-120"/>
              </a:rPr>
              <a:t>¡Somos Sangre Tigo!</a:t>
            </a:r>
            <a:endParaRPr lang="en-US" sz="1600" dirty="0"/>
          </a:p>
        </p:txBody>
      </p:sp>
      <p:sp>
        <p:nvSpPr>
          <p:cNvPr id="8" name="Text 6"/>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indent="0" marL="0">
              <a:buNone/>
            </a:pPr>
            <a:r>
              <a:rPr lang="en-US" sz="2200" b="1" dirty="0">
                <a:solidFill>
                  <a:srgbClr val="002855"/>
                </a:solidFill>
                <a:latin typeface="Calibri" pitchFamily="34" charset="0"/>
                <a:ea typeface="Calibri" pitchFamily="34" charset="-122"/>
                <a:cs typeface="Calibri" pitchFamily="34" charset="-120"/>
              </a:rPr>
              <a:t>📋 Notas para el facilitador</a:t>
            </a:r>
            <a:endParaRPr lang="en-US" sz="2200" dirty="0"/>
          </a:p>
        </p:txBody>
      </p:sp>
      <p:sp>
        <p:nvSpPr>
          <p:cNvPr id="3" name="Shape 1"/>
          <p:cNvSpPr/>
          <p:nvPr/>
        </p:nvSpPr>
        <p:spPr>
          <a:xfrm>
            <a:off x="457200" y="868680"/>
            <a:ext cx="8229600" cy="36576"/>
          </a:xfrm>
          <a:prstGeom prst="roundRect">
            <a:avLst>
              <a:gd name="adj" fmla="val 50000"/>
            </a:avLst>
          </a:prstGeom>
          <a:solidFill>
            <a:srgbClr val="00A0DC"/>
          </a:solidFill>
          <a:ln w="12700">
            <a:solidFill>
              <a:srgbClr val="00A0DC"/>
            </a:solidFill>
            <a:prstDash val="solid"/>
          </a:ln>
        </p:spPr>
      </p:sp>
      <p:sp>
        <p:nvSpPr>
          <p:cNvPr id="4" name="Text 2"/>
          <p:cNvSpPr/>
          <p:nvPr/>
        </p:nvSpPr>
        <p:spPr>
          <a:xfrm>
            <a:off x="548640" y="1005840"/>
            <a:ext cx="8046720" cy="3931920"/>
          </a:xfrm>
          <a:prstGeom prst="rect">
            <a:avLst/>
          </a:prstGeom>
          <a:noFill/>
          <a:ln/>
        </p:spPr>
        <p:txBody>
          <a:bodyPr wrap="square" rtlCol="0" anchor="ctr"/>
          <a:lstStyle/>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Tiempo total estimado: 12-15 minutos</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La historia del jamón (slide 3): Es el corazón de esta sesión. Cuéntala con calma y detalle.</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El framework valores-principios-integridad (slide 4): Usa un ejemplo propio si tienes uno.</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Dinámica 'Prueba del espejo': No fuerces la participación. El silencio es válido.</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Si alguien menciona una situación difícil en su área: agradece el valor, no presiones por detalles.</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Para grupos de líderes: enfatiza 'tu equipo te imita'. Es su mayor palanca cultural.</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Video de Dan Ariely: poderoso pero largo (15 min). Para sesiones más cortas, usa solo los primeros 8 min.</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Mensaje que más resuena en la práctica: 'No estás solo — levanta la mano antes de que sea tarde.'</a:t>
            </a:r>
            <a:endParaRPr lang="en-US" sz="1300" dirty="0"/>
          </a:p>
          <a:p>
            <a:pPr marL="342900" indent="-342900">
              <a:spcAft>
                <a:spcPts val="800"/>
              </a:spcAft>
              <a:buSzPct val="100000"/>
              <a:buChar char="•"/>
            </a:pPr>
            <a:r>
              <a:rPr lang="en-US" sz="1300" dirty="0">
                <a:solidFill>
                  <a:srgbClr val="002855"/>
                </a:solidFill>
                <a:latin typeface="Calibri" pitchFamily="34" charset="0"/>
                <a:ea typeface="Calibri" pitchFamily="34" charset="-122"/>
                <a:cs typeface="Calibri" pitchFamily="34" charset="-120"/>
              </a:rPr>
              <a:t>Cierre con convicción: la integridad es lo que nos hace diferentes como empresa.</a:t>
            </a:r>
            <a:endParaRPr lang="en-US" sz="1300" dirty="0"/>
          </a:p>
        </p:txBody>
      </p:sp>
      <p:sp>
        <p:nvSpPr>
          <p:cNvPr id="5" name="Text 3"/>
          <p:cNvSpPr/>
          <p:nvPr/>
        </p:nvSpPr>
        <p:spPr>
          <a:xfrm>
            <a:off x="6858000" y="4663440"/>
            <a:ext cx="2011680" cy="320040"/>
          </a:xfrm>
          <a:prstGeom prst="rect">
            <a:avLst/>
          </a:prstGeom>
          <a:noFill/>
          <a:ln/>
        </p:spPr>
        <p:txBody>
          <a:bodyPr wrap="square" rtlCol="0" anchor="ctr"/>
          <a:lstStyle/>
          <a:p>
            <a:pPr algn="r" indent="0" marL="0">
              <a:buNone/>
            </a:pPr>
            <a:r>
              <a:rPr lang="en-US" sz="1000" i="1" dirty="0">
                <a:solidFill>
                  <a:srgbClr val="00A0DC"/>
                </a:solidFill>
                <a:latin typeface="Calibri" pitchFamily="34" charset="0"/>
                <a:ea typeface="Calibri" pitchFamily="34" charset="-122"/>
                <a:cs typeface="Calibri" pitchFamily="34" charset="-120"/>
              </a:rPr>
              <a:t>sangre tigô</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Somos Íntegros - Sangre Tigo</dc:title>
  <dc:subject>PptxGenJS Presentation</dc:subject>
  <dc:creator>PptxGenJS</dc:creator>
  <cp:lastModifiedBy>PptxGenJS</cp:lastModifiedBy>
  <cp:revision>1</cp:revision>
  <dcterms:created xsi:type="dcterms:W3CDTF">2026-06-22T18:40:23Z</dcterms:created>
  <dcterms:modified xsi:type="dcterms:W3CDTF">2026-06-22T18:40:23Z</dcterms:modified>
</cp:coreProperties>
</file>